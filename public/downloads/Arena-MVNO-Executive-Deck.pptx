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6720840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756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8873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990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107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9340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457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9574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0625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0742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0859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1092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1209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1326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1443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1676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1793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1910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32027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2144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22608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923776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124944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326112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27280" y="0"/>
            <a:ext cx="-1828800" cy="1828800"/>
          </a:xfrm>
          <a:prstGeom prst="line">
            <a:avLst/>
          </a:prstGeom>
          <a:noFill/>
          <a:ln w="7620">
            <a:solidFill>
              <a:srgbClr val="2222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3200400"/>
            <a:ext cx="82296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11480"/>
            <a:ext cx="182880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1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543800" y="47548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420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" y="20116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your customer experience through Branded Mobile Services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914400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Content MVNO  ·  Executive Proposal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Digital Mobile / MVNE  —  April 2026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$505M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9436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MVNO market, 2025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9436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2030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94360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SIMs +51% YoY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0" y="4617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94360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Arena users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503920" y="5943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0424160" y="5897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MVNE
</a:t>
            </a:r>
            <a:pPr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Virtual Network Enabler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02920" y="6080760"/>
            <a:ext cx="6400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080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207008" y="6080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content-led MVNO — zero capex, 50/50 upside, built in eight weeks.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15M+ monthly Arena readers into a direct, recurring, telecoms-billed relationship.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2331720"/>
            <a:ext cx="35204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02920" y="278892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Africa's MVNO market is compounding — $505M today, $750M by 2030, 4.3M SIMs and +51% YoY growth. Content-led plays are the fastest-growing segment globally.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2331720"/>
            <a:ext cx="35204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Arena's unfair advantage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97680" y="278892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MNO or MVNO can match Arena's content estate — Sunday Times, Business Day, Sowetan, Gallo, BDTV and Empire. Every property becomes a subscriber funnel and a zero-rating hook.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92440" y="2331720"/>
            <a:ext cx="35204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model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092440" y="2788920"/>
            <a:ext cx="35204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292608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 carries the full build. Arena contributes R2M in-kind media inventory. Net profit is split 50/50 after the build loan account is repaid. Launch in eight weeks.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line:  Arena moves from high-reach / low-ARPU advertising to recurring, billed subscriber revenue — with a defensible content moat no competitor can replicate.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SA's MVNO market is compounding — and Arena owns the only asset that matters.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the differentiator. Arena has more of it than any media group in South Africa.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2286000"/>
            <a:ext cx="26060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$505M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00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MVNO market value, 2025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286000"/>
            <a:ext cx="26060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3832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value, 2030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2286000"/>
            <a:ext cx="26060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4.3M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1264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MVNO SIMs (+51% YoY)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732520" y="2286000"/>
            <a:ext cx="260604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8696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Arena digital users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3749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growing, not saturated.  MVNOs gained 51% YoY subscriber share while MNO growth flat-lined.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4343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has moved from price to content.  DStv Internet, FNB Connect and Mr Price Mobile all lead with non-telco assets.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Arena's reach is already built.  15M+ monthly digital users across TimesLIVE, SowetanLIVE, BusinessLIVE, HeraldLIVE and DispatchLIVE — a ready-made subscriber funnel.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5532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monetisation of those users is weak.  Direct telco billing converts engagement into recurring revenue at a fraction of the effort.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ICASA Sector Report 2025; Arena Holdings internal analytics.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content pillars — no competitor controls all six.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MVNO is defensible on day one, not in year five.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224028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Publishing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292608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01752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~5.5M+  print readers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333756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Times, Business Day, Financial Mail, Sowetan, Daily Dispatch, The Herald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224028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224028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292608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301752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  monthly users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98848" y="333756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TimesLIVE, SowetanLIVE, BusinessLIVE, HeraldLIVE, DispatchLIVE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75320" y="224028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5048" y="224028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Music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75320" y="292608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5048" y="301752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 yr catalogue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85048" y="333756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Ladysmith Black Mambazo, Lucky Dube, Mahlathini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420624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420624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48920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" y="498348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  homes reached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" y="530352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 TV, Ignition, The Home Channel, Vuma FM, Rise FM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89120" y="420624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98848" y="420624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(Empire)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48920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98848" y="498348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major studios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498848" y="530352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Warner Bros, 20th Century Fox, MGM, Lionsgate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75320" y="4206240"/>
            <a:ext cx="36576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85048" y="4206240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CRBT (CCA)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75320" y="48920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85048" y="498348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 monthly reach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385048" y="5303520"/>
            <a:ext cx="3438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45% of Content Connect Africa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Property, a Telecom Product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Arena title maps to a segment, ARPU band, and portfolio role.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1828800"/>
            <a:ext cx="164592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1828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48840" y="1828800"/>
            <a:ext cx="201168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21992" y="18288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property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1828800"/>
            <a:ext cx="164592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18288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06440" y="1828800"/>
            <a:ext cx="137160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182880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1828800"/>
            <a:ext cx="256032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51192" y="182880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portfolio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24231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242316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48840" y="242316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21992" y="242316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Times + TimesLIVE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60520" y="242316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33672" y="242316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Connect / Plus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06440" y="242316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9592" y="242316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R129–R249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78040" y="2423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51192" y="242316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scale engine (60–70% of base)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0175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301752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Business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48840" y="301752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21992" y="30175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 + BusinessLIVE + FM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60520" y="30175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33672" y="301752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Black / The Business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06440" y="301752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592" y="301752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R149–R499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178040" y="301752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51192" y="301752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engine (disproportionate EBITDA)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2920" y="361188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" y="3611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/ Urban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148840" y="361188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21992" y="36118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Sowetan + SowetanLIVE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160520" y="361188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33672" y="3611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Sowetan / Connect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06440" y="361188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79592" y="36118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R99–R149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178040" y="361188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51192" y="361188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+ brand relevance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2920" y="420624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" y="420624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148840" y="420624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21992" y="420624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 + Daily Dispatch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160520" y="420624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33672" y="420624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 / Connect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806440" y="420624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79592" y="420624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R79–R149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178040" y="420624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51192" y="420624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moat, regional monetisation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02920" y="480060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6072" y="48006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/ Video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148840" y="480060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21992" y="480060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BDTV + Ignition + Home Channel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160520" y="480060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33672" y="480060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TV / Black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806440" y="480060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79592" y="480060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R349–R499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178040" y="48006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51192" y="480060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consumption driver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logic — scale from mass, profit from premium, loyalty from regional, engagement from youth, ARPU lift from video.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Three-Party Model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brand. Digital Mobile platform. MNO host network.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party does what they do best — no capex, no disruption to the existing Arena business.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194560"/>
            <a:ext cx="352044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219456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" y="2450592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CONTENT, AUDIENCE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26974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7889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ownership and positioning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licensing (news, music, TV)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and audience activation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at brand level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integration with Arena Events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0" y="2194560"/>
            <a:ext cx="352044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07408" y="219456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 (DSG)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07408" y="2450592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MVNO PLATFORM, OPERATIONS, VAS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26974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27889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MVNE platform (BSS / OSS / OCS)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lifecycle, billing, CRM,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integration (eSIM, insurance, security)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(RICA / POPIA / ICASA)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MNO relationship management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2440" y="2194560"/>
            <a:ext cx="352044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219456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 Host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02168" y="2450592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92440" y="2697480"/>
            <a:ext cx="35204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27889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access and core network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voice / data / SMS capacity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coverage and quality of 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and interconnect agreements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relationship with ICASA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Arena does what it does best — and nothing else changes. The MVNO sits underneath the existing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Ecosystem Behind the MVNO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DSG capabilities cover the full telco-enablement stack.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plugs into a ready-made operating system — not a set of vendors.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MVNO enablement — SIM provisioning, network integration, billing, CRM, VAS platform.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891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891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and contact-centre support — onboarding, support, retention.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Broadbrand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753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50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management, retention, upsell, churn defence, data-led marketing.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Resilience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Cybersecurity, identity protection, digital safety — bundled as VAS or sold standalone.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891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eInsurer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3891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88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Micro-insurance and embedded insurance distributed through the mobile platform.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753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850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
</a:t>
            </a:r>
            <a:endParaRPr lang="en-US" sz="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PersAIc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2753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50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segmentation and personalisation — targeted offers and engagement triggers.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 — six partners across network, BSS/OSS, API, roaming, vertical software and revenue assurance.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risk. Every layer is live today on an existing MVNO.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NETWORK OPERATOR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operator providing host connectivity and infrastructure.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891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NetEngage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/ OSS PLATFORM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provisioning and subscriber management platform.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75320" y="224028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224028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Globetom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75320" y="269748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5048" y="278892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enablement — connecting VAS partners to the MVNO platform.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Flolive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ESIM / IOT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travel eSIM and international roaming solutions.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891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Lumine Group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SOFTWARE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891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88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Telecoms-specific solutions and deep integrations.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75320" y="4206240"/>
            <a:ext cx="3657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85048" y="420624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Pharos Avantgard
</a:t>
            </a:r>
            <a:endParaRPr lang="en-US" sz="12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275320" y="4663440"/>
            <a:ext cx="36576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5048" y="4754880"/>
            <a:ext cx="34381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management and protection of subscriber revenue streams.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Years of MVNO Delivery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 has launched and run MVNOs for South Africa's most recognisable brands.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platform, partnerships and playbook are proven — not theoretical.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86000"/>
            <a:ext cx="201168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943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MVNO LAUNCHES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337560"/>
            <a:ext cx="201168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9436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MVNO enablement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389120"/>
            <a:ext cx="201168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DSG group heritage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0" y="2286000"/>
            <a:ext cx="283464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DStv Internet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83464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MVNO — 36+ months live, end-to-end on the Digital Mobile platform.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2286000"/>
            <a:ext cx="283464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AFGRI Connect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5216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MVNO serving the agricultural sector, with custom PWA enhancements.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778240" y="2286000"/>
            <a:ext cx="2834640" cy="86868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869680" y="2606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DSG's own MVNO (MVNO Light) — the reference platform Arena would deploy against.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530352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55778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 Awards 2025 — Best CX Team in SA (CXG with Nando's) · Best Support Service Provider  |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Thrive Award 2016 — Group Innovation Partner of the Year (first MVNO EBU integration)  |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BBBEE contributor — Enterprise Development via Maharishi Institute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MVNO Lifecycle — Under One Roof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opportunity assessment to commercial launch.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delivered live across eight African territories.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MVNO Opportunity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market sizing, CVP design, audience segmentation.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2316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2316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9631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modelling, ARPU/churn forecasting, risk allocation.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4340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Scoping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4340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1655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product catalogue, journeys, integration, SLAs.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6364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SIT &amp; UAT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6364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configuration, API integration, SIT, UAT.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8388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5703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8388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5703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rollout, controlled subscriber base, iteration.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0104120" y="2240280"/>
            <a:ext cx="178308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77272" y="224028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104120" y="2697480"/>
            <a:ext cx="17830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77272" y="2788920"/>
            <a:ext cx="1636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 launch, 24/7 operations, continuous CVM.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stage has a fixed deliverable, a named owner, and a governance cadence — no 'we'll figure it out later'.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to Service Launch — Eight Weeks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delivery plan, one week per stage, with weekly stakeholder reviews.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cross-functional team from Digital Mobile's MVNE unit.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Kick-off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governance, stakeholder alignment, team mobilisation.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96596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2082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6596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082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BRS, architecture, journey maps, DARE model (Data · App · Revenue · Experience).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42900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8386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Configuration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2900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MVNE build, product catalogue, Arena content API integration, MNO config.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9204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UAT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SIT, UAT with Arena, RICA/POPIA/ICASA validation, load testing.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5508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994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Onboarding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marketing, CX and ops training, runbooks, distribution enablement.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81812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7298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Prep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81812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7298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migration, ops readiness, war-room setup, pilot subscribers.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28116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3602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Launch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28116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3602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 across Arena channels, 24/7 ops, live monitoring.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744200" y="2240280"/>
            <a:ext cx="13258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799064" y="2240280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
</a:t>
            </a:r>
            <a:endParaRPr lang="en-US" sz="10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&amp; Optimise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744200" y="2606040"/>
            <a:ext cx="1325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799064" y="2697480"/>
            <a:ext cx="1216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review, CVM iteration, campaigns, quarterly brand cadence.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MVNO Needs — Already Built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production-grade capability areas. API-first. Regulatory-compliant. Live today.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greenfield code. Arena configures the platform, it does not build 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SIM Lifecycle &amp; Provisioning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67128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40280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Account Management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31336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4488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Product &amp; Bundle Management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95544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68696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Activity &amp; Recharge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59752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32904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Event &amp; Notification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823960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VAS Platform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488168" y="224028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61320" y="224028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Billing &amp; Finance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Regulatory &amp; Compliance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67128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0280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CRM &amp; Campaigns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31336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OSS / BSS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95544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68696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Support &amp; Service Desk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9752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32904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Portal Management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823960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97112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Integration &amp; APIs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488168" y="3246120"/>
            <a:ext cx="1554480" cy="86868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61320" y="324612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Security &amp; Resilience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fourteen modules live on DStv Internet today — Arena inherits a battle-tested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Mobile Bundles — 50%+ Gross Profit at Every Tier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bundle includes voice, data, SMS and a free zero-rated Arena content suite.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'unlimited'. Deliberate allowances. Honest margins.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52044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2487168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Connect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R149 /mo  ·  </a:t>
            </a:r>
            <a:pPr algn="l"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60.3% GP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 ·  1 GB  ·  25 SMS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429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content suite (Times / Sowetan / Herald / Dispatch)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zero-rated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Gallo CRBT on activation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FAMILY — MOST POPULAR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97680" y="2450592"/>
            <a:ext cx="352044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2487168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Plus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R249 /mo  ·  </a:t>
            </a:r>
            <a:pPr algn="l"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 GP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29768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 ·  2 GB  ·  75 SMS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34840" y="3429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content suite + TimesLIVE Premium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Times digital included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streaming + monthly CRBT drops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9244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092440" y="2450592"/>
            <a:ext cx="3520440" cy="594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2487168"/>
            <a:ext cx="3337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Black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R499 /mo  ·  </a:t>
            </a:r>
            <a:pPr algn="l"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 GP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09244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  ·  7 GB  ·  150 SMS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3429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suite + Business Premium Plus (FM + BusinessLIVE)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Gallo pre-release drops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eSIM + roaming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unit costs: R0.38/min voice · R19.67/GB data (R12.55 at 5GB+) · R0.16/SMS · R6.50/mo SIM.  Content licence treated as R0 internal transfer.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Content-First Bundles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mobile allowance, zero-rated reading and streaming.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reader or viewer first, the mobile user second.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194560"/>
            <a:ext cx="13716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2194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74520" y="2194560"/>
            <a:ext cx="256032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21945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34840" y="2194560"/>
            <a:ext cx="8686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9704" y="219456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2194560"/>
            <a:ext cx="18288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58384" y="2194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32320" y="2194560"/>
            <a:ext cx="20116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7184" y="21945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zero-rated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144000" y="2194560"/>
            <a:ext cx="86868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219456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2697480"/>
            <a:ext cx="1371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2697480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29384" y="26974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TimesLIVE Premium (R72) + 1 GB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4840" y="269748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9704" y="269748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03520" y="269748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26974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· 1 GB · 15 SMS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32320" y="2697480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87184" y="2697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content zero-rated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144000" y="269748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269748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2920" y="3200400"/>
            <a:ext cx="1371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" y="32004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74520" y="3200400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29384" y="320040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BusinessLIVE (R116) + 1 GB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434840" y="320040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9704" y="320040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R149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03520" y="320040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58384" y="32004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· 1 GB · 25 SMS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32320" y="3200400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7184" y="32004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content zero-rated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144000" y="320040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98864" y="320040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2920" y="3703320"/>
            <a:ext cx="1371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" y="37033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Sowetan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874520" y="3703320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29384" y="370332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Mass-market mobile + free content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434840" y="370332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89704" y="370332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R99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303520" y="370332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58384" y="37033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· 1 GB · 10 SMS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132320" y="3703320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87184" y="37033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content zero-rated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144000" y="370332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98864" y="370332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51.9%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02920" y="4206240"/>
            <a:ext cx="1371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" y="420624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874520" y="4206240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29384" y="420624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mobile + free content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434840" y="420624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89704" y="420624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R79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303520" y="420624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58384" y="420624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1 GB · 5 SMS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132320" y="4206240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87184" y="42062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MB content zero-rated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144000" y="420624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98864" y="420624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02920" y="4709160"/>
            <a:ext cx="13716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7784" y="4709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TV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874520" y="4709160"/>
            <a:ext cx="25603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929384" y="47091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BDTV live-stream + mobile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434840" y="470916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89704" y="470916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R349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303520" y="4709160"/>
            <a:ext cx="182880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358384" y="470916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2 GB · 50 SMS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132320" y="4709160"/>
            <a:ext cx="2011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87184" y="47091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streaming zero-rated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144000" y="4709160"/>
            <a:ext cx="8686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198864" y="4709160"/>
            <a:ext cx="75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anchors: TimesLIVE Premium R72 · BusinessLIVE R116.10 · Business Premium Plus R332.10.  SowetanLIVE / HeraldLIVE / DispatchLIVE are free ad-supported titles.  All eight bundles in the portfolio maintain 50%+ gross profit on wholesale unit costs.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&amp; CRBT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years of African music — exclusive to Arena subscribers.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already owns the infrastructure — a rare case where the media asset and the telco asset are the same asset.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2286000"/>
            <a:ext cx="3657600" cy="3566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3317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3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CATALOGUE  ·  EST. 1926</a:t>
            </a:r>
            <a:endParaRPr lang="en-US" sz="34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Ladysmith Black Mambazo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Dube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Miriam Makeba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Mahlathini &amp; The Mahotella Queens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 Groove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Sipho Hotstix Mabuse</a:t>
            </a:r>
            <a:endParaRPr lang="en-US" sz="3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Stimela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297680" y="2286000"/>
            <a:ext cx="3657600" cy="150876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23774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ringtones &amp; CRBTs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CRBTs available only to Arena subscribers — first access to new releases and classic catalogue.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0" y="2286000"/>
            <a:ext cx="3657600" cy="150876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23774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streaming channel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zero-rated Gallo-catalogue music stream — a South African heritage radio experience.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3886200"/>
            <a:ext cx="3657600" cy="150876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34840" y="39776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New-artist exclusives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Gallo artists release singles first on the Arena MVNO app.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229600" y="3886200"/>
            <a:ext cx="3657600" cy="150876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39776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
</a:t>
            </a:r>
            <a:endParaRPr lang="en-US" sz="14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CRBT product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advertising in Arena titles extend their identity into telecoms — a new revenue stream.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Connect Africa — 45% Gallo-owned, 300M+ monthly CRBT subscriber reach across the continent.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Connectivity — Stacked Revenue Layers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VAS products layer on top of the core bundle to lift ARPU and reduce churn.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new infrastructure. All plug into the existing MVNE stack.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313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eSIM &amp; travel roaming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· DIFFERENTIATION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436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travel eSIM — earn on roaming without MNO dependency.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224028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313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cashback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STICKINESS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47472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redeemable against Arena Events, Gallo merch, partner offers.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224028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313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 music streaming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5508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STICKINESS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35508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Zero-rated Gallo catalogue streaming — exclusive to Arena subscribers.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0" y="224028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23134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news bundles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35440" y="26243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· MARGIN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235440" y="28529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BusinessLIVE and Financial Mail bundled into Arena Plus / Black at a discount.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" y="397764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050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parental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" y="43616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· STICKINESS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4360" y="45902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Bitdefender mobile security, identity protection, parental controls.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97764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4050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insurance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74720" y="43616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· MARGIN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474720" y="45902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Micro-insurance against identity theft and online fraud.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63640" y="397764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4050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bundles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55080" y="43616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DIFFERENTIATION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55080" y="45902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BDTV, Ignition, Home Channel — zero-rated for premium subscribers.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144000" y="3977640"/>
            <a:ext cx="2697480" cy="16002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35440" y="40507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tools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235440" y="43616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· MARGIN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235440" y="45902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storage, email security, productivity tools for Business Day segment.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Revenue Layers. One Platform.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high-reach / low-ARPU media to full digital consumer platform.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compounds the next — content drives usage, usage drives data, data drives targeting.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365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2240280"/>
            <a:ext cx="329184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" y="2313432"/>
            <a:ext cx="3182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voice and messaging — core subscriber revenue.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017520"/>
            <a:ext cx="365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3017520"/>
            <a:ext cx="329184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3090672"/>
            <a:ext cx="3182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subscriptions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BusinessLIVE, FM, premium content bundles.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794760"/>
            <a:ext cx="365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3794760"/>
            <a:ext cx="329184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3867912"/>
            <a:ext cx="3182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bundles, in-app ads, branded CRBTs.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572000"/>
            <a:ext cx="365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4572000"/>
            <a:ext cx="329184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" y="4645152"/>
            <a:ext cx="3182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loyalty rewards, Arena Events tickets.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5349240"/>
            <a:ext cx="36576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" y="5349240"/>
            <a:ext cx="329184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" y="5422392"/>
            <a:ext cx="3182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eSIM, cybersecurity, insurance, cloud.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21488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VALUE FLYWHEEL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2606040"/>
            <a:ext cx="123444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69748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drives engagement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080760" y="2606040"/>
            <a:ext cx="123444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53912" y="269748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earns rewards (data / airtime)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06640" y="2606040"/>
            <a:ext cx="123444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269748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drive SIM usage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732520" y="2606040"/>
            <a:ext cx="123444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05672" y="269748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generates telecom revenue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058400" y="2606040"/>
            <a:ext cx="123444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31552" y="2697480"/>
            <a:ext cx="1088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
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improves targeting — back to step 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754880" y="53949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advantage — direct billing replaces ad-driven revenue with recurring subscriber income; content exclusivity creates a moat no MNO or MVNO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Upfront. Pure Revenue Share.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 carries the build. Arena carries the brand. Net profit splits 50/50.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build-loan account is settled out of profit before the split takes effect.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194560"/>
            <a:ext cx="2606040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capex from Arena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194560"/>
            <a:ext cx="2606040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3832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share post-loan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2194560"/>
            <a:ext cx="2606040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1264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in-kind advertising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732520" y="2194560"/>
            <a:ext cx="2606040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869680" y="2788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target, Year 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342900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CARRIES WHAT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" y="3703320"/>
            <a:ext cx="365760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" y="370332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3703320"/>
            <a:ext cx="274320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37033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3703320"/>
            <a:ext cx="475488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370332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02336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02336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MVNO platform deployment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60520" y="402336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33672" y="40233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903720" y="402336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76872" y="402336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to Arena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920" y="434340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" y="434340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platform fee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160520" y="434340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33672" y="434340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03720" y="434340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6872" y="434340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R75k or R7.50 per active sub (whichever higher)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02920" y="466344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466344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centre (CXG)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160520" y="466344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33672" y="466344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903720" y="466344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6872" y="466344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2920" y="498348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" y="498348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cards + paperless RICA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160520" y="498348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33672" y="498348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903720" y="498348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76872" y="498348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 per SIM activation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02920" y="530352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6072" y="530352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(SIM delivery)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160520" y="530352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33672" y="530352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Mobile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03720" y="530352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76872" y="530352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R40 per delivery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02920" y="5623560"/>
            <a:ext cx="36576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6072" y="562356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brand + marketing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160520" y="5623560"/>
            <a:ext cx="274320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33672" y="5623560"/>
            <a:ext cx="259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903720" y="5623560"/>
            <a:ext cx="475488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76872" y="562356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 in-kind media value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Four-Stage GTM Programme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brand kick-off through market launch and quarterly review.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DSG's Broadbrand unit runs the programme end-to-end — Arena keeps brand control.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194560"/>
            <a:ext cx="265176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KPIs, resources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" y="30632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market context download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staffing agreed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audience definition and segmentation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focus and trade visit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narrative, marketing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83280" y="30632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positioning, proposition, purpose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comms idea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pathway and channel selection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objectives across the 4 Ps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2194560"/>
            <a:ext cx="265176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trade, performance, CRM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72200" y="30632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activation plan and creative delivery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 and retailer comms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SEM, affiliate, display set-up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tech-stack, resourcing, governance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869680" y="2194560"/>
            <a:ext cx="265176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Learn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869680" y="2788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Measurement, iteration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961120" y="306324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measurement framework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 and feedback loop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plan development and exec briefs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brand reviews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delivery — Ufreight 4PL supply chain, Optional.me identity (RICA), DigitalMall commerce, PersAIc &amp; Xanite AI-marketing.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
</a:t>
            </a:r>
            <a:pPr algn="ctr" indent="0" marL="0">
              <a:buNone/>
            </a:pPr>
            <a:r>
              <a:rPr lang="en-US" sz="6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L D I N G 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677095" y="2468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3983" y="210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3775" y="0"/>
            <a:ext cx="621792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0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95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710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25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40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54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169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284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99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5141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6289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7437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8585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97335" y="0"/>
            <a:ext cx="-1280160" cy="128016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81328"/>
            <a:ext cx="11551615" cy="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Decide — and Do — Next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parallel workstreams, one working session, one signature.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6355080"/>
            <a:ext cx="11551615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473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GROUP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6473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651967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6473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#DoingSomethingGreat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1828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decision to live service in eight weeks.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240280"/>
            <a:ext cx="205740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2240280"/>
            <a:ext cx="2057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" y="26974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licensing agreement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3291840"/>
            <a:ext cx="1837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Gallo / Arena titles and the MVNO entity — commercial transfer prices, exclusivity, term.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97480" y="2240280"/>
            <a:ext cx="205740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2240280"/>
            <a:ext cx="2057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07208" y="26974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Zero-rating commercial terms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07208" y="3291840"/>
            <a:ext cx="1837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MNO host (MTN) — sponsored-data arrangement for Arena content and Gallo streaming.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92040" y="2240280"/>
            <a:ext cx="205740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2240280"/>
            <a:ext cx="2057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01768" y="26974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product architecture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01768" y="3291840"/>
            <a:ext cx="1837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bundle matrix — Arena Connect / Plus / Black + The Times / Business / Sowetan / Herald / TV.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086600" y="2240280"/>
            <a:ext cx="205740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86600" y="2240280"/>
            <a:ext cx="2057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60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196328" y="26974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customer experience design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96328" y="3291840"/>
            <a:ext cx="1837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Brand-consistent app, self-service flows, CRBT picker, rewards / loyalty integration.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281160" y="2240280"/>
            <a:ext cx="2057400" cy="2971800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81160" y="2240280"/>
            <a:ext cx="2057400" cy="365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81160" y="2240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90888" y="26974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go-to-market plan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390888" y="3291840"/>
            <a:ext cx="1837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via Sowetan.  Professional via Business Day.  Youth via Gallo.  Regional via Herald / Dispatch.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 — a 90-minute working session to align on content licensing, zero-rating and product architecture.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Content MVNO — Executive Proposal</dc:title>
  <dc:subject>PptxGenJS Presentation</dc:subject>
  <dc:creator>Digital Mobile / MVNE</dc:creator>
  <cp:lastModifiedBy>Digital Mobile / MVNE</cp:lastModifiedBy>
  <cp:revision>1</cp:revision>
  <dcterms:created xsi:type="dcterms:W3CDTF">2026-04-15T18:37:08Z</dcterms:created>
  <dcterms:modified xsi:type="dcterms:W3CDTF">2026-04-15T18:37:08Z</dcterms:modified>
</cp:coreProperties>
</file>