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0" y="0"/>
            <a:ext cx="6720840" cy="6858000"/>
          </a:xfrm>
          <a:prstGeom prst="rect">
            <a:avLst/>
          </a:prstGeom>
          <a:solidFill>
            <a:srgbClr val="111111"/>
          </a:solidFill>
          <a:ln w="12700">
            <a:solidFill>
              <a:srgbClr val="111111"/>
            </a:solidFill>
            <a:prstDash val="solid"/>
          </a:ln>
        </p:spPr>
      </p:sp>
      <p:sp>
        <p:nvSpPr>
          <p:cNvPr id="3" name="Shape 1"/>
          <p:cNvSpPr/>
          <p:nvPr/>
        </p:nvSpPr>
        <p:spPr>
          <a:xfrm>
            <a:off x="5486400" y="0"/>
            <a:ext cx="-1828800" cy="1828800"/>
          </a:xfrm>
          <a:prstGeom prst="line">
            <a:avLst/>
          </a:prstGeom>
          <a:noFill/>
          <a:ln w="7620">
            <a:solidFill>
              <a:srgbClr val="222222"/>
            </a:solidFill>
            <a:prstDash val="solid"/>
          </a:ln>
        </p:spPr>
      </p:sp>
      <p:sp>
        <p:nvSpPr>
          <p:cNvPr id="4" name="Shape 2"/>
          <p:cNvSpPr/>
          <p:nvPr/>
        </p:nvSpPr>
        <p:spPr>
          <a:xfrm>
            <a:off x="5687568" y="0"/>
            <a:ext cx="-1828800" cy="1828800"/>
          </a:xfrm>
          <a:prstGeom prst="line">
            <a:avLst/>
          </a:prstGeom>
          <a:noFill/>
          <a:ln w="7620">
            <a:solidFill>
              <a:srgbClr val="222222"/>
            </a:solidFill>
            <a:prstDash val="solid"/>
          </a:ln>
        </p:spPr>
      </p:sp>
      <p:sp>
        <p:nvSpPr>
          <p:cNvPr id="5" name="Shape 3"/>
          <p:cNvSpPr/>
          <p:nvPr/>
        </p:nvSpPr>
        <p:spPr>
          <a:xfrm>
            <a:off x="5888736" y="0"/>
            <a:ext cx="-1828800" cy="1828800"/>
          </a:xfrm>
          <a:prstGeom prst="line">
            <a:avLst/>
          </a:prstGeom>
          <a:noFill/>
          <a:ln w="7620">
            <a:solidFill>
              <a:srgbClr val="222222"/>
            </a:solidFill>
            <a:prstDash val="solid"/>
          </a:ln>
        </p:spPr>
      </p:sp>
      <p:sp>
        <p:nvSpPr>
          <p:cNvPr id="6" name="Shape 4"/>
          <p:cNvSpPr/>
          <p:nvPr/>
        </p:nvSpPr>
        <p:spPr>
          <a:xfrm>
            <a:off x="6089904" y="0"/>
            <a:ext cx="-1828800" cy="1828800"/>
          </a:xfrm>
          <a:prstGeom prst="line">
            <a:avLst/>
          </a:prstGeom>
          <a:noFill/>
          <a:ln w="7620">
            <a:solidFill>
              <a:srgbClr val="222222"/>
            </a:solidFill>
            <a:prstDash val="solid"/>
          </a:ln>
        </p:spPr>
      </p:sp>
      <p:sp>
        <p:nvSpPr>
          <p:cNvPr id="7" name="Shape 5"/>
          <p:cNvSpPr/>
          <p:nvPr/>
        </p:nvSpPr>
        <p:spPr>
          <a:xfrm>
            <a:off x="6291072" y="0"/>
            <a:ext cx="-1828800" cy="1828800"/>
          </a:xfrm>
          <a:prstGeom prst="line">
            <a:avLst/>
          </a:prstGeom>
          <a:noFill/>
          <a:ln w="7620">
            <a:solidFill>
              <a:srgbClr val="222222"/>
            </a:solidFill>
            <a:prstDash val="solid"/>
          </a:ln>
        </p:spPr>
      </p:sp>
      <p:sp>
        <p:nvSpPr>
          <p:cNvPr id="8" name="Shape 6"/>
          <p:cNvSpPr/>
          <p:nvPr/>
        </p:nvSpPr>
        <p:spPr>
          <a:xfrm>
            <a:off x="6492240" y="0"/>
            <a:ext cx="-1828800" cy="1828800"/>
          </a:xfrm>
          <a:prstGeom prst="line">
            <a:avLst/>
          </a:prstGeom>
          <a:noFill/>
          <a:ln w="7620">
            <a:solidFill>
              <a:srgbClr val="222222"/>
            </a:solidFill>
            <a:prstDash val="solid"/>
          </a:ln>
        </p:spPr>
      </p:sp>
      <p:sp>
        <p:nvSpPr>
          <p:cNvPr id="9" name="Shape 7"/>
          <p:cNvSpPr/>
          <p:nvPr/>
        </p:nvSpPr>
        <p:spPr>
          <a:xfrm>
            <a:off x="6693408" y="0"/>
            <a:ext cx="-1828800" cy="1828800"/>
          </a:xfrm>
          <a:prstGeom prst="line">
            <a:avLst/>
          </a:prstGeom>
          <a:noFill/>
          <a:ln w="7620">
            <a:solidFill>
              <a:srgbClr val="222222"/>
            </a:solidFill>
            <a:prstDash val="solid"/>
          </a:ln>
        </p:spPr>
      </p:sp>
      <p:sp>
        <p:nvSpPr>
          <p:cNvPr id="10" name="Shape 8"/>
          <p:cNvSpPr/>
          <p:nvPr/>
        </p:nvSpPr>
        <p:spPr>
          <a:xfrm>
            <a:off x="6894576" y="0"/>
            <a:ext cx="-1828800" cy="1828800"/>
          </a:xfrm>
          <a:prstGeom prst="line">
            <a:avLst/>
          </a:prstGeom>
          <a:noFill/>
          <a:ln w="7620">
            <a:solidFill>
              <a:srgbClr val="222222"/>
            </a:solidFill>
            <a:prstDash val="solid"/>
          </a:ln>
        </p:spPr>
      </p:sp>
      <p:sp>
        <p:nvSpPr>
          <p:cNvPr id="11" name="Shape 9"/>
          <p:cNvSpPr/>
          <p:nvPr/>
        </p:nvSpPr>
        <p:spPr>
          <a:xfrm>
            <a:off x="7095744" y="0"/>
            <a:ext cx="-1828800" cy="1828800"/>
          </a:xfrm>
          <a:prstGeom prst="line">
            <a:avLst/>
          </a:prstGeom>
          <a:noFill/>
          <a:ln w="7620">
            <a:solidFill>
              <a:srgbClr val="222222"/>
            </a:solidFill>
            <a:prstDash val="solid"/>
          </a:ln>
        </p:spPr>
      </p:sp>
      <p:sp>
        <p:nvSpPr>
          <p:cNvPr id="12" name="Shape 10"/>
          <p:cNvSpPr/>
          <p:nvPr/>
        </p:nvSpPr>
        <p:spPr>
          <a:xfrm>
            <a:off x="7296912" y="0"/>
            <a:ext cx="-1828800" cy="1828800"/>
          </a:xfrm>
          <a:prstGeom prst="line">
            <a:avLst/>
          </a:prstGeom>
          <a:noFill/>
          <a:ln w="7620">
            <a:solidFill>
              <a:srgbClr val="222222"/>
            </a:solidFill>
            <a:prstDash val="solid"/>
          </a:ln>
        </p:spPr>
      </p:sp>
      <p:sp>
        <p:nvSpPr>
          <p:cNvPr id="13" name="Shape 11"/>
          <p:cNvSpPr/>
          <p:nvPr/>
        </p:nvSpPr>
        <p:spPr>
          <a:xfrm>
            <a:off x="7498080" y="0"/>
            <a:ext cx="-1828800" cy="1828800"/>
          </a:xfrm>
          <a:prstGeom prst="line">
            <a:avLst/>
          </a:prstGeom>
          <a:noFill/>
          <a:ln w="7620">
            <a:solidFill>
              <a:srgbClr val="222222"/>
            </a:solidFill>
            <a:prstDash val="solid"/>
          </a:ln>
        </p:spPr>
      </p:sp>
      <p:sp>
        <p:nvSpPr>
          <p:cNvPr id="14" name="Shape 12"/>
          <p:cNvSpPr/>
          <p:nvPr/>
        </p:nvSpPr>
        <p:spPr>
          <a:xfrm>
            <a:off x="7699248" y="0"/>
            <a:ext cx="-1828800" cy="1828800"/>
          </a:xfrm>
          <a:prstGeom prst="line">
            <a:avLst/>
          </a:prstGeom>
          <a:noFill/>
          <a:ln w="7620">
            <a:solidFill>
              <a:srgbClr val="222222"/>
            </a:solidFill>
            <a:prstDash val="solid"/>
          </a:ln>
        </p:spPr>
      </p:sp>
      <p:sp>
        <p:nvSpPr>
          <p:cNvPr id="15" name="Shape 13"/>
          <p:cNvSpPr/>
          <p:nvPr/>
        </p:nvSpPr>
        <p:spPr>
          <a:xfrm>
            <a:off x="7900416" y="0"/>
            <a:ext cx="-1828800" cy="1828800"/>
          </a:xfrm>
          <a:prstGeom prst="line">
            <a:avLst/>
          </a:prstGeom>
          <a:noFill/>
          <a:ln w="7620">
            <a:solidFill>
              <a:srgbClr val="222222"/>
            </a:solidFill>
            <a:prstDash val="solid"/>
          </a:ln>
        </p:spPr>
      </p:sp>
      <p:sp>
        <p:nvSpPr>
          <p:cNvPr id="16" name="Shape 14"/>
          <p:cNvSpPr/>
          <p:nvPr/>
        </p:nvSpPr>
        <p:spPr>
          <a:xfrm>
            <a:off x="8101584" y="0"/>
            <a:ext cx="-1828800" cy="1828800"/>
          </a:xfrm>
          <a:prstGeom prst="line">
            <a:avLst/>
          </a:prstGeom>
          <a:noFill/>
          <a:ln w="7620">
            <a:solidFill>
              <a:srgbClr val="222222"/>
            </a:solidFill>
            <a:prstDash val="solid"/>
          </a:ln>
        </p:spPr>
      </p:sp>
      <p:sp>
        <p:nvSpPr>
          <p:cNvPr id="17" name="Shape 15"/>
          <p:cNvSpPr/>
          <p:nvPr/>
        </p:nvSpPr>
        <p:spPr>
          <a:xfrm>
            <a:off x="8302752" y="0"/>
            <a:ext cx="-1828800" cy="1828800"/>
          </a:xfrm>
          <a:prstGeom prst="line">
            <a:avLst/>
          </a:prstGeom>
          <a:noFill/>
          <a:ln w="7620">
            <a:solidFill>
              <a:srgbClr val="222222"/>
            </a:solidFill>
            <a:prstDash val="solid"/>
          </a:ln>
        </p:spPr>
      </p:sp>
      <p:sp>
        <p:nvSpPr>
          <p:cNvPr id="18" name="Shape 16"/>
          <p:cNvSpPr/>
          <p:nvPr/>
        </p:nvSpPr>
        <p:spPr>
          <a:xfrm>
            <a:off x="8503920" y="0"/>
            <a:ext cx="-1828800" cy="1828800"/>
          </a:xfrm>
          <a:prstGeom prst="line">
            <a:avLst/>
          </a:prstGeom>
          <a:noFill/>
          <a:ln w="7620">
            <a:solidFill>
              <a:srgbClr val="222222"/>
            </a:solidFill>
            <a:prstDash val="solid"/>
          </a:ln>
        </p:spPr>
      </p:sp>
      <p:sp>
        <p:nvSpPr>
          <p:cNvPr id="19" name="Shape 17"/>
          <p:cNvSpPr/>
          <p:nvPr/>
        </p:nvSpPr>
        <p:spPr>
          <a:xfrm>
            <a:off x="8705088" y="0"/>
            <a:ext cx="-1828800" cy="1828800"/>
          </a:xfrm>
          <a:prstGeom prst="line">
            <a:avLst/>
          </a:prstGeom>
          <a:noFill/>
          <a:ln w="7620">
            <a:solidFill>
              <a:srgbClr val="222222"/>
            </a:solidFill>
            <a:prstDash val="solid"/>
          </a:ln>
        </p:spPr>
      </p:sp>
      <p:sp>
        <p:nvSpPr>
          <p:cNvPr id="20" name="Shape 18"/>
          <p:cNvSpPr/>
          <p:nvPr/>
        </p:nvSpPr>
        <p:spPr>
          <a:xfrm>
            <a:off x="8906256" y="0"/>
            <a:ext cx="-1828800" cy="1828800"/>
          </a:xfrm>
          <a:prstGeom prst="line">
            <a:avLst/>
          </a:prstGeom>
          <a:noFill/>
          <a:ln w="7620">
            <a:solidFill>
              <a:srgbClr val="222222"/>
            </a:solidFill>
            <a:prstDash val="solid"/>
          </a:ln>
        </p:spPr>
      </p:sp>
      <p:sp>
        <p:nvSpPr>
          <p:cNvPr id="21" name="Shape 19"/>
          <p:cNvSpPr/>
          <p:nvPr/>
        </p:nvSpPr>
        <p:spPr>
          <a:xfrm>
            <a:off x="9107424" y="0"/>
            <a:ext cx="-1828800" cy="1828800"/>
          </a:xfrm>
          <a:prstGeom prst="line">
            <a:avLst/>
          </a:prstGeom>
          <a:noFill/>
          <a:ln w="7620">
            <a:solidFill>
              <a:srgbClr val="222222"/>
            </a:solidFill>
            <a:prstDash val="solid"/>
          </a:ln>
        </p:spPr>
      </p:sp>
      <p:sp>
        <p:nvSpPr>
          <p:cNvPr id="22" name="Shape 20"/>
          <p:cNvSpPr/>
          <p:nvPr/>
        </p:nvSpPr>
        <p:spPr>
          <a:xfrm>
            <a:off x="9308592" y="0"/>
            <a:ext cx="-1828800" cy="1828800"/>
          </a:xfrm>
          <a:prstGeom prst="line">
            <a:avLst/>
          </a:prstGeom>
          <a:noFill/>
          <a:ln w="7620">
            <a:solidFill>
              <a:srgbClr val="222222"/>
            </a:solidFill>
            <a:prstDash val="solid"/>
          </a:ln>
        </p:spPr>
      </p:sp>
      <p:sp>
        <p:nvSpPr>
          <p:cNvPr id="23" name="Shape 21"/>
          <p:cNvSpPr/>
          <p:nvPr/>
        </p:nvSpPr>
        <p:spPr>
          <a:xfrm>
            <a:off x="9509760" y="0"/>
            <a:ext cx="-1828800" cy="1828800"/>
          </a:xfrm>
          <a:prstGeom prst="line">
            <a:avLst/>
          </a:prstGeom>
          <a:noFill/>
          <a:ln w="7620">
            <a:solidFill>
              <a:srgbClr val="222222"/>
            </a:solidFill>
            <a:prstDash val="solid"/>
          </a:ln>
        </p:spPr>
      </p:sp>
      <p:sp>
        <p:nvSpPr>
          <p:cNvPr id="24" name="Shape 22"/>
          <p:cNvSpPr/>
          <p:nvPr/>
        </p:nvSpPr>
        <p:spPr>
          <a:xfrm>
            <a:off x="9710928" y="0"/>
            <a:ext cx="-1828800" cy="1828800"/>
          </a:xfrm>
          <a:prstGeom prst="line">
            <a:avLst/>
          </a:prstGeom>
          <a:noFill/>
          <a:ln w="7620">
            <a:solidFill>
              <a:srgbClr val="222222"/>
            </a:solidFill>
            <a:prstDash val="solid"/>
          </a:ln>
        </p:spPr>
      </p:sp>
      <p:sp>
        <p:nvSpPr>
          <p:cNvPr id="25" name="Shape 23"/>
          <p:cNvSpPr/>
          <p:nvPr/>
        </p:nvSpPr>
        <p:spPr>
          <a:xfrm>
            <a:off x="9912096" y="0"/>
            <a:ext cx="-1828800" cy="1828800"/>
          </a:xfrm>
          <a:prstGeom prst="line">
            <a:avLst/>
          </a:prstGeom>
          <a:noFill/>
          <a:ln w="7620">
            <a:solidFill>
              <a:srgbClr val="222222"/>
            </a:solidFill>
            <a:prstDash val="solid"/>
          </a:ln>
        </p:spPr>
      </p:sp>
      <p:sp>
        <p:nvSpPr>
          <p:cNvPr id="26" name="Shape 24"/>
          <p:cNvSpPr/>
          <p:nvPr/>
        </p:nvSpPr>
        <p:spPr>
          <a:xfrm>
            <a:off x="10113264" y="0"/>
            <a:ext cx="-1828800" cy="1828800"/>
          </a:xfrm>
          <a:prstGeom prst="line">
            <a:avLst/>
          </a:prstGeom>
          <a:noFill/>
          <a:ln w="7620">
            <a:solidFill>
              <a:srgbClr val="222222"/>
            </a:solidFill>
            <a:prstDash val="solid"/>
          </a:ln>
        </p:spPr>
      </p:sp>
      <p:sp>
        <p:nvSpPr>
          <p:cNvPr id="27" name="Shape 25"/>
          <p:cNvSpPr/>
          <p:nvPr/>
        </p:nvSpPr>
        <p:spPr>
          <a:xfrm>
            <a:off x="10314432" y="0"/>
            <a:ext cx="-1828800" cy="1828800"/>
          </a:xfrm>
          <a:prstGeom prst="line">
            <a:avLst/>
          </a:prstGeom>
          <a:noFill/>
          <a:ln w="7620">
            <a:solidFill>
              <a:srgbClr val="222222"/>
            </a:solidFill>
            <a:prstDash val="solid"/>
          </a:ln>
        </p:spPr>
      </p:sp>
      <p:sp>
        <p:nvSpPr>
          <p:cNvPr id="28" name="Shape 26"/>
          <p:cNvSpPr/>
          <p:nvPr/>
        </p:nvSpPr>
        <p:spPr>
          <a:xfrm>
            <a:off x="10515600" y="0"/>
            <a:ext cx="-1828800" cy="1828800"/>
          </a:xfrm>
          <a:prstGeom prst="line">
            <a:avLst/>
          </a:prstGeom>
          <a:noFill/>
          <a:ln w="7620">
            <a:solidFill>
              <a:srgbClr val="222222"/>
            </a:solidFill>
            <a:prstDash val="solid"/>
          </a:ln>
        </p:spPr>
      </p:sp>
      <p:sp>
        <p:nvSpPr>
          <p:cNvPr id="29" name="Shape 27"/>
          <p:cNvSpPr/>
          <p:nvPr/>
        </p:nvSpPr>
        <p:spPr>
          <a:xfrm>
            <a:off x="10716768" y="0"/>
            <a:ext cx="-1828800" cy="1828800"/>
          </a:xfrm>
          <a:prstGeom prst="line">
            <a:avLst/>
          </a:prstGeom>
          <a:noFill/>
          <a:ln w="7620">
            <a:solidFill>
              <a:srgbClr val="222222"/>
            </a:solidFill>
            <a:prstDash val="solid"/>
          </a:ln>
        </p:spPr>
      </p:sp>
      <p:sp>
        <p:nvSpPr>
          <p:cNvPr id="30" name="Shape 28"/>
          <p:cNvSpPr/>
          <p:nvPr/>
        </p:nvSpPr>
        <p:spPr>
          <a:xfrm>
            <a:off x="10917936" y="0"/>
            <a:ext cx="-1828800" cy="1828800"/>
          </a:xfrm>
          <a:prstGeom prst="line">
            <a:avLst/>
          </a:prstGeom>
          <a:noFill/>
          <a:ln w="7620">
            <a:solidFill>
              <a:srgbClr val="222222"/>
            </a:solidFill>
            <a:prstDash val="solid"/>
          </a:ln>
        </p:spPr>
      </p:sp>
      <p:sp>
        <p:nvSpPr>
          <p:cNvPr id="31" name="Shape 29"/>
          <p:cNvSpPr/>
          <p:nvPr/>
        </p:nvSpPr>
        <p:spPr>
          <a:xfrm>
            <a:off x="11119104" y="0"/>
            <a:ext cx="-1828800" cy="1828800"/>
          </a:xfrm>
          <a:prstGeom prst="line">
            <a:avLst/>
          </a:prstGeom>
          <a:noFill/>
          <a:ln w="7620">
            <a:solidFill>
              <a:srgbClr val="222222"/>
            </a:solidFill>
            <a:prstDash val="solid"/>
          </a:ln>
        </p:spPr>
      </p:sp>
      <p:sp>
        <p:nvSpPr>
          <p:cNvPr id="32" name="Shape 30"/>
          <p:cNvSpPr/>
          <p:nvPr/>
        </p:nvSpPr>
        <p:spPr>
          <a:xfrm>
            <a:off x="11320272" y="0"/>
            <a:ext cx="-1828800" cy="1828800"/>
          </a:xfrm>
          <a:prstGeom prst="line">
            <a:avLst/>
          </a:prstGeom>
          <a:noFill/>
          <a:ln w="7620">
            <a:solidFill>
              <a:srgbClr val="222222"/>
            </a:solidFill>
            <a:prstDash val="solid"/>
          </a:ln>
        </p:spPr>
      </p:sp>
      <p:sp>
        <p:nvSpPr>
          <p:cNvPr id="33" name="Shape 31"/>
          <p:cNvSpPr/>
          <p:nvPr/>
        </p:nvSpPr>
        <p:spPr>
          <a:xfrm>
            <a:off x="11521440" y="0"/>
            <a:ext cx="-1828800" cy="1828800"/>
          </a:xfrm>
          <a:prstGeom prst="line">
            <a:avLst/>
          </a:prstGeom>
          <a:noFill/>
          <a:ln w="7620">
            <a:solidFill>
              <a:srgbClr val="222222"/>
            </a:solidFill>
            <a:prstDash val="solid"/>
          </a:ln>
        </p:spPr>
      </p:sp>
      <p:sp>
        <p:nvSpPr>
          <p:cNvPr id="34" name="Shape 32"/>
          <p:cNvSpPr/>
          <p:nvPr/>
        </p:nvSpPr>
        <p:spPr>
          <a:xfrm>
            <a:off x="11722608" y="0"/>
            <a:ext cx="-1828800" cy="1828800"/>
          </a:xfrm>
          <a:prstGeom prst="line">
            <a:avLst/>
          </a:prstGeom>
          <a:noFill/>
          <a:ln w="7620">
            <a:solidFill>
              <a:srgbClr val="222222"/>
            </a:solidFill>
            <a:prstDash val="solid"/>
          </a:ln>
        </p:spPr>
      </p:sp>
      <p:sp>
        <p:nvSpPr>
          <p:cNvPr id="35" name="Shape 33"/>
          <p:cNvSpPr/>
          <p:nvPr/>
        </p:nvSpPr>
        <p:spPr>
          <a:xfrm>
            <a:off x="11923776" y="0"/>
            <a:ext cx="-1828800" cy="1828800"/>
          </a:xfrm>
          <a:prstGeom prst="line">
            <a:avLst/>
          </a:prstGeom>
          <a:noFill/>
          <a:ln w="7620">
            <a:solidFill>
              <a:srgbClr val="222222"/>
            </a:solidFill>
            <a:prstDash val="solid"/>
          </a:ln>
        </p:spPr>
      </p:sp>
      <p:sp>
        <p:nvSpPr>
          <p:cNvPr id="36" name="Shape 34"/>
          <p:cNvSpPr/>
          <p:nvPr/>
        </p:nvSpPr>
        <p:spPr>
          <a:xfrm>
            <a:off x="12124944" y="0"/>
            <a:ext cx="-1828800" cy="1828800"/>
          </a:xfrm>
          <a:prstGeom prst="line">
            <a:avLst/>
          </a:prstGeom>
          <a:noFill/>
          <a:ln w="7620">
            <a:solidFill>
              <a:srgbClr val="222222"/>
            </a:solidFill>
            <a:prstDash val="solid"/>
          </a:ln>
        </p:spPr>
      </p:sp>
      <p:sp>
        <p:nvSpPr>
          <p:cNvPr id="37" name="Shape 35"/>
          <p:cNvSpPr/>
          <p:nvPr/>
        </p:nvSpPr>
        <p:spPr>
          <a:xfrm>
            <a:off x="12326112" y="0"/>
            <a:ext cx="-1828800" cy="1828800"/>
          </a:xfrm>
          <a:prstGeom prst="line">
            <a:avLst/>
          </a:prstGeom>
          <a:noFill/>
          <a:ln w="7620">
            <a:solidFill>
              <a:srgbClr val="222222"/>
            </a:solidFill>
            <a:prstDash val="solid"/>
          </a:ln>
        </p:spPr>
      </p:sp>
      <p:sp>
        <p:nvSpPr>
          <p:cNvPr id="38" name="Shape 36"/>
          <p:cNvSpPr/>
          <p:nvPr/>
        </p:nvSpPr>
        <p:spPr>
          <a:xfrm>
            <a:off x="12527280" y="0"/>
            <a:ext cx="-1828800" cy="1828800"/>
          </a:xfrm>
          <a:prstGeom prst="line">
            <a:avLst/>
          </a:prstGeom>
          <a:noFill/>
          <a:ln w="7620">
            <a:solidFill>
              <a:srgbClr val="222222"/>
            </a:solidFill>
            <a:prstDash val="solid"/>
          </a:ln>
        </p:spPr>
      </p:sp>
      <p:sp>
        <p:nvSpPr>
          <p:cNvPr id="39" name="Shape 37"/>
          <p:cNvSpPr/>
          <p:nvPr/>
        </p:nvSpPr>
        <p:spPr>
          <a:xfrm>
            <a:off x="5486400" y="3200400"/>
            <a:ext cx="822960" cy="2286000"/>
          </a:xfrm>
          <a:prstGeom prst="rect">
            <a:avLst/>
          </a:prstGeom>
          <a:solidFill>
            <a:srgbClr val="111111"/>
          </a:solidFill>
          <a:ln w="12700">
            <a:solidFill>
              <a:srgbClr val="111111"/>
            </a:solidFill>
            <a:prstDash val="solid"/>
          </a:ln>
        </p:spPr>
      </p:sp>
      <p:sp>
        <p:nvSpPr>
          <p:cNvPr id="40" name="Shape 38"/>
          <p:cNvSpPr/>
          <p:nvPr/>
        </p:nvSpPr>
        <p:spPr>
          <a:xfrm>
            <a:off x="502920" y="411480"/>
            <a:ext cx="1828800" cy="594360"/>
          </a:xfrm>
          <a:prstGeom prst="rect">
            <a:avLst/>
          </a:prstGeom>
          <a:solidFill>
            <a:srgbClr val="111111"/>
          </a:solidFill>
          <a:ln w="12700">
            <a:solidFill>
              <a:srgbClr val="111111"/>
            </a:solidFill>
            <a:prstDash val="solid"/>
          </a:ln>
        </p:spPr>
      </p:sp>
      <p:sp>
        <p:nvSpPr>
          <p:cNvPr id="41" name="Text 39"/>
          <p:cNvSpPr/>
          <p:nvPr/>
        </p:nvSpPr>
        <p:spPr>
          <a:xfrm>
            <a:off x="502920" y="411480"/>
            <a:ext cx="1828800" cy="594360"/>
          </a:xfrm>
          <a:prstGeom prst="rect">
            <a:avLst/>
          </a:prstGeom>
          <a:noFill/>
          <a:ln/>
        </p:spPr>
        <p:txBody>
          <a:bodyPr wrap="square" lIns="0" tIns="0" rIns="0" bIns="0" rtlCol="0" anchor="ctr"/>
          <a:lstStyle/>
          <a:p>
            <a:pPr algn="ctr" indent="0" marL="0">
              <a:buNone/>
            </a:pPr>
            <a:r>
              <a:rPr lang="en-US" sz="2000" b="1" spc="400" kern="0" dirty="0">
                <a:solidFill>
                  <a:srgbClr val="FFFFFF"/>
                </a:solidFill>
                <a:latin typeface="Calibri" pitchFamily="34" charset="0"/>
                <a:ea typeface="Calibri" pitchFamily="34" charset="-122"/>
                <a:cs typeface="Calibri" pitchFamily="34" charset="-120"/>
              </a:rPr>
              <a:t>ARENA
</a:t>
            </a:r>
            <a:pPr algn="ctr" indent="0" marL="0">
              <a:buNone/>
            </a:pPr>
            <a:r>
              <a:rPr lang="en-US" sz="800" spc="400" kern="0" dirty="0">
                <a:solidFill>
                  <a:srgbClr val="FFFFFF"/>
                </a:solidFill>
                <a:latin typeface="Calibri" pitchFamily="34" charset="0"/>
                <a:ea typeface="Calibri" pitchFamily="34" charset="-122"/>
                <a:cs typeface="Calibri" pitchFamily="34" charset="-120"/>
              </a:rPr>
              <a:t>H O L D I N G S</a:t>
            </a:r>
            <a:endParaRPr lang="en-US" sz="2000" dirty="0"/>
          </a:p>
        </p:txBody>
      </p:sp>
      <p:sp>
        <p:nvSpPr>
          <p:cNvPr id="42" name="Shape 40"/>
          <p:cNvSpPr/>
          <p:nvPr/>
        </p:nvSpPr>
        <p:spPr>
          <a:xfrm>
            <a:off x="7543800" y="475488"/>
            <a:ext cx="237744" cy="237744"/>
          </a:xfrm>
          <a:prstGeom prst="ellipse">
            <a:avLst/>
          </a:prstGeom>
          <a:solidFill>
            <a:srgbClr val="FFFFFF"/>
          </a:solidFill>
          <a:ln w="12700">
            <a:solidFill>
              <a:srgbClr val="FFFFFF"/>
            </a:solidFill>
            <a:prstDash val="solid"/>
          </a:ln>
        </p:spPr>
      </p:sp>
      <p:sp>
        <p:nvSpPr>
          <p:cNvPr id="43" name="Text 41"/>
          <p:cNvSpPr/>
          <p:nvPr/>
        </p:nvSpPr>
        <p:spPr>
          <a:xfrm>
            <a:off x="7818120" y="420624"/>
            <a:ext cx="4114800" cy="347472"/>
          </a:xfrm>
          <a:prstGeom prst="rect">
            <a:avLst/>
          </a:prstGeom>
          <a:noFill/>
          <a:ln/>
        </p:spPr>
        <p:txBody>
          <a:bodyPr wrap="square" lIns="0" tIns="0" rIns="0" bIns="0" rtlCol="0" anchor="ctr"/>
          <a:lstStyle/>
          <a:p>
            <a:pPr indent="0" marL="0">
              <a:buNone/>
            </a:pPr>
            <a:r>
              <a:rPr lang="en-US" sz="1400" b="1" i="1" dirty="0">
                <a:solidFill>
                  <a:srgbClr val="FFFFFF"/>
                </a:solidFill>
                <a:latin typeface="Calibri" pitchFamily="34" charset="0"/>
                <a:ea typeface="Calibri" pitchFamily="34" charset="-122"/>
                <a:cs typeface="Calibri" pitchFamily="34" charset="-120"/>
              </a:rPr>
              <a:t>#DoingSomethingGreat</a:t>
            </a:r>
            <a:endParaRPr lang="en-US" sz="1400" dirty="0"/>
          </a:p>
        </p:txBody>
      </p:sp>
      <p:sp>
        <p:nvSpPr>
          <p:cNvPr id="44" name="Text 42"/>
          <p:cNvSpPr/>
          <p:nvPr/>
        </p:nvSpPr>
        <p:spPr>
          <a:xfrm>
            <a:off x="502920" y="2011680"/>
            <a:ext cx="4754880" cy="2743200"/>
          </a:xfrm>
          <a:prstGeom prst="rect">
            <a:avLst/>
          </a:prstGeom>
          <a:noFill/>
          <a:ln/>
        </p:spPr>
        <p:txBody>
          <a:bodyPr wrap="square" lIns="0" tIns="0" rIns="0" bIns="0" rtlCol="0" anchor="ctr"/>
          <a:lstStyle/>
          <a:p>
            <a:pPr indent="0" marL="0">
              <a:buNone/>
            </a:pPr>
            <a:r>
              <a:rPr lang="en-US" sz="3000" b="1" dirty="0">
                <a:solidFill>
                  <a:srgbClr val="111111"/>
                </a:solidFill>
                <a:latin typeface="Calibri" pitchFamily="34" charset="0"/>
                <a:ea typeface="Calibri" pitchFamily="34" charset="-122"/>
                <a:cs typeface="Calibri" pitchFamily="34" charset="-120"/>
              </a:rPr>
              <a:t>Enhancing your customer experience through Branded Mobile Services</a:t>
            </a:r>
            <a:endParaRPr lang="en-US" sz="3000" dirty="0"/>
          </a:p>
        </p:txBody>
      </p:sp>
      <p:sp>
        <p:nvSpPr>
          <p:cNvPr id="45" name="Shape 43"/>
          <p:cNvSpPr/>
          <p:nvPr/>
        </p:nvSpPr>
        <p:spPr>
          <a:xfrm>
            <a:off x="502920" y="4846320"/>
            <a:ext cx="914400" cy="0"/>
          </a:xfrm>
          <a:prstGeom prst="line">
            <a:avLst/>
          </a:prstGeom>
          <a:noFill/>
          <a:ln w="28575">
            <a:solidFill>
              <a:srgbClr val="111111"/>
            </a:solidFill>
            <a:prstDash val="solid"/>
          </a:ln>
        </p:spPr>
      </p:sp>
      <p:sp>
        <p:nvSpPr>
          <p:cNvPr id="46" name="Text 44"/>
          <p:cNvSpPr/>
          <p:nvPr/>
        </p:nvSpPr>
        <p:spPr>
          <a:xfrm>
            <a:off x="502920" y="4937760"/>
            <a:ext cx="4754880" cy="365760"/>
          </a:xfrm>
          <a:prstGeom prst="rect">
            <a:avLst/>
          </a:prstGeom>
          <a:noFill/>
          <a:ln/>
        </p:spPr>
        <p:txBody>
          <a:bodyPr wrap="square" lIns="0" tIns="0" rIns="0" bIns="0" rtlCol="0" anchor="ctr"/>
          <a:lstStyle/>
          <a:p>
            <a:pPr indent="0" marL="0">
              <a:buNone/>
            </a:pPr>
            <a:r>
              <a:rPr lang="en-US" sz="1400" dirty="0">
                <a:solidFill>
                  <a:srgbClr val="444444"/>
                </a:solidFill>
                <a:latin typeface="Calibri" pitchFamily="34" charset="0"/>
                <a:ea typeface="Calibri" pitchFamily="34" charset="-122"/>
                <a:cs typeface="Calibri" pitchFamily="34" charset="-120"/>
              </a:rPr>
              <a:t>Arena Content MVNO  ·  Executive Proposal</a:t>
            </a:r>
            <a:endParaRPr lang="en-US" sz="1400" dirty="0"/>
          </a:p>
        </p:txBody>
      </p:sp>
      <p:sp>
        <p:nvSpPr>
          <p:cNvPr id="47" name="Text 45"/>
          <p:cNvSpPr/>
          <p:nvPr/>
        </p:nvSpPr>
        <p:spPr>
          <a:xfrm>
            <a:off x="502920" y="5257800"/>
            <a:ext cx="4754880" cy="320040"/>
          </a:xfrm>
          <a:prstGeom prst="rect">
            <a:avLst/>
          </a:prstGeom>
          <a:noFill/>
          <a:ln/>
        </p:spPr>
        <p:txBody>
          <a:bodyPr wrap="square" lIns="0" tIns="0" rIns="0" bIns="0" rtlCol="0" anchor="ctr"/>
          <a:lstStyle/>
          <a:p>
            <a:pPr indent="0" marL="0">
              <a:buNone/>
            </a:pPr>
            <a:r>
              <a:rPr lang="en-US" sz="1100" i="1" dirty="0">
                <a:solidFill>
                  <a:srgbClr val="6B6B6B"/>
                </a:solidFill>
                <a:latin typeface="Calibri" pitchFamily="34" charset="0"/>
                <a:ea typeface="Calibri" pitchFamily="34" charset="-122"/>
                <a:cs typeface="Calibri" pitchFamily="34" charset="-120"/>
              </a:rPr>
              <a:t>Prepared by Digital Mobile / MVNE  —  April 2026</a:t>
            </a:r>
            <a:endParaRPr lang="en-US" sz="1100" dirty="0"/>
          </a:p>
        </p:txBody>
      </p:sp>
      <p:sp>
        <p:nvSpPr>
          <p:cNvPr id="48" name="Text 46"/>
          <p:cNvSpPr/>
          <p:nvPr/>
        </p:nvSpPr>
        <p:spPr>
          <a:xfrm>
            <a:off x="8503920" y="5943600"/>
            <a:ext cx="2011680" cy="3657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digital</a:t>
            </a:r>
            <a:pPr algn="ctr" indent="0" marL="0">
              <a:buNone/>
            </a:pPr>
            <a:r>
              <a:rPr lang="en-US" sz="1800" b="1" dirty="0">
                <a:solidFill>
                  <a:srgbClr val="D9D9D9"/>
                </a:solidFill>
                <a:latin typeface="Calibri" pitchFamily="34" charset="0"/>
                <a:ea typeface="Calibri" pitchFamily="34" charset="-122"/>
                <a:cs typeface="Calibri" pitchFamily="34" charset="-120"/>
              </a:rPr>
              <a:t>mobile</a:t>
            </a:r>
            <a:endParaRPr lang="en-US" sz="1800" dirty="0"/>
          </a:p>
        </p:txBody>
      </p:sp>
      <p:sp>
        <p:nvSpPr>
          <p:cNvPr id="49" name="Text 47"/>
          <p:cNvSpPr/>
          <p:nvPr/>
        </p:nvSpPr>
        <p:spPr>
          <a:xfrm>
            <a:off x="10424160" y="5897880"/>
            <a:ext cx="1645920" cy="502920"/>
          </a:xfrm>
          <a:prstGeom prst="rect">
            <a:avLst/>
          </a:prstGeom>
          <a:noFill/>
          <a:ln/>
        </p:spPr>
        <p:txBody>
          <a:bodyPr wrap="square" lIns="0" tIns="0" rIns="0" bIns="0" rtlCol="0" anchor="ctr"/>
          <a:lstStyle/>
          <a:p>
            <a:pPr indent="0" marL="0">
              <a:buNone/>
            </a:pPr>
            <a:r>
              <a:rPr lang="en-US" sz="1400" b="1" spc="200" kern="0" dirty="0">
                <a:solidFill>
                  <a:srgbClr val="FFFFFF"/>
                </a:solidFill>
                <a:latin typeface="Calibri" pitchFamily="34" charset="0"/>
                <a:ea typeface="Calibri" pitchFamily="34" charset="-122"/>
                <a:cs typeface="Calibri" pitchFamily="34" charset="-120"/>
              </a:rPr>
              <a:t>MVNE
</a:t>
            </a:r>
            <a:pPr indent="0" marL="0">
              <a:buNone/>
            </a:pPr>
            <a:r>
              <a:rPr lang="en-US" sz="800" dirty="0">
                <a:solidFill>
                  <a:srgbClr val="D9D9D9"/>
                </a:solidFill>
                <a:latin typeface="Calibri" pitchFamily="34" charset="0"/>
                <a:ea typeface="Calibri" pitchFamily="34" charset="-122"/>
                <a:cs typeface="Calibri" pitchFamily="34" charset="-120"/>
              </a:rPr>
              <a:t>Mobile Virtual Network Enabler</a:t>
            </a:r>
            <a:endParaRPr lang="en-US" sz="1400" dirty="0"/>
          </a:p>
        </p:txBody>
      </p:sp>
      <p:sp>
        <p:nvSpPr>
          <p:cNvPr id="50" name="Shape 48"/>
          <p:cNvSpPr/>
          <p:nvPr/>
        </p:nvSpPr>
        <p:spPr>
          <a:xfrm>
            <a:off x="502920" y="6080760"/>
            <a:ext cx="640080" cy="320040"/>
          </a:xfrm>
          <a:prstGeom prst="rect">
            <a:avLst/>
          </a:prstGeom>
          <a:solidFill>
            <a:srgbClr val="111111"/>
          </a:solidFill>
          <a:ln w="12700">
            <a:solidFill>
              <a:srgbClr val="111111"/>
            </a:solidFill>
            <a:prstDash val="solid"/>
          </a:ln>
        </p:spPr>
      </p:sp>
      <p:sp>
        <p:nvSpPr>
          <p:cNvPr id="51" name="Text 49"/>
          <p:cNvSpPr/>
          <p:nvPr/>
        </p:nvSpPr>
        <p:spPr>
          <a:xfrm>
            <a:off x="502920" y="6080760"/>
            <a:ext cx="640080" cy="32004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DSG</a:t>
            </a:r>
            <a:endParaRPr lang="en-US" sz="1100" dirty="0"/>
          </a:p>
        </p:txBody>
      </p:sp>
      <p:sp>
        <p:nvSpPr>
          <p:cNvPr id="52" name="Text 50"/>
          <p:cNvSpPr/>
          <p:nvPr/>
        </p:nvSpPr>
        <p:spPr>
          <a:xfrm>
            <a:off x="1207008" y="6080760"/>
            <a:ext cx="2743200" cy="320040"/>
          </a:xfrm>
          <a:prstGeom prst="rect">
            <a:avLst/>
          </a:prstGeom>
          <a:noFill/>
          <a:ln/>
        </p:spPr>
        <p:txBody>
          <a:bodyPr wrap="square" lIns="0" tIns="0" rIns="0" bIns="0" rtlCol="0" anchor="ctr"/>
          <a:lstStyle/>
          <a:p>
            <a:pPr indent="0" marL="0">
              <a:buNone/>
            </a:pPr>
            <a:r>
              <a:rPr lang="en-US" sz="800" spc="200" kern="0" dirty="0">
                <a:solidFill>
                  <a:srgbClr val="444444"/>
                </a:solidFill>
                <a:latin typeface="Calibri" pitchFamily="34" charset="0"/>
                <a:ea typeface="Calibri" pitchFamily="34" charset="-122"/>
                <a:cs typeface="Calibri" pitchFamily="34" charset="-120"/>
              </a:rPr>
              <a:t>DIGITAL SOLUTIONS GROUP</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20040" y="182880"/>
            <a:ext cx="1417320" cy="438912"/>
          </a:xfrm>
          <a:prstGeom prst="rect">
            <a:avLst/>
          </a:prstGeom>
          <a:solidFill>
            <a:srgbClr val="111111"/>
          </a:solidFill>
          <a:ln w="12700">
            <a:solidFill>
              <a:srgbClr val="111111"/>
            </a:solidFill>
            <a:prstDash val="solid"/>
          </a:ln>
        </p:spPr>
      </p:sp>
      <p:sp>
        <p:nvSpPr>
          <p:cNvPr id="3" name="Text 1"/>
          <p:cNvSpPr/>
          <p:nvPr/>
        </p:nvSpPr>
        <p:spPr>
          <a:xfrm>
            <a:off x="320040" y="182880"/>
            <a:ext cx="1417320" cy="438912"/>
          </a:xfrm>
          <a:prstGeom prst="rect">
            <a:avLst/>
          </a:prstGeom>
          <a:noFill/>
          <a:ln/>
        </p:spPr>
        <p:txBody>
          <a:bodyPr wrap="square" lIns="0" tIns="0" rIns="0" bIns="0" rtlCol="0" anchor="ctr"/>
          <a:lstStyle/>
          <a:p>
            <a:pPr algn="ctr" indent="0" marL="0">
              <a:buNone/>
            </a:pPr>
            <a:r>
              <a:rPr lang="en-US" sz="1500" b="1" spc="400" kern="0" dirty="0">
                <a:solidFill>
                  <a:srgbClr val="FFFFFF"/>
                </a:solidFill>
                <a:latin typeface="Calibri" pitchFamily="34" charset="0"/>
                <a:ea typeface="Calibri" pitchFamily="34" charset="-122"/>
                <a:cs typeface="Calibri" pitchFamily="34" charset="-120"/>
              </a:rPr>
              <a:t>ARENA
</a:t>
            </a:r>
            <a:pPr algn="ctr" indent="0" marL="0">
              <a:buNone/>
            </a:pPr>
            <a:r>
              <a:rPr lang="en-US" sz="600" spc="400" kern="0" dirty="0">
                <a:solidFill>
                  <a:srgbClr val="FFFFFF"/>
                </a:solidFill>
                <a:latin typeface="Calibri" pitchFamily="34" charset="0"/>
                <a:ea typeface="Calibri" pitchFamily="34" charset="-122"/>
                <a:cs typeface="Calibri" pitchFamily="34" charset="-120"/>
              </a:rPr>
              <a:t>H O L D I N G S</a:t>
            </a:r>
            <a:endParaRPr lang="en-US" sz="1500" dirty="0"/>
          </a:p>
        </p:txBody>
      </p:sp>
      <p:sp>
        <p:nvSpPr>
          <p:cNvPr id="4" name="Shape 2"/>
          <p:cNvSpPr/>
          <p:nvPr/>
        </p:nvSpPr>
        <p:spPr>
          <a:xfrm>
            <a:off x="9677095" y="246888"/>
            <a:ext cx="201168" cy="201168"/>
          </a:xfrm>
          <a:prstGeom prst="ellipse">
            <a:avLst/>
          </a:prstGeom>
          <a:solidFill>
            <a:srgbClr val="111111"/>
          </a:solidFill>
          <a:ln w="12700">
            <a:solidFill>
              <a:srgbClr val="111111"/>
            </a:solidFill>
            <a:prstDash val="solid"/>
          </a:ln>
        </p:spPr>
      </p:sp>
      <p:sp>
        <p:nvSpPr>
          <p:cNvPr id="5" name="Text 3"/>
          <p:cNvSpPr/>
          <p:nvPr/>
        </p:nvSpPr>
        <p:spPr>
          <a:xfrm>
            <a:off x="9923983" y="210312"/>
            <a:ext cx="2011680" cy="274320"/>
          </a:xfrm>
          <a:prstGeom prst="rect">
            <a:avLst/>
          </a:prstGeom>
          <a:noFill/>
          <a:ln/>
        </p:spPr>
        <p:txBody>
          <a:bodyPr wrap="square" lIns="0" tIns="0" rIns="0" bIns="0" rtlCol="0" anchor="ctr"/>
          <a:lstStyle/>
          <a:p>
            <a:pPr algn="l" indent="0" marL="0">
              <a:buNone/>
            </a:pPr>
            <a:r>
              <a:rPr lang="en-US" sz="1000" b="1" i="1" dirty="0">
                <a:solidFill>
                  <a:srgbClr val="111111"/>
                </a:solidFill>
                <a:latin typeface="Calibri" pitchFamily="34" charset="0"/>
                <a:ea typeface="Calibri" pitchFamily="34" charset="-122"/>
                <a:cs typeface="Calibri" pitchFamily="34" charset="-120"/>
              </a:rPr>
              <a:t>#DoingSomethingGreat</a:t>
            </a:r>
            <a:endParaRPr lang="en-US" sz="1000" dirty="0"/>
          </a:p>
        </p:txBody>
      </p:sp>
      <p:sp>
        <p:nvSpPr>
          <p:cNvPr id="6" name="Shape 4"/>
          <p:cNvSpPr/>
          <p:nvPr/>
        </p:nvSpPr>
        <p:spPr>
          <a:xfrm>
            <a:off x="5973775" y="0"/>
            <a:ext cx="6217920" cy="1463040"/>
          </a:xfrm>
          <a:prstGeom prst="rect">
            <a:avLst/>
          </a:prstGeom>
          <a:solidFill>
            <a:srgbClr val="F5F5F5"/>
          </a:solidFill>
          <a:ln w="12700">
            <a:solidFill>
              <a:srgbClr val="F5F5F5"/>
            </a:solidFill>
            <a:prstDash val="solid"/>
          </a:ln>
        </p:spPr>
      </p:sp>
      <p:sp>
        <p:nvSpPr>
          <p:cNvPr id="7" name="Shape 5"/>
          <p:cNvSpPr/>
          <p:nvPr/>
        </p:nvSpPr>
        <p:spPr>
          <a:xfrm>
            <a:off x="6248095" y="0"/>
            <a:ext cx="-1280160" cy="1280160"/>
          </a:xfrm>
          <a:prstGeom prst="line">
            <a:avLst/>
          </a:prstGeom>
          <a:noFill/>
          <a:ln w="9525">
            <a:solidFill>
              <a:srgbClr val="EDEDED"/>
            </a:solidFill>
            <a:prstDash val="solid"/>
          </a:ln>
        </p:spPr>
      </p:sp>
      <p:sp>
        <p:nvSpPr>
          <p:cNvPr id="8" name="Shape 6"/>
          <p:cNvSpPr/>
          <p:nvPr/>
        </p:nvSpPr>
        <p:spPr>
          <a:xfrm>
            <a:off x="6659575" y="0"/>
            <a:ext cx="-1280160" cy="1280160"/>
          </a:xfrm>
          <a:prstGeom prst="line">
            <a:avLst/>
          </a:prstGeom>
          <a:noFill/>
          <a:ln w="9525">
            <a:solidFill>
              <a:srgbClr val="EDEDED"/>
            </a:solidFill>
            <a:prstDash val="solid"/>
          </a:ln>
        </p:spPr>
      </p:sp>
      <p:sp>
        <p:nvSpPr>
          <p:cNvPr id="9" name="Shape 7"/>
          <p:cNvSpPr/>
          <p:nvPr/>
        </p:nvSpPr>
        <p:spPr>
          <a:xfrm>
            <a:off x="7071055" y="0"/>
            <a:ext cx="-1280160" cy="1280160"/>
          </a:xfrm>
          <a:prstGeom prst="line">
            <a:avLst/>
          </a:prstGeom>
          <a:noFill/>
          <a:ln w="9525">
            <a:solidFill>
              <a:srgbClr val="EDEDED"/>
            </a:solidFill>
            <a:prstDash val="solid"/>
          </a:ln>
        </p:spPr>
      </p:sp>
      <p:sp>
        <p:nvSpPr>
          <p:cNvPr id="10" name="Shape 8"/>
          <p:cNvSpPr/>
          <p:nvPr/>
        </p:nvSpPr>
        <p:spPr>
          <a:xfrm>
            <a:off x="7482535" y="0"/>
            <a:ext cx="-1280160" cy="1280160"/>
          </a:xfrm>
          <a:prstGeom prst="line">
            <a:avLst/>
          </a:prstGeom>
          <a:noFill/>
          <a:ln w="9525">
            <a:solidFill>
              <a:srgbClr val="EDEDED"/>
            </a:solidFill>
            <a:prstDash val="solid"/>
          </a:ln>
        </p:spPr>
      </p:sp>
      <p:sp>
        <p:nvSpPr>
          <p:cNvPr id="11" name="Shape 9"/>
          <p:cNvSpPr/>
          <p:nvPr/>
        </p:nvSpPr>
        <p:spPr>
          <a:xfrm>
            <a:off x="7894015" y="0"/>
            <a:ext cx="-1280160" cy="1280160"/>
          </a:xfrm>
          <a:prstGeom prst="line">
            <a:avLst/>
          </a:prstGeom>
          <a:noFill/>
          <a:ln w="9525">
            <a:solidFill>
              <a:srgbClr val="EDEDED"/>
            </a:solidFill>
            <a:prstDash val="solid"/>
          </a:ln>
        </p:spPr>
      </p:sp>
      <p:sp>
        <p:nvSpPr>
          <p:cNvPr id="12" name="Shape 10"/>
          <p:cNvSpPr/>
          <p:nvPr/>
        </p:nvSpPr>
        <p:spPr>
          <a:xfrm>
            <a:off x="8305495" y="0"/>
            <a:ext cx="-1280160" cy="1280160"/>
          </a:xfrm>
          <a:prstGeom prst="line">
            <a:avLst/>
          </a:prstGeom>
          <a:noFill/>
          <a:ln w="9525">
            <a:solidFill>
              <a:srgbClr val="EDEDED"/>
            </a:solidFill>
            <a:prstDash val="solid"/>
          </a:ln>
        </p:spPr>
      </p:sp>
      <p:sp>
        <p:nvSpPr>
          <p:cNvPr id="13" name="Shape 11"/>
          <p:cNvSpPr/>
          <p:nvPr/>
        </p:nvSpPr>
        <p:spPr>
          <a:xfrm>
            <a:off x="8716975" y="0"/>
            <a:ext cx="-1280160" cy="1280160"/>
          </a:xfrm>
          <a:prstGeom prst="line">
            <a:avLst/>
          </a:prstGeom>
          <a:noFill/>
          <a:ln w="9525">
            <a:solidFill>
              <a:srgbClr val="EDEDED"/>
            </a:solidFill>
            <a:prstDash val="solid"/>
          </a:ln>
        </p:spPr>
      </p:sp>
      <p:sp>
        <p:nvSpPr>
          <p:cNvPr id="14" name="Shape 12"/>
          <p:cNvSpPr/>
          <p:nvPr/>
        </p:nvSpPr>
        <p:spPr>
          <a:xfrm>
            <a:off x="9128455" y="0"/>
            <a:ext cx="-1280160" cy="1280160"/>
          </a:xfrm>
          <a:prstGeom prst="line">
            <a:avLst/>
          </a:prstGeom>
          <a:noFill/>
          <a:ln w="9525">
            <a:solidFill>
              <a:srgbClr val="EDEDED"/>
            </a:solidFill>
            <a:prstDash val="solid"/>
          </a:ln>
        </p:spPr>
      </p:sp>
      <p:sp>
        <p:nvSpPr>
          <p:cNvPr id="15" name="Shape 13"/>
          <p:cNvSpPr/>
          <p:nvPr/>
        </p:nvSpPr>
        <p:spPr>
          <a:xfrm>
            <a:off x="9539935" y="0"/>
            <a:ext cx="-1280160" cy="1280160"/>
          </a:xfrm>
          <a:prstGeom prst="line">
            <a:avLst/>
          </a:prstGeom>
          <a:noFill/>
          <a:ln w="9525">
            <a:solidFill>
              <a:srgbClr val="EDEDED"/>
            </a:solidFill>
            <a:prstDash val="solid"/>
          </a:ln>
        </p:spPr>
      </p:sp>
      <p:sp>
        <p:nvSpPr>
          <p:cNvPr id="16" name="Shape 14"/>
          <p:cNvSpPr/>
          <p:nvPr/>
        </p:nvSpPr>
        <p:spPr>
          <a:xfrm>
            <a:off x="9951415" y="0"/>
            <a:ext cx="-1280160" cy="1280160"/>
          </a:xfrm>
          <a:prstGeom prst="line">
            <a:avLst/>
          </a:prstGeom>
          <a:noFill/>
          <a:ln w="9525">
            <a:solidFill>
              <a:srgbClr val="EDEDED"/>
            </a:solidFill>
            <a:prstDash val="solid"/>
          </a:ln>
        </p:spPr>
      </p:sp>
      <p:sp>
        <p:nvSpPr>
          <p:cNvPr id="17" name="Shape 15"/>
          <p:cNvSpPr/>
          <p:nvPr/>
        </p:nvSpPr>
        <p:spPr>
          <a:xfrm>
            <a:off x="10362895" y="0"/>
            <a:ext cx="-1280160" cy="1280160"/>
          </a:xfrm>
          <a:prstGeom prst="line">
            <a:avLst/>
          </a:prstGeom>
          <a:noFill/>
          <a:ln w="9525">
            <a:solidFill>
              <a:srgbClr val="EDEDED"/>
            </a:solidFill>
            <a:prstDash val="solid"/>
          </a:ln>
        </p:spPr>
      </p:sp>
      <p:sp>
        <p:nvSpPr>
          <p:cNvPr id="18" name="Shape 16"/>
          <p:cNvSpPr/>
          <p:nvPr/>
        </p:nvSpPr>
        <p:spPr>
          <a:xfrm>
            <a:off x="10774375" y="0"/>
            <a:ext cx="-1280160" cy="1280160"/>
          </a:xfrm>
          <a:prstGeom prst="line">
            <a:avLst/>
          </a:prstGeom>
          <a:noFill/>
          <a:ln w="9525">
            <a:solidFill>
              <a:srgbClr val="EDEDED"/>
            </a:solidFill>
            <a:prstDash val="solid"/>
          </a:ln>
        </p:spPr>
      </p:sp>
      <p:sp>
        <p:nvSpPr>
          <p:cNvPr id="19" name="Shape 17"/>
          <p:cNvSpPr/>
          <p:nvPr/>
        </p:nvSpPr>
        <p:spPr>
          <a:xfrm>
            <a:off x="11185855" y="0"/>
            <a:ext cx="-1280160" cy="1280160"/>
          </a:xfrm>
          <a:prstGeom prst="line">
            <a:avLst/>
          </a:prstGeom>
          <a:noFill/>
          <a:ln w="9525">
            <a:solidFill>
              <a:srgbClr val="EDEDED"/>
            </a:solidFill>
            <a:prstDash val="solid"/>
          </a:ln>
        </p:spPr>
      </p:sp>
      <p:sp>
        <p:nvSpPr>
          <p:cNvPr id="20" name="Shape 18"/>
          <p:cNvSpPr/>
          <p:nvPr/>
        </p:nvSpPr>
        <p:spPr>
          <a:xfrm>
            <a:off x="11597335" y="0"/>
            <a:ext cx="-1280160" cy="1280160"/>
          </a:xfrm>
          <a:prstGeom prst="line">
            <a:avLst/>
          </a:prstGeom>
          <a:noFill/>
          <a:ln w="9525">
            <a:solidFill>
              <a:srgbClr val="EDEDED"/>
            </a:solidFill>
            <a:prstDash val="solid"/>
          </a:ln>
        </p:spPr>
      </p:sp>
      <p:sp>
        <p:nvSpPr>
          <p:cNvPr id="21" name="Shape 19"/>
          <p:cNvSpPr/>
          <p:nvPr/>
        </p:nvSpPr>
        <p:spPr>
          <a:xfrm>
            <a:off x="320040" y="1481328"/>
            <a:ext cx="11551615" cy="0"/>
          </a:xfrm>
          <a:prstGeom prst="line">
            <a:avLst/>
          </a:prstGeom>
          <a:noFill/>
          <a:ln w="15875">
            <a:solidFill>
              <a:srgbClr val="111111"/>
            </a:solidFill>
            <a:prstDash val="solid"/>
          </a:ln>
        </p:spPr>
      </p:sp>
      <p:sp>
        <p:nvSpPr>
          <p:cNvPr id="22" name="Text 20"/>
          <p:cNvSpPr/>
          <p:nvPr/>
        </p:nvSpPr>
        <p:spPr>
          <a:xfrm>
            <a:off x="5486400" y="292608"/>
            <a:ext cx="6309360" cy="685800"/>
          </a:xfrm>
          <a:prstGeom prst="rect">
            <a:avLst/>
          </a:prstGeom>
          <a:noFill/>
          <a:ln/>
        </p:spPr>
        <p:txBody>
          <a:bodyPr wrap="square" lIns="0" tIns="0" rIns="0" bIns="0" rtlCol="0" anchor="ctr"/>
          <a:lstStyle/>
          <a:p>
            <a:pPr algn="r" indent="0" marL="0">
              <a:buNone/>
            </a:pPr>
            <a:r>
              <a:rPr lang="en-US" sz="2600" b="1" dirty="0">
                <a:solidFill>
                  <a:srgbClr val="111111"/>
                </a:solidFill>
                <a:latin typeface="Calibri" pitchFamily="34" charset="0"/>
                <a:ea typeface="Calibri" pitchFamily="34" charset="-122"/>
                <a:cs typeface="Calibri" pitchFamily="34" charset="-120"/>
              </a:rPr>
              <a:t>Conversations for Today</a:t>
            </a:r>
            <a:endParaRPr lang="en-US" sz="2600" dirty="0"/>
          </a:p>
        </p:txBody>
      </p:sp>
      <p:sp>
        <p:nvSpPr>
          <p:cNvPr id="23" name="Text 21"/>
          <p:cNvSpPr/>
          <p:nvPr/>
        </p:nvSpPr>
        <p:spPr>
          <a:xfrm>
            <a:off x="5486400" y="960120"/>
            <a:ext cx="6309360" cy="365760"/>
          </a:xfrm>
          <a:prstGeom prst="rect">
            <a:avLst/>
          </a:prstGeom>
          <a:noFill/>
          <a:ln/>
        </p:spPr>
        <p:txBody>
          <a:bodyPr wrap="square" lIns="0" tIns="0" rIns="0" bIns="0" rtlCol="0" anchor="ctr"/>
          <a:lstStyle/>
          <a:p>
            <a:pPr algn="r" indent="0" marL="0">
              <a:buNone/>
            </a:pPr>
            <a:r>
              <a:rPr lang="en-US" sz="1200" i="1" dirty="0">
                <a:solidFill>
                  <a:srgbClr val="6B6B6B"/>
                </a:solidFill>
                <a:latin typeface="Calibri" pitchFamily="34" charset="0"/>
                <a:ea typeface="Calibri" pitchFamily="34" charset="-122"/>
                <a:cs typeface="Calibri" pitchFamily="34" charset="-120"/>
              </a:rPr>
              <a:t>Agenda</a:t>
            </a:r>
            <a:endParaRPr lang="en-US" sz="1200" dirty="0"/>
          </a:p>
        </p:txBody>
      </p:sp>
      <p:sp>
        <p:nvSpPr>
          <p:cNvPr id="24" name="Shape 22"/>
          <p:cNvSpPr/>
          <p:nvPr/>
        </p:nvSpPr>
        <p:spPr>
          <a:xfrm>
            <a:off x="320040" y="6355080"/>
            <a:ext cx="11551615" cy="0"/>
          </a:xfrm>
          <a:prstGeom prst="line">
            <a:avLst/>
          </a:prstGeom>
          <a:noFill/>
          <a:ln w="6350">
            <a:solidFill>
              <a:srgbClr val="BFBFBF"/>
            </a:solidFill>
            <a:prstDash val="solid"/>
          </a:ln>
        </p:spPr>
      </p:sp>
      <p:sp>
        <p:nvSpPr>
          <p:cNvPr id="25" name="Shape 23"/>
          <p:cNvSpPr/>
          <p:nvPr/>
        </p:nvSpPr>
        <p:spPr>
          <a:xfrm>
            <a:off x="320040" y="6473952"/>
            <a:ext cx="502920" cy="237744"/>
          </a:xfrm>
          <a:prstGeom prst="rect">
            <a:avLst/>
          </a:prstGeom>
          <a:solidFill>
            <a:srgbClr val="111111"/>
          </a:solidFill>
          <a:ln w="12700">
            <a:solidFill>
              <a:srgbClr val="111111"/>
            </a:solidFill>
            <a:prstDash val="solid"/>
          </a:ln>
        </p:spPr>
      </p:sp>
      <p:sp>
        <p:nvSpPr>
          <p:cNvPr id="26" name="Text 24"/>
          <p:cNvSpPr/>
          <p:nvPr/>
        </p:nvSpPr>
        <p:spPr>
          <a:xfrm>
            <a:off x="320040" y="6473952"/>
            <a:ext cx="502920" cy="237744"/>
          </a:xfrm>
          <a:prstGeom prst="rect">
            <a:avLst/>
          </a:prstGeom>
          <a:noFill/>
          <a:ln/>
        </p:spPr>
        <p:txBody>
          <a:bodyPr wrap="square" lIns="0" tIns="0" rIns="0" bIns="0" rtlCol="0" anchor="ctr"/>
          <a:lstStyle/>
          <a:p>
            <a:pPr algn="ctr" indent="0" marL="0">
              <a:buNone/>
            </a:pPr>
            <a:r>
              <a:rPr lang="en-US" sz="900" b="1" spc="200" kern="0" dirty="0">
                <a:solidFill>
                  <a:srgbClr val="FFFFFF"/>
                </a:solidFill>
                <a:latin typeface="Calibri" pitchFamily="34" charset="0"/>
                <a:ea typeface="Calibri" pitchFamily="34" charset="-122"/>
                <a:cs typeface="Calibri" pitchFamily="34" charset="-120"/>
              </a:rPr>
              <a:t>DSG</a:t>
            </a:r>
            <a:endParaRPr lang="en-US" sz="900" dirty="0"/>
          </a:p>
        </p:txBody>
      </p:sp>
      <p:sp>
        <p:nvSpPr>
          <p:cNvPr id="27" name="Text 25"/>
          <p:cNvSpPr/>
          <p:nvPr/>
        </p:nvSpPr>
        <p:spPr>
          <a:xfrm>
            <a:off x="868680" y="6473952"/>
            <a:ext cx="2194560" cy="237744"/>
          </a:xfrm>
          <a:prstGeom prst="rect">
            <a:avLst/>
          </a:prstGeom>
          <a:noFill/>
          <a:ln/>
        </p:spPr>
        <p:txBody>
          <a:bodyPr wrap="square" lIns="0" tIns="0" rIns="0" bIns="0" rtlCol="0" anchor="ctr"/>
          <a:lstStyle/>
          <a:p>
            <a:pPr indent="0" marL="0">
              <a:buNone/>
            </a:pPr>
            <a:r>
              <a:rPr lang="en-US" sz="650" spc="200" kern="0" dirty="0">
                <a:solidFill>
                  <a:srgbClr val="6B6B6B"/>
                </a:solidFill>
                <a:latin typeface="Calibri" pitchFamily="34" charset="0"/>
                <a:ea typeface="Calibri" pitchFamily="34" charset="-122"/>
                <a:cs typeface="Calibri" pitchFamily="34" charset="-120"/>
              </a:rPr>
              <a:t>DIGITAL SOLUTIONS GROUP</a:t>
            </a:r>
            <a:endParaRPr lang="en-US" sz="650" dirty="0"/>
          </a:p>
        </p:txBody>
      </p:sp>
      <p:sp>
        <p:nvSpPr>
          <p:cNvPr id="28" name="Text 26"/>
          <p:cNvSpPr/>
          <p:nvPr/>
        </p:nvSpPr>
        <p:spPr>
          <a:xfrm>
            <a:off x="4754880" y="6473952"/>
            <a:ext cx="2743200" cy="237744"/>
          </a:xfrm>
          <a:prstGeom prst="rect">
            <a:avLst/>
          </a:prstGeom>
          <a:noFill/>
          <a:ln/>
        </p:spPr>
        <p:txBody>
          <a:bodyPr wrap="square" lIns="0" tIns="0" rIns="0" bIns="0" rtlCol="0" anchor="ctr"/>
          <a:lstStyle/>
          <a:p>
            <a:pPr algn="ctr" indent="0" marL="0">
              <a:buNone/>
            </a:pPr>
            <a:r>
              <a:rPr lang="en-US" sz="1100" b="1" dirty="0">
                <a:solidFill>
                  <a:srgbClr val="111111"/>
                </a:solidFill>
                <a:latin typeface="Calibri" pitchFamily="34" charset="0"/>
                <a:ea typeface="Calibri" pitchFamily="34" charset="-122"/>
                <a:cs typeface="Calibri" pitchFamily="34" charset="-120"/>
              </a:rPr>
              <a:t>digital</a:t>
            </a:r>
            <a:pPr algn="ctr" indent="0" marL="0">
              <a:buNone/>
            </a:pPr>
            <a:r>
              <a:rPr lang="en-US" sz="1100" b="1" dirty="0">
                <a:solidFill>
                  <a:srgbClr val="6B6B6B"/>
                </a:solidFill>
                <a:latin typeface="Calibri" pitchFamily="34" charset="0"/>
                <a:ea typeface="Calibri" pitchFamily="34" charset="-122"/>
                <a:cs typeface="Calibri" pitchFamily="34" charset="-120"/>
              </a:rPr>
              <a:t>mobile</a:t>
            </a:r>
            <a:endParaRPr lang="en-US" sz="1100" dirty="0"/>
          </a:p>
        </p:txBody>
      </p:sp>
      <p:sp>
        <p:nvSpPr>
          <p:cNvPr id="29" name="Shape 27"/>
          <p:cNvSpPr/>
          <p:nvPr/>
        </p:nvSpPr>
        <p:spPr>
          <a:xfrm>
            <a:off x="8595360" y="6519672"/>
            <a:ext cx="146304" cy="146304"/>
          </a:xfrm>
          <a:prstGeom prst="ellipse">
            <a:avLst/>
          </a:prstGeom>
          <a:solidFill>
            <a:srgbClr val="111111"/>
          </a:solidFill>
          <a:ln w="12700">
            <a:solidFill>
              <a:srgbClr val="111111"/>
            </a:solidFill>
            <a:prstDash val="solid"/>
          </a:ln>
        </p:spPr>
      </p:sp>
      <p:sp>
        <p:nvSpPr>
          <p:cNvPr id="30" name="Text 28"/>
          <p:cNvSpPr/>
          <p:nvPr/>
        </p:nvSpPr>
        <p:spPr>
          <a:xfrm>
            <a:off x="8778240" y="6473952"/>
            <a:ext cx="2194560" cy="237744"/>
          </a:xfrm>
          <a:prstGeom prst="rect">
            <a:avLst/>
          </a:prstGeom>
          <a:noFill/>
          <a:ln/>
        </p:spPr>
        <p:txBody>
          <a:bodyPr wrap="square" lIns="0" tIns="0" rIns="0" bIns="0" rtlCol="0" anchor="ctr"/>
          <a:lstStyle/>
          <a:p>
            <a:pPr indent="0" marL="0">
              <a:buNone/>
            </a:pPr>
            <a:r>
              <a:rPr lang="en-US" sz="900" i="1" dirty="0">
                <a:solidFill>
                  <a:srgbClr val="111111"/>
                </a:solidFill>
                <a:latin typeface="Calibri" pitchFamily="34" charset="0"/>
                <a:ea typeface="Calibri" pitchFamily="34" charset="-122"/>
                <a:cs typeface="Calibri" pitchFamily="34" charset="-120"/>
              </a:rPr>
              <a:t>#DoingSomethingGreat</a:t>
            </a:r>
            <a:endParaRPr lang="en-US" sz="900" dirty="0"/>
          </a:p>
        </p:txBody>
      </p:sp>
      <p:sp>
        <p:nvSpPr>
          <p:cNvPr id="31" name="Text 29"/>
          <p:cNvSpPr/>
          <p:nvPr/>
        </p:nvSpPr>
        <p:spPr>
          <a:xfrm>
            <a:off x="11002975" y="6473952"/>
            <a:ext cx="914400" cy="237744"/>
          </a:xfrm>
          <a:prstGeom prst="rect">
            <a:avLst/>
          </a:prstGeom>
          <a:noFill/>
          <a:ln/>
        </p:spPr>
        <p:txBody>
          <a:bodyPr wrap="square" lIns="0" tIns="0" rIns="0" bIns="0" rtlCol="0" anchor="ctr"/>
          <a:lstStyle/>
          <a:p>
            <a:pPr algn="r" indent="0" marL="0">
              <a:buNone/>
            </a:pPr>
            <a:r>
              <a:rPr lang="en-US" sz="800" dirty="0">
                <a:solidFill>
                  <a:srgbClr val="6B6B6B"/>
                </a:solidFill>
                <a:latin typeface="Calibri" pitchFamily="34" charset="0"/>
                <a:ea typeface="Calibri" pitchFamily="34" charset="-122"/>
                <a:cs typeface="Calibri" pitchFamily="34" charset="-120"/>
              </a:rPr>
              <a:t>02 / 20</a:t>
            </a:r>
            <a:endParaRPr lang="en-US" sz="800" dirty="0"/>
          </a:p>
        </p:txBody>
      </p:sp>
      <p:sp>
        <p:nvSpPr>
          <p:cNvPr id="32" name="Shape 30"/>
          <p:cNvSpPr/>
          <p:nvPr/>
        </p:nvSpPr>
        <p:spPr>
          <a:xfrm>
            <a:off x="502920" y="2011680"/>
            <a:ext cx="1508760" cy="777240"/>
          </a:xfrm>
          <a:prstGeom prst="rect">
            <a:avLst/>
          </a:prstGeom>
          <a:solidFill>
            <a:srgbClr val="111111"/>
          </a:solidFill>
          <a:ln w="12700">
            <a:solidFill>
              <a:srgbClr val="111111"/>
            </a:solidFill>
            <a:prstDash val="solid"/>
          </a:ln>
        </p:spPr>
      </p:sp>
      <p:sp>
        <p:nvSpPr>
          <p:cNvPr id="33" name="Text 31"/>
          <p:cNvSpPr/>
          <p:nvPr/>
        </p:nvSpPr>
        <p:spPr>
          <a:xfrm>
            <a:off x="576072" y="2011680"/>
            <a:ext cx="1362456" cy="777240"/>
          </a:xfrm>
          <a:prstGeom prst="rect">
            <a:avLst/>
          </a:prstGeom>
          <a:noFill/>
          <a:ln/>
        </p:spPr>
        <p:txBody>
          <a:bodyPr wrap="square" lIns="0" tIns="0" rIns="0" bIns="0"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You as a MVNO</a:t>
            </a:r>
            <a:endParaRPr lang="en-US" sz="1100" dirty="0"/>
          </a:p>
        </p:txBody>
      </p:sp>
      <p:sp>
        <p:nvSpPr>
          <p:cNvPr id="34" name="Text 32"/>
          <p:cNvSpPr/>
          <p:nvPr/>
        </p:nvSpPr>
        <p:spPr>
          <a:xfrm>
            <a:off x="2240280" y="2011680"/>
            <a:ext cx="3840480" cy="777240"/>
          </a:xfrm>
          <a:prstGeom prst="rect">
            <a:avLst/>
          </a:prstGeom>
          <a:noFill/>
          <a:ln/>
        </p:spPr>
        <p:txBody>
          <a:bodyPr wrap="square" lIns="0" tIns="0" rIns="0" bIns="0" rtlCol="0" anchor="ctr"/>
          <a:lstStyle/>
          <a:p>
            <a:pPr indent="0" marL="0">
              <a:buNone/>
            </a:pPr>
            <a:r>
              <a:rPr lang="en-US" sz="1200" dirty="0">
                <a:solidFill>
                  <a:srgbClr val="444444"/>
                </a:solidFill>
                <a:latin typeface="Calibri" pitchFamily="34" charset="0"/>
                <a:ea typeface="Calibri" pitchFamily="34" charset="-122"/>
                <a:cs typeface="Calibri" pitchFamily="34" charset="-120"/>
              </a:rPr>
              <a:t>The concept and why it makes sense</a:t>
            </a:r>
            <a:endParaRPr lang="en-US" sz="1200" dirty="0"/>
          </a:p>
        </p:txBody>
      </p:sp>
      <p:sp>
        <p:nvSpPr>
          <p:cNvPr id="35" name="Shape 33"/>
          <p:cNvSpPr/>
          <p:nvPr/>
        </p:nvSpPr>
        <p:spPr>
          <a:xfrm>
            <a:off x="6416802" y="2011680"/>
            <a:ext cx="1508760" cy="777240"/>
          </a:xfrm>
          <a:prstGeom prst="rect">
            <a:avLst/>
          </a:prstGeom>
          <a:solidFill>
            <a:srgbClr val="111111"/>
          </a:solidFill>
          <a:ln w="12700">
            <a:solidFill>
              <a:srgbClr val="111111"/>
            </a:solidFill>
            <a:prstDash val="solid"/>
          </a:ln>
        </p:spPr>
      </p:sp>
      <p:sp>
        <p:nvSpPr>
          <p:cNvPr id="36" name="Text 34"/>
          <p:cNvSpPr/>
          <p:nvPr/>
        </p:nvSpPr>
        <p:spPr>
          <a:xfrm>
            <a:off x="6489954" y="2011680"/>
            <a:ext cx="1362456" cy="777240"/>
          </a:xfrm>
          <a:prstGeom prst="rect">
            <a:avLst/>
          </a:prstGeom>
          <a:noFill/>
          <a:ln/>
        </p:spPr>
        <p:txBody>
          <a:bodyPr wrap="square" lIns="0" tIns="0" rIns="0" bIns="0"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A collaborative operating model</a:t>
            </a:r>
            <a:endParaRPr lang="en-US" sz="1100" dirty="0"/>
          </a:p>
        </p:txBody>
      </p:sp>
      <p:sp>
        <p:nvSpPr>
          <p:cNvPr id="37" name="Text 35"/>
          <p:cNvSpPr/>
          <p:nvPr/>
        </p:nvSpPr>
        <p:spPr>
          <a:xfrm>
            <a:off x="8154162" y="2011680"/>
            <a:ext cx="3840480" cy="777240"/>
          </a:xfrm>
          <a:prstGeom prst="rect">
            <a:avLst/>
          </a:prstGeom>
          <a:noFill/>
          <a:ln/>
        </p:spPr>
        <p:txBody>
          <a:bodyPr wrap="square" lIns="0" tIns="0" rIns="0" bIns="0" rtlCol="0" anchor="ctr"/>
          <a:lstStyle/>
          <a:p>
            <a:pPr indent="0" marL="0">
              <a:buNone/>
            </a:pPr>
            <a:r>
              <a:rPr lang="en-US" sz="1200" dirty="0">
                <a:solidFill>
                  <a:srgbClr val="444444"/>
                </a:solidFill>
                <a:latin typeface="Calibri" pitchFamily="34" charset="0"/>
                <a:ea typeface="Calibri" pitchFamily="34" charset="-122"/>
                <a:cs typeface="Calibri" pitchFamily="34" charset="-120"/>
              </a:rPr>
              <a:t>What kind of organisation we need to drive this initiative</a:t>
            </a:r>
            <a:endParaRPr lang="en-US" sz="1200" dirty="0"/>
          </a:p>
        </p:txBody>
      </p:sp>
      <p:sp>
        <p:nvSpPr>
          <p:cNvPr id="38" name="Shape 36"/>
          <p:cNvSpPr/>
          <p:nvPr/>
        </p:nvSpPr>
        <p:spPr>
          <a:xfrm>
            <a:off x="502920" y="3246120"/>
            <a:ext cx="1508760" cy="777240"/>
          </a:xfrm>
          <a:prstGeom prst="rect">
            <a:avLst/>
          </a:prstGeom>
          <a:solidFill>
            <a:srgbClr val="111111"/>
          </a:solidFill>
          <a:ln w="12700">
            <a:solidFill>
              <a:srgbClr val="111111"/>
            </a:solidFill>
            <a:prstDash val="solid"/>
          </a:ln>
        </p:spPr>
      </p:sp>
      <p:sp>
        <p:nvSpPr>
          <p:cNvPr id="39" name="Text 37"/>
          <p:cNvSpPr/>
          <p:nvPr/>
        </p:nvSpPr>
        <p:spPr>
          <a:xfrm>
            <a:off x="576072" y="3246120"/>
            <a:ext cx="1362456" cy="777240"/>
          </a:xfrm>
          <a:prstGeom prst="rect">
            <a:avLst/>
          </a:prstGeom>
          <a:noFill/>
          <a:ln/>
        </p:spPr>
        <p:txBody>
          <a:bodyPr wrap="square" lIns="0" tIns="0" rIns="0" bIns="0"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Advantages of becoming an MVNO</a:t>
            </a:r>
            <a:endParaRPr lang="en-US" sz="1100" dirty="0"/>
          </a:p>
        </p:txBody>
      </p:sp>
      <p:sp>
        <p:nvSpPr>
          <p:cNvPr id="40" name="Text 38"/>
          <p:cNvSpPr/>
          <p:nvPr/>
        </p:nvSpPr>
        <p:spPr>
          <a:xfrm>
            <a:off x="2240280" y="3246120"/>
            <a:ext cx="3840480" cy="777240"/>
          </a:xfrm>
          <a:prstGeom prst="rect">
            <a:avLst/>
          </a:prstGeom>
          <a:noFill/>
          <a:ln/>
        </p:spPr>
        <p:txBody>
          <a:bodyPr wrap="square" lIns="0" tIns="0" rIns="0" bIns="0" rtlCol="0" anchor="ctr"/>
          <a:lstStyle/>
          <a:p>
            <a:pPr indent="0" marL="0">
              <a:buNone/>
            </a:pPr>
            <a:r>
              <a:rPr lang="en-US" sz="1200" dirty="0">
                <a:solidFill>
                  <a:srgbClr val="444444"/>
                </a:solidFill>
                <a:latin typeface="Calibri" pitchFamily="34" charset="0"/>
                <a:ea typeface="Calibri" pitchFamily="34" charset="-122"/>
                <a:cs typeface="Calibri" pitchFamily="34" charset="-120"/>
              </a:rPr>
              <a:t>The advantages of an MVNO</a:t>
            </a:r>
            <a:endParaRPr lang="en-US" sz="1200" dirty="0"/>
          </a:p>
        </p:txBody>
      </p:sp>
      <p:sp>
        <p:nvSpPr>
          <p:cNvPr id="41" name="Shape 39"/>
          <p:cNvSpPr/>
          <p:nvPr/>
        </p:nvSpPr>
        <p:spPr>
          <a:xfrm>
            <a:off x="6416802" y="3246120"/>
            <a:ext cx="1508760" cy="777240"/>
          </a:xfrm>
          <a:prstGeom prst="rect">
            <a:avLst/>
          </a:prstGeom>
          <a:solidFill>
            <a:srgbClr val="111111"/>
          </a:solidFill>
          <a:ln w="12700">
            <a:solidFill>
              <a:srgbClr val="111111"/>
            </a:solidFill>
            <a:prstDash val="solid"/>
          </a:ln>
        </p:spPr>
      </p:sp>
      <p:sp>
        <p:nvSpPr>
          <p:cNvPr id="42" name="Text 40"/>
          <p:cNvSpPr/>
          <p:nvPr/>
        </p:nvSpPr>
        <p:spPr>
          <a:xfrm>
            <a:off x="6489954" y="3246120"/>
            <a:ext cx="1362456" cy="777240"/>
          </a:xfrm>
          <a:prstGeom prst="rect">
            <a:avLst/>
          </a:prstGeom>
          <a:noFill/>
          <a:ln/>
        </p:spPr>
        <p:txBody>
          <a:bodyPr wrap="square" lIns="0" tIns="0" rIns="0" bIns="0"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A structured approach</a:t>
            </a:r>
            <a:endParaRPr lang="en-US" sz="1100" dirty="0"/>
          </a:p>
        </p:txBody>
      </p:sp>
      <p:sp>
        <p:nvSpPr>
          <p:cNvPr id="43" name="Text 41"/>
          <p:cNvSpPr/>
          <p:nvPr/>
        </p:nvSpPr>
        <p:spPr>
          <a:xfrm>
            <a:off x="8154162" y="3246120"/>
            <a:ext cx="3840480" cy="777240"/>
          </a:xfrm>
          <a:prstGeom prst="rect">
            <a:avLst/>
          </a:prstGeom>
          <a:noFill/>
          <a:ln/>
        </p:spPr>
        <p:txBody>
          <a:bodyPr wrap="square" lIns="0" tIns="0" rIns="0" bIns="0" rtlCol="0" anchor="ctr"/>
          <a:lstStyle/>
          <a:p>
            <a:pPr indent="0" marL="0">
              <a:buNone/>
            </a:pPr>
            <a:r>
              <a:rPr lang="en-US" sz="1200" dirty="0">
                <a:solidFill>
                  <a:srgbClr val="444444"/>
                </a:solidFill>
                <a:latin typeface="Calibri" pitchFamily="34" charset="0"/>
                <a:ea typeface="Calibri" pitchFamily="34" charset="-122"/>
                <a:cs typeface="Calibri" pitchFamily="34" charset="-120"/>
              </a:rPr>
              <a:t>The start of an exploratory journey</a:t>
            </a:r>
            <a:endParaRPr lang="en-US" sz="1200" dirty="0"/>
          </a:p>
        </p:txBody>
      </p:sp>
      <p:sp>
        <p:nvSpPr>
          <p:cNvPr id="44" name="Shape 42"/>
          <p:cNvSpPr/>
          <p:nvPr/>
        </p:nvSpPr>
        <p:spPr>
          <a:xfrm>
            <a:off x="502920" y="4480560"/>
            <a:ext cx="1508760" cy="777240"/>
          </a:xfrm>
          <a:prstGeom prst="rect">
            <a:avLst/>
          </a:prstGeom>
          <a:solidFill>
            <a:srgbClr val="111111"/>
          </a:solidFill>
          <a:ln w="12700">
            <a:solidFill>
              <a:srgbClr val="111111"/>
            </a:solidFill>
            <a:prstDash val="solid"/>
          </a:ln>
        </p:spPr>
      </p:sp>
      <p:sp>
        <p:nvSpPr>
          <p:cNvPr id="45" name="Text 43"/>
          <p:cNvSpPr/>
          <p:nvPr/>
        </p:nvSpPr>
        <p:spPr>
          <a:xfrm>
            <a:off x="576072" y="4480560"/>
            <a:ext cx="1362456" cy="777240"/>
          </a:xfrm>
          <a:prstGeom prst="rect">
            <a:avLst/>
          </a:prstGeom>
          <a:noFill/>
          <a:ln/>
        </p:spPr>
        <p:txBody>
          <a:bodyPr wrap="square" lIns="0" tIns="0" rIns="0" bIns="0"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A Unique Value Proposition</a:t>
            </a:r>
            <a:endParaRPr lang="en-US" sz="1100" dirty="0"/>
          </a:p>
        </p:txBody>
      </p:sp>
      <p:sp>
        <p:nvSpPr>
          <p:cNvPr id="46" name="Text 44"/>
          <p:cNvSpPr/>
          <p:nvPr/>
        </p:nvSpPr>
        <p:spPr>
          <a:xfrm>
            <a:off x="2240280" y="4480560"/>
            <a:ext cx="3840480" cy="777240"/>
          </a:xfrm>
          <a:prstGeom prst="rect">
            <a:avLst/>
          </a:prstGeom>
          <a:noFill/>
          <a:ln/>
        </p:spPr>
        <p:txBody>
          <a:bodyPr wrap="square" lIns="0" tIns="0" rIns="0" bIns="0" rtlCol="0" anchor="ctr"/>
          <a:lstStyle/>
          <a:p>
            <a:pPr indent="0" marL="0">
              <a:buNone/>
            </a:pPr>
            <a:r>
              <a:rPr lang="en-US" sz="1200" dirty="0">
                <a:solidFill>
                  <a:srgbClr val="444444"/>
                </a:solidFill>
                <a:latin typeface="Calibri" pitchFamily="34" charset="0"/>
                <a:ea typeface="Calibri" pitchFamily="34" charset="-122"/>
                <a:cs typeface="Calibri" pitchFamily="34" charset="-120"/>
              </a:rPr>
              <a:t>Answering the question: why would consumers choose us?</a:t>
            </a:r>
            <a:endParaRPr lang="en-US" sz="1200" dirty="0"/>
          </a:p>
        </p:txBody>
      </p:sp>
      <p:sp>
        <p:nvSpPr>
          <p:cNvPr id="47" name="Shape 45"/>
          <p:cNvSpPr/>
          <p:nvPr/>
        </p:nvSpPr>
        <p:spPr>
          <a:xfrm>
            <a:off x="6416802" y="4480560"/>
            <a:ext cx="1508760" cy="777240"/>
          </a:xfrm>
          <a:prstGeom prst="rect">
            <a:avLst/>
          </a:prstGeom>
          <a:solidFill>
            <a:srgbClr val="111111"/>
          </a:solidFill>
          <a:ln w="12700">
            <a:solidFill>
              <a:srgbClr val="111111"/>
            </a:solidFill>
            <a:prstDash val="solid"/>
          </a:ln>
        </p:spPr>
      </p:sp>
      <p:sp>
        <p:nvSpPr>
          <p:cNvPr id="48" name="Text 46"/>
          <p:cNvSpPr/>
          <p:nvPr/>
        </p:nvSpPr>
        <p:spPr>
          <a:xfrm>
            <a:off x="6489954" y="4480560"/>
            <a:ext cx="1362456" cy="777240"/>
          </a:xfrm>
          <a:prstGeom prst="rect">
            <a:avLst/>
          </a:prstGeom>
          <a:noFill/>
          <a:ln/>
        </p:spPr>
        <p:txBody>
          <a:bodyPr wrap="square" lIns="0" tIns="0" rIns="0" bIns="0"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The commercial model</a:t>
            </a:r>
            <a:endParaRPr lang="en-US" sz="1100" dirty="0"/>
          </a:p>
        </p:txBody>
      </p:sp>
      <p:sp>
        <p:nvSpPr>
          <p:cNvPr id="49" name="Text 47"/>
          <p:cNvSpPr/>
          <p:nvPr/>
        </p:nvSpPr>
        <p:spPr>
          <a:xfrm>
            <a:off x="8154162" y="4480560"/>
            <a:ext cx="3840480" cy="777240"/>
          </a:xfrm>
          <a:prstGeom prst="rect">
            <a:avLst/>
          </a:prstGeom>
          <a:noFill/>
          <a:ln/>
        </p:spPr>
        <p:txBody>
          <a:bodyPr wrap="square" lIns="0" tIns="0" rIns="0" bIns="0" rtlCol="0" anchor="ctr"/>
          <a:lstStyle/>
          <a:p>
            <a:pPr indent="0" marL="0">
              <a:buNone/>
            </a:pPr>
            <a:r>
              <a:rPr lang="en-US" sz="1200" dirty="0">
                <a:solidFill>
                  <a:srgbClr val="444444"/>
                </a:solidFill>
                <a:latin typeface="Calibri" pitchFamily="34" charset="0"/>
                <a:ea typeface="Calibri" pitchFamily="34" charset="-122"/>
                <a:cs typeface="Calibri" pitchFamily="34" charset="-120"/>
              </a:rPr>
              <a:t>Zero capex, 50/50 revenue share, eight-week launch</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20040" y="182880"/>
            <a:ext cx="1417320" cy="438912"/>
          </a:xfrm>
          <a:prstGeom prst="rect">
            <a:avLst/>
          </a:prstGeom>
          <a:solidFill>
            <a:srgbClr val="111111"/>
          </a:solidFill>
          <a:ln w="12700">
            <a:solidFill>
              <a:srgbClr val="111111"/>
            </a:solidFill>
            <a:prstDash val="solid"/>
          </a:ln>
        </p:spPr>
      </p:sp>
      <p:sp>
        <p:nvSpPr>
          <p:cNvPr id="3" name="Text 1"/>
          <p:cNvSpPr/>
          <p:nvPr/>
        </p:nvSpPr>
        <p:spPr>
          <a:xfrm>
            <a:off x="320040" y="182880"/>
            <a:ext cx="1417320" cy="438912"/>
          </a:xfrm>
          <a:prstGeom prst="rect">
            <a:avLst/>
          </a:prstGeom>
          <a:noFill/>
          <a:ln/>
        </p:spPr>
        <p:txBody>
          <a:bodyPr wrap="square" lIns="0" tIns="0" rIns="0" bIns="0" rtlCol="0" anchor="ctr"/>
          <a:lstStyle/>
          <a:p>
            <a:pPr algn="ctr" indent="0" marL="0">
              <a:buNone/>
            </a:pPr>
            <a:r>
              <a:rPr lang="en-US" sz="1500" b="1" spc="400" kern="0" dirty="0">
                <a:solidFill>
                  <a:srgbClr val="FFFFFF"/>
                </a:solidFill>
                <a:latin typeface="Calibri" pitchFamily="34" charset="0"/>
                <a:ea typeface="Calibri" pitchFamily="34" charset="-122"/>
                <a:cs typeface="Calibri" pitchFamily="34" charset="-120"/>
              </a:rPr>
              <a:t>ARENA
</a:t>
            </a:r>
            <a:pPr algn="ctr" indent="0" marL="0">
              <a:buNone/>
            </a:pPr>
            <a:r>
              <a:rPr lang="en-US" sz="600" spc="400" kern="0" dirty="0">
                <a:solidFill>
                  <a:srgbClr val="FFFFFF"/>
                </a:solidFill>
                <a:latin typeface="Calibri" pitchFamily="34" charset="0"/>
                <a:ea typeface="Calibri" pitchFamily="34" charset="-122"/>
                <a:cs typeface="Calibri" pitchFamily="34" charset="-120"/>
              </a:rPr>
              <a:t>H O L D I N G S</a:t>
            </a:r>
            <a:endParaRPr lang="en-US" sz="1500" dirty="0"/>
          </a:p>
        </p:txBody>
      </p:sp>
      <p:sp>
        <p:nvSpPr>
          <p:cNvPr id="4" name="Shape 2"/>
          <p:cNvSpPr/>
          <p:nvPr/>
        </p:nvSpPr>
        <p:spPr>
          <a:xfrm>
            <a:off x="9677095" y="246888"/>
            <a:ext cx="201168" cy="201168"/>
          </a:xfrm>
          <a:prstGeom prst="ellipse">
            <a:avLst/>
          </a:prstGeom>
          <a:solidFill>
            <a:srgbClr val="111111"/>
          </a:solidFill>
          <a:ln w="12700">
            <a:solidFill>
              <a:srgbClr val="111111"/>
            </a:solidFill>
            <a:prstDash val="solid"/>
          </a:ln>
        </p:spPr>
      </p:sp>
      <p:sp>
        <p:nvSpPr>
          <p:cNvPr id="5" name="Text 3"/>
          <p:cNvSpPr/>
          <p:nvPr/>
        </p:nvSpPr>
        <p:spPr>
          <a:xfrm>
            <a:off x="9923983" y="210312"/>
            <a:ext cx="2011680" cy="274320"/>
          </a:xfrm>
          <a:prstGeom prst="rect">
            <a:avLst/>
          </a:prstGeom>
          <a:noFill/>
          <a:ln/>
        </p:spPr>
        <p:txBody>
          <a:bodyPr wrap="square" lIns="0" tIns="0" rIns="0" bIns="0" rtlCol="0" anchor="ctr"/>
          <a:lstStyle/>
          <a:p>
            <a:pPr algn="l" indent="0" marL="0">
              <a:buNone/>
            </a:pPr>
            <a:r>
              <a:rPr lang="en-US" sz="1000" b="1" i="1" dirty="0">
                <a:solidFill>
                  <a:srgbClr val="111111"/>
                </a:solidFill>
                <a:latin typeface="Calibri" pitchFamily="34" charset="0"/>
                <a:ea typeface="Calibri" pitchFamily="34" charset="-122"/>
                <a:cs typeface="Calibri" pitchFamily="34" charset="-120"/>
              </a:rPr>
              <a:t>#DoingSomethingGreat</a:t>
            </a:r>
            <a:endParaRPr lang="en-US" sz="1000" dirty="0"/>
          </a:p>
        </p:txBody>
      </p:sp>
      <p:sp>
        <p:nvSpPr>
          <p:cNvPr id="6" name="Shape 4"/>
          <p:cNvSpPr/>
          <p:nvPr/>
        </p:nvSpPr>
        <p:spPr>
          <a:xfrm>
            <a:off x="5973775" y="0"/>
            <a:ext cx="6217920" cy="1463040"/>
          </a:xfrm>
          <a:prstGeom prst="rect">
            <a:avLst/>
          </a:prstGeom>
          <a:solidFill>
            <a:srgbClr val="F5F5F5"/>
          </a:solidFill>
          <a:ln w="12700">
            <a:solidFill>
              <a:srgbClr val="F5F5F5"/>
            </a:solidFill>
            <a:prstDash val="solid"/>
          </a:ln>
        </p:spPr>
      </p:sp>
      <p:sp>
        <p:nvSpPr>
          <p:cNvPr id="7" name="Shape 5"/>
          <p:cNvSpPr/>
          <p:nvPr/>
        </p:nvSpPr>
        <p:spPr>
          <a:xfrm>
            <a:off x="6248095" y="0"/>
            <a:ext cx="-1280160" cy="1280160"/>
          </a:xfrm>
          <a:prstGeom prst="line">
            <a:avLst/>
          </a:prstGeom>
          <a:noFill/>
          <a:ln w="9525">
            <a:solidFill>
              <a:srgbClr val="EDEDED"/>
            </a:solidFill>
            <a:prstDash val="solid"/>
          </a:ln>
        </p:spPr>
      </p:sp>
      <p:sp>
        <p:nvSpPr>
          <p:cNvPr id="8" name="Shape 6"/>
          <p:cNvSpPr/>
          <p:nvPr/>
        </p:nvSpPr>
        <p:spPr>
          <a:xfrm>
            <a:off x="6659575" y="0"/>
            <a:ext cx="-1280160" cy="1280160"/>
          </a:xfrm>
          <a:prstGeom prst="line">
            <a:avLst/>
          </a:prstGeom>
          <a:noFill/>
          <a:ln w="9525">
            <a:solidFill>
              <a:srgbClr val="EDEDED"/>
            </a:solidFill>
            <a:prstDash val="solid"/>
          </a:ln>
        </p:spPr>
      </p:sp>
      <p:sp>
        <p:nvSpPr>
          <p:cNvPr id="9" name="Shape 7"/>
          <p:cNvSpPr/>
          <p:nvPr/>
        </p:nvSpPr>
        <p:spPr>
          <a:xfrm>
            <a:off x="7071055" y="0"/>
            <a:ext cx="-1280160" cy="1280160"/>
          </a:xfrm>
          <a:prstGeom prst="line">
            <a:avLst/>
          </a:prstGeom>
          <a:noFill/>
          <a:ln w="9525">
            <a:solidFill>
              <a:srgbClr val="EDEDED"/>
            </a:solidFill>
            <a:prstDash val="solid"/>
          </a:ln>
        </p:spPr>
      </p:sp>
      <p:sp>
        <p:nvSpPr>
          <p:cNvPr id="10" name="Shape 8"/>
          <p:cNvSpPr/>
          <p:nvPr/>
        </p:nvSpPr>
        <p:spPr>
          <a:xfrm>
            <a:off x="7482535" y="0"/>
            <a:ext cx="-1280160" cy="1280160"/>
          </a:xfrm>
          <a:prstGeom prst="line">
            <a:avLst/>
          </a:prstGeom>
          <a:noFill/>
          <a:ln w="9525">
            <a:solidFill>
              <a:srgbClr val="EDEDED"/>
            </a:solidFill>
            <a:prstDash val="solid"/>
          </a:ln>
        </p:spPr>
      </p:sp>
      <p:sp>
        <p:nvSpPr>
          <p:cNvPr id="11" name="Shape 9"/>
          <p:cNvSpPr/>
          <p:nvPr/>
        </p:nvSpPr>
        <p:spPr>
          <a:xfrm>
            <a:off x="7894015" y="0"/>
            <a:ext cx="-1280160" cy="1280160"/>
          </a:xfrm>
          <a:prstGeom prst="line">
            <a:avLst/>
          </a:prstGeom>
          <a:noFill/>
          <a:ln w="9525">
            <a:solidFill>
              <a:srgbClr val="EDEDED"/>
            </a:solidFill>
            <a:prstDash val="solid"/>
          </a:ln>
        </p:spPr>
      </p:sp>
      <p:sp>
        <p:nvSpPr>
          <p:cNvPr id="12" name="Shape 10"/>
          <p:cNvSpPr/>
          <p:nvPr/>
        </p:nvSpPr>
        <p:spPr>
          <a:xfrm>
            <a:off x="8305495" y="0"/>
            <a:ext cx="-1280160" cy="1280160"/>
          </a:xfrm>
          <a:prstGeom prst="line">
            <a:avLst/>
          </a:prstGeom>
          <a:noFill/>
          <a:ln w="9525">
            <a:solidFill>
              <a:srgbClr val="EDEDED"/>
            </a:solidFill>
            <a:prstDash val="solid"/>
          </a:ln>
        </p:spPr>
      </p:sp>
      <p:sp>
        <p:nvSpPr>
          <p:cNvPr id="13" name="Shape 11"/>
          <p:cNvSpPr/>
          <p:nvPr/>
        </p:nvSpPr>
        <p:spPr>
          <a:xfrm>
            <a:off x="8716975" y="0"/>
            <a:ext cx="-1280160" cy="1280160"/>
          </a:xfrm>
          <a:prstGeom prst="line">
            <a:avLst/>
          </a:prstGeom>
          <a:noFill/>
          <a:ln w="9525">
            <a:solidFill>
              <a:srgbClr val="EDEDED"/>
            </a:solidFill>
            <a:prstDash val="solid"/>
          </a:ln>
        </p:spPr>
      </p:sp>
      <p:sp>
        <p:nvSpPr>
          <p:cNvPr id="14" name="Shape 12"/>
          <p:cNvSpPr/>
          <p:nvPr/>
        </p:nvSpPr>
        <p:spPr>
          <a:xfrm>
            <a:off x="9128455" y="0"/>
            <a:ext cx="-1280160" cy="1280160"/>
          </a:xfrm>
          <a:prstGeom prst="line">
            <a:avLst/>
          </a:prstGeom>
          <a:noFill/>
          <a:ln w="9525">
            <a:solidFill>
              <a:srgbClr val="EDEDED"/>
            </a:solidFill>
            <a:prstDash val="solid"/>
          </a:ln>
        </p:spPr>
      </p:sp>
      <p:sp>
        <p:nvSpPr>
          <p:cNvPr id="15" name="Shape 13"/>
          <p:cNvSpPr/>
          <p:nvPr/>
        </p:nvSpPr>
        <p:spPr>
          <a:xfrm>
            <a:off x="9539935" y="0"/>
            <a:ext cx="-1280160" cy="1280160"/>
          </a:xfrm>
          <a:prstGeom prst="line">
            <a:avLst/>
          </a:prstGeom>
          <a:noFill/>
          <a:ln w="9525">
            <a:solidFill>
              <a:srgbClr val="EDEDED"/>
            </a:solidFill>
            <a:prstDash val="solid"/>
          </a:ln>
        </p:spPr>
      </p:sp>
      <p:sp>
        <p:nvSpPr>
          <p:cNvPr id="16" name="Shape 14"/>
          <p:cNvSpPr/>
          <p:nvPr/>
        </p:nvSpPr>
        <p:spPr>
          <a:xfrm>
            <a:off x="9951415" y="0"/>
            <a:ext cx="-1280160" cy="1280160"/>
          </a:xfrm>
          <a:prstGeom prst="line">
            <a:avLst/>
          </a:prstGeom>
          <a:noFill/>
          <a:ln w="9525">
            <a:solidFill>
              <a:srgbClr val="EDEDED"/>
            </a:solidFill>
            <a:prstDash val="solid"/>
          </a:ln>
        </p:spPr>
      </p:sp>
      <p:sp>
        <p:nvSpPr>
          <p:cNvPr id="17" name="Shape 15"/>
          <p:cNvSpPr/>
          <p:nvPr/>
        </p:nvSpPr>
        <p:spPr>
          <a:xfrm>
            <a:off x="10362895" y="0"/>
            <a:ext cx="-1280160" cy="1280160"/>
          </a:xfrm>
          <a:prstGeom prst="line">
            <a:avLst/>
          </a:prstGeom>
          <a:noFill/>
          <a:ln w="9525">
            <a:solidFill>
              <a:srgbClr val="EDEDED"/>
            </a:solidFill>
            <a:prstDash val="solid"/>
          </a:ln>
        </p:spPr>
      </p:sp>
      <p:sp>
        <p:nvSpPr>
          <p:cNvPr id="18" name="Shape 16"/>
          <p:cNvSpPr/>
          <p:nvPr/>
        </p:nvSpPr>
        <p:spPr>
          <a:xfrm>
            <a:off x="10774375" y="0"/>
            <a:ext cx="-1280160" cy="1280160"/>
          </a:xfrm>
          <a:prstGeom prst="line">
            <a:avLst/>
          </a:prstGeom>
          <a:noFill/>
          <a:ln w="9525">
            <a:solidFill>
              <a:srgbClr val="EDEDED"/>
            </a:solidFill>
            <a:prstDash val="solid"/>
          </a:ln>
        </p:spPr>
      </p:sp>
      <p:sp>
        <p:nvSpPr>
          <p:cNvPr id="19" name="Shape 17"/>
          <p:cNvSpPr/>
          <p:nvPr/>
        </p:nvSpPr>
        <p:spPr>
          <a:xfrm>
            <a:off x="11185855" y="0"/>
            <a:ext cx="-1280160" cy="1280160"/>
          </a:xfrm>
          <a:prstGeom prst="line">
            <a:avLst/>
          </a:prstGeom>
          <a:noFill/>
          <a:ln w="9525">
            <a:solidFill>
              <a:srgbClr val="EDEDED"/>
            </a:solidFill>
            <a:prstDash val="solid"/>
          </a:ln>
        </p:spPr>
      </p:sp>
      <p:sp>
        <p:nvSpPr>
          <p:cNvPr id="20" name="Shape 18"/>
          <p:cNvSpPr/>
          <p:nvPr/>
        </p:nvSpPr>
        <p:spPr>
          <a:xfrm>
            <a:off x="11597335" y="0"/>
            <a:ext cx="-1280160" cy="1280160"/>
          </a:xfrm>
          <a:prstGeom prst="line">
            <a:avLst/>
          </a:prstGeom>
          <a:noFill/>
          <a:ln w="9525">
            <a:solidFill>
              <a:srgbClr val="EDEDED"/>
            </a:solidFill>
            <a:prstDash val="solid"/>
          </a:ln>
        </p:spPr>
      </p:sp>
      <p:sp>
        <p:nvSpPr>
          <p:cNvPr id="21" name="Shape 19"/>
          <p:cNvSpPr/>
          <p:nvPr/>
        </p:nvSpPr>
        <p:spPr>
          <a:xfrm>
            <a:off x="320040" y="1481328"/>
            <a:ext cx="11551615" cy="0"/>
          </a:xfrm>
          <a:prstGeom prst="line">
            <a:avLst/>
          </a:prstGeom>
          <a:noFill/>
          <a:ln w="15875">
            <a:solidFill>
              <a:srgbClr val="111111"/>
            </a:solidFill>
            <a:prstDash val="solid"/>
          </a:ln>
        </p:spPr>
      </p:sp>
      <p:sp>
        <p:nvSpPr>
          <p:cNvPr id="22" name="Text 20"/>
          <p:cNvSpPr/>
          <p:nvPr/>
        </p:nvSpPr>
        <p:spPr>
          <a:xfrm>
            <a:off x="5486400" y="292608"/>
            <a:ext cx="6309360" cy="685800"/>
          </a:xfrm>
          <a:prstGeom prst="rect">
            <a:avLst/>
          </a:prstGeom>
          <a:noFill/>
          <a:ln/>
        </p:spPr>
        <p:txBody>
          <a:bodyPr wrap="square" lIns="0" tIns="0" rIns="0" bIns="0" rtlCol="0" anchor="ctr"/>
          <a:lstStyle/>
          <a:p>
            <a:pPr algn="r" indent="0" marL="0">
              <a:buNone/>
            </a:pPr>
            <a:r>
              <a:rPr lang="en-US" sz="2600" b="1" dirty="0">
                <a:solidFill>
                  <a:srgbClr val="111111"/>
                </a:solidFill>
                <a:latin typeface="Calibri" pitchFamily="34" charset="0"/>
                <a:ea typeface="Calibri" pitchFamily="34" charset="-122"/>
                <a:cs typeface="Calibri" pitchFamily="34" charset="-120"/>
              </a:rPr>
              <a:t>What is an MVNO?</a:t>
            </a:r>
            <a:endParaRPr lang="en-US" sz="2600" dirty="0"/>
          </a:p>
        </p:txBody>
      </p:sp>
      <p:sp>
        <p:nvSpPr>
          <p:cNvPr id="23" name="Text 21"/>
          <p:cNvSpPr/>
          <p:nvPr/>
        </p:nvSpPr>
        <p:spPr>
          <a:xfrm>
            <a:off x="5486400" y="960120"/>
            <a:ext cx="6309360" cy="365760"/>
          </a:xfrm>
          <a:prstGeom prst="rect">
            <a:avLst/>
          </a:prstGeom>
          <a:noFill/>
          <a:ln/>
        </p:spPr>
        <p:txBody>
          <a:bodyPr wrap="square" lIns="0" tIns="0" rIns="0" bIns="0" rtlCol="0" anchor="ctr"/>
          <a:lstStyle/>
          <a:p>
            <a:pPr algn="r" indent="0" marL="0">
              <a:buNone/>
            </a:pPr>
            <a:r>
              <a:rPr lang="en-US" sz="1200" i="1" dirty="0">
                <a:solidFill>
                  <a:srgbClr val="6B6B6B"/>
                </a:solidFill>
                <a:latin typeface="Calibri" pitchFamily="34" charset="0"/>
                <a:ea typeface="Calibri" pitchFamily="34" charset="-122"/>
                <a:cs typeface="Calibri" pitchFamily="34" charset="-120"/>
              </a:rPr>
              <a:t>The concept explained</a:t>
            </a:r>
            <a:endParaRPr lang="en-US" sz="1200" dirty="0"/>
          </a:p>
        </p:txBody>
      </p:sp>
      <p:sp>
        <p:nvSpPr>
          <p:cNvPr id="24" name="Shape 22"/>
          <p:cNvSpPr/>
          <p:nvPr/>
        </p:nvSpPr>
        <p:spPr>
          <a:xfrm>
            <a:off x="320040" y="6355080"/>
            <a:ext cx="11551615" cy="0"/>
          </a:xfrm>
          <a:prstGeom prst="line">
            <a:avLst/>
          </a:prstGeom>
          <a:noFill/>
          <a:ln w="6350">
            <a:solidFill>
              <a:srgbClr val="BFBFBF"/>
            </a:solidFill>
            <a:prstDash val="solid"/>
          </a:ln>
        </p:spPr>
      </p:sp>
      <p:sp>
        <p:nvSpPr>
          <p:cNvPr id="25" name="Shape 23"/>
          <p:cNvSpPr/>
          <p:nvPr/>
        </p:nvSpPr>
        <p:spPr>
          <a:xfrm>
            <a:off x="320040" y="6473952"/>
            <a:ext cx="502920" cy="237744"/>
          </a:xfrm>
          <a:prstGeom prst="rect">
            <a:avLst/>
          </a:prstGeom>
          <a:solidFill>
            <a:srgbClr val="111111"/>
          </a:solidFill>
          <a:ln w="12700">
            <a:solidFill>
              <a:srgbClr val="111111"/>
            </a:solidFill>
            <a:prstDash val="solid"/>
          </a:ln>
        </p:spPr>
      </p:sp>
      <p:sp>
        <p:nvSpPr>
          <p:cNvPr id="26" name="Text 24"/>
          <p:cNvSpPr/>
          <p:nvPr/>
        </p:nvSpPr>
        <p:spPr>
          <a:xfrm>
            <a:off x="320040" y="6473952"/>
            <a:ext cx="502920" cy="237744"/>
          </a:xfrm>
          <a:prstGeom prst="rect">
            <a:avLst/>
          </a:prstGeom>
          <a:noFill/>
          <a:ln/>
        </p:spPr>
        <p:txBody>
          <a:bodyPr wrap="square" lIns="0" tIns="0" rIns="0" bIns="0" rtlCol="0" anchor="ctr"/>
          <a:lstStyle/>
          <a:p>
            <a:pPr algn="ctr" indent="0" marL="0">
              <a:buNone/>
            </a:pPr>
            <a:r>
              <a:rPr lang="en-US" sz="900" b="1" spc="200" kern="0" dirty="0">
                <a:solidFill>
                  <a:srgbClr val="FFFFFF"/>
                </a:solidFill>
                <a:latin typeface="Calibri" pitchFamily="34" charset="0"/>
                <a:ea typeface="Calibri" pitchFamily="34" charset="-122"/>
                <a:cs typeface="Calibri" pitchFamily="34" charset="-120"/>
              </a:rPr>
              <a:t>DSG</a:t>
            </a:r>
            <a:endParaRPr lang="en-US" sz="900" dirty="0"/>
          </a:p>
        </p:txBody>
      </p:sp>
      <p:sp>
        <p:nvSpPr>
          <p:cNvPr id="27" name="Text 25"/>
          <p:cNvSpPr/>
          <p:nvPr/>
        </p:nvSpPr>
        <p:spPr>
          <a:xfrm>
            <a:off x="868680" y="6473952"/>
            <a:ext cx="2194560" cy="237744"/>
          </a:xfrm>
          <a:prstGeom prst="rect">
            <a:avLst/>
          </a:prstGeom>
          <a:noFill/>
          <a:ln/>
        </p:spPr>
        <p:txBody>
          <a:bodyPr wrap="square" lIns="0" tIns="0" rIns="0" bIns="0" rtlCol="0" anchor="ctr"/>
          <a:lstStyle/>
          <a:p>
            <a:pPr indent="0" marL="0">
              <a:buNone/>
            </a:pPr>
            <a:r>
              <a:rPr lang="en-US" sz="650" spc="200" kern="0" dirty="0">
                <a:solidFill>
                  <a:srgbClr val="6B6B6B"/>
                </a:solidFill>
                <a:latin typeface="Calibri" pitchFamily="34" charset="0"/>
                <a:ea typeface="Calibri" pitchFamily="34" charset="-122"/>
                <a:cs typeface="Calibri" pitchFamily="34" charset="-120"/>
              </a:rPr>
              <a:t>DIGITAL SOLUTIONS GROUP</a:t>
            </a:r>
            <a:endParaRPr lang="en-US" sz="650" dirty="0"/>
          </a:p>
        </p:txBody>
      </p:sp>
      <p:sp>
        <p:nvSpPr>
          <p:cNvPr id="28" name="Text 26"/>
          <p:cNvSpPr/>
          <p:nvPr/>
        </p:nvSpPr>
        <p:spPr>
          <a:xfrm>
            <a:off x="4754880" y="6473952"/>
            <a:ext cx="2743200" cy="237744"/>
          </a:xfrm>
          <a:prstGeom prst="rect">
            <a:avLst/>
          </a:prstGeom>
          <a:noFill/>
          <a:ln/>
        </p:spPr>
        <p:txBody>
          <a:bodyPr wrap="square" lIns="0" tIns="0" rIns="0" bIns="0" rtlCol="0" anchor="ctr"/>
          <a:lstStyle/>
          <a:p>
            <a:pPr algn="ctr" indent="0" marL="0">
              <a:buNone/>
            </a:pPr>
            <a:r>
              <a:rPr lang="en-US" sz="1100" b="1" dirty="0">
                <a:solidFill>
                  <a:srgbClr val="111111"/>
                </a:solidFill>
                <a:latin typeface="Calibri" pitchFamily="34" charset="0"/>
                <a:ea typeface="Calibri" pitchFamily="34" charset="-122"/>
                <a:cs typeface="Calibri" pitchFamily="34" charset="-120"/>
              </a:rPr>
              <a:t>digital</a:t>
            </a:r>
            <a:pPr algn="ctr" indent="0" marL="0">
              <a:buNone/>
            </a:pPr>
            <a:r>
              <a:rPr lang="en-US" sz="1100" b="1" dirty="0">
                <a:solidFill>
                  <a:srgbClr val="6B6B6B"/>
                </a:solidFill>
                <a:latin typeface="Calibri" pitchFamily="34" charset="0"/>
                <a:ea typeface="Calibri" pitchFamily="34" charset="-122"/>
                <a:cs typeface="Calibri" pitchFamily="34" charset="-120"/>
              </a:rPr>
              <a:t>mobile</a:t>
            </a:r>
            <a:endParaRPr lang="en-US" sz="1100" dirty="0"/>
          </a:p>
        </p:txBody>
      </p:sp>
      <p:sp>
        <p:nvSpPr>
          <p:cNvPr id="29" name="Shape 27"/>
          <p:cNvSpPr/>
          <p:nvPr/>
        </p:nvSpPr>
        <p:spPr>
          <a:xfrm>
            <a:off x="8595360" y="6519672"/>
            <a:ext cx="146304" cy="146304"/>
          </a:xfrm>
          <a:prstGeom prst="ellipse">
            <a:avLst/>
          </a:prstGeom>
          <a:solidFill>
            <a:srgbClr val="111111"/>
          </a:solidFill>
          <a:ln w="12700">
            <a:solidFill>
              <a:srgbClr val="111111"/>
            </a:solidFill>
            <a:prstDash val="solid"/>
          </a:ln>
        </p:spPr>
      </p:sp>
      <p:sp>
        <p:nvSpPr>
          <p:cNvPr id="30" name="Text 28"/>
          <p:cNvSpPr/>
          <p:nvPr/>
        </p:nvSpPr>
        <p:spPr>
          <a:xfrm>
            <a:off x="8778240" y="6473952"/>
            <a:ext cx="2194560" cy="237744"/>
          </a:xfrm>
          <a:prstGeom prst="rect">
            <a:avLst/>
          </a:prstGeom>
          <a:noFill/>
          <a:ln/>
        </p:spPr>
        <p:txBody>
          <a:bodyPr wrap="square" lIns="0" tIns="0" rIns="0" bIns="0" rtlCol="0" anchor="ctr"/>
          <a:lstStyle/>
          <a:p>
            <a:pPr indent="0" marL="0">
              <a:buNone/>
            </a:pPr>
            <a:r>
              <a:rPr lang="en-US" sz="900" i="1" dirty="0">
                <a:solidFill>
                  <a:srgbClr val="111111"/>
                </a:solidFill>
                <a:latin typeface="Calibri" pitchFamily="34" charset="0"/>
                <a:ea typeface="Calibri" pitchFamily="34" charset="-122"/>
                <a:cs typeface="Calibri" pitchFamily="34" charset="-120"/>
              </a:rPr>
              <a:t>#DoingSomethingGreat</a:t>
            </a:r>
            <a:endParaRPr lang="en-US" sz="900" dirty="0"/>
          </a:p>
        </p:txBody>
      </p:sp>
      <p:sp>
        <p:nvSpPr>
          <p:cNvPr id="31" name="Text 29"/>
          <p:cNvSpPr/>
          <p:nvPr/>
        </p:nvSpPr>
        <p:spPr>
          <a:xfrm>
            <a:off x="11002975" y="6473952"/>
            <a:ext cx="914400" cy="237744"/>
          </a:xfrm>
          <a:prstGeom prst="rect">
            <a:avLst/>
          </a:prstGeom>
          <a:noFill/>
          <a:ln/>
        </p:spPr>
        <p:txBody>
          <a:bodyPr wrap="square" lIns="0" tIns="0" rIns="0" bIns="0" rtlCol="0" anchor="ctr"/>
          <a:lstStyle/>
          <a:p>
            <a:pPr algn="r" indent="0" marL="0">
              <a:buNone/>
            </a:pPr>
            <a:r>
              <a:rPr lang="en-US" sz="800" dirty="0">
                <a:solidFill>
                  <a:srgbClr val="6B6B6B"/>
                </a:solidFill>
                <a:latin typeface="Calibri" pitchFamily="34" charset="0"/>
                <a:ea typeface="Calibri" pitchFamily="34" charset="-122"/>
                <a:cs typeface="Calibri" pitchFamily="34" charset="-120"/>
              </a:rPr>
              <a:t>03 / 20</a:t>
            </a:r>
            <a:endParaRPr lang="en-US" sz="800" dirty="0"/>
          </a:p>
        </p:txBody>
      </p:sp>
      <p:sp>
        <p:nvSpPr>
          <p:cNvPr id="32" name="Shape 30"/>
          <p:cNvSpPr/>
          <p:nvPr/>
        </p:nvSpPr>
        <p:spPr>
          <a:xfrm>
            <a:off x="502920" y="1828800"/>
            <a:ext cx="5120640" cy="2194560"/>
          </a:xfrm>
          <a:prstGeom prst="rect">
            <a:avLst/>
          </a:prstGeom>
          <a:solidFill>
            <a:srgbClr val="111111"/>
          </a:solidFill>
          <a:ln w="12700">
            <a:solidFill>
              <a:srgbClr val="111111"/>
            </a:solidFill>
            <a:prstDash val="solid"/>
          </a:ln>
        </p:spPr>
      </p:sp>
      <p:sp>
        <p:nvSpPr>
          <p:cNvPr id="33" name="Text 31"/>
          <p:cNvSpPr/>
          <p:nvPr/>
        </p:nvSpPr>
        <p:spPr>
          <a:xfrm>
            <a:off x="731520" y="1965960"/>
            <a:ext cx="4709160" cy="1920240"/>
          </a:xfrm>
          <a:prstGeom prst="rect">
            <a:avLst/>
          </a:prstGeom>
          <a:noFill/>
          <a:ln/>
        </p:spPr>
        <p:txBody>
          <a:bodyPr wrap="square" lIns="0" tIns="0" rIns="0" bIns="0" rtlCol="0" anchor="ctr"/>
          <a:lstStyle/>
          <a:p>
            <a:pPr indent="0" marL="0">
              <a:buNone/>
            </a:pPr>
            <a:r>
              <a:rPr lang="en-US" sz="1600" i="1" dirty="0">
                <a:solidFill>
                  <a:srgbClr val="FFFFFF"/>
                </a:solidFill>
                <a:latin typeface="Georgia" pitchFamily="34" charset="0"/>
                <a:ea typeface="Georgia" pitchFamily="34" charset="-122"/>
                <a:cs typeface="Georgia" pitchFamily="34" charset="-120"/>
              </a:rPr>
              <a:t>A MVNO is a company that sells mobile deals, packages and services under its own brand by 'white-labelling' a mobile network.</a:t>
            </a:r>
            <a:endParaRPr lang="en-US" sz="1600" dirty="0"/>
          </a:p>
        </p:txBody>
      </p:sp>
      <p:sp>
        <p:nvSpPr>
          <p:cNvPr id="34" name="Shape 32"/>
          <p:cNvSpPr/>
          <p:nvPr/>
        </p:nvSpPr>
        <p:spPr>
          <a:xfrm>
            <a:off x="502920" y="4206240"/>
            <a:ext cx="5120640" cy="2011680"/>
          </a:xfrm>
          <a:prstGeom prst="rect">
            <a:avLst/>
          </a:prstGeom>
          <a:solidFill>
            <a:srgbClr val="F5F5F5"/>
          </a:solidFill>
          <a:ln w="9525">
            <a:solidFill>
              <a:srgbClr val="111111"/>
            </a:solidFill>
            <a:prstDash val="solid"/>
          </a:ln>
        </p:spPr>
      </p:sp>
      <p:sp>
        <p:nvSpPr>
          <p:cNvPr id="35" name="Text 33"/>
          <p:cNvSpPr/>
          <p:nvPr/>
        </p:nvSpPr>
        <p:spPr>
          <a:xfrm>
            <a:off x="731520" y="4343400"/>
            <a:ext cx="4709160" cy="1783080"/>
          </a:xfrm>
          <a:prstGeom prst="rect">
            <a:avLst/>
          </a:prstGeom>
          <a:noFill/>
          <a:ln/>
        </p:spPr>
        <p:txBody>
          <a:bodyPr wrap="square" lIns="0" tIns="0" rIns="0" bIns="0" rtlCol="0" anchor="ctr"/>
          <a:lstStyle/>
          <a:p>
            <a:pPr indent="0" marL="0">
              <a:spcAft>
                <a:spcPts val="200"/>
              </a:spcAft>
              <a:buNone/>
            </a:pPr>
            <a:r>
              <a:rPr lang="en-US" sz="2800" b="1" dirty="0">
                <a:solidFill>
                  <a:srgbClr val="111111"/>
                </a:solidFill>
                <a:latin typeface="Calibri" pitchFamily="34" charset="0"/>
                <a:ea typeface="Calibri" pitchFamily="34" charset="-122"/>
                <a:cs typeface="Calibri" pitchFamily="34" charset="-120"/>
              </a:rPr>
              <a:t>1,400+</a:t>
            </a:r>
            <a:endParaRPr lang="en-US" sz="2800" dirty="0"/>
          </a:p>
          <a:p>
            <a:pPr indent="0" marL="0">
              <a:spcAft>
                <a:spcPts val="200"/>
              </a:spcAft>
              <a:buNone/>
            </a:pPr>
            <a:r>
              <a:rPr lang="en-US" sz="1000" dirty="0">
                <a:solidFill>
                  <a:srgbClr val="6B6B6B"/>
                </a:solidFill>
                <a:latin typeface="Calibri" pitchFamily="34" charset="0"/>
                <a:ea typeface="Calibri" pitchFamily="34" charset="-122"/>
                <a:cs typeface="Calibri" pitchFamily="34" charset="-120"/>
              </a:rPr>
              <a:t>MVNOs world-wide</a:t>
            </a:r>
            <a:endParaRPr lang="en-US" sz="2800" dirty="0"/>
          </a:p>
          <a:p>
            <a:pPr indent="0" marL="0">
              <a:spcAft>
                <a:spcPts val="200"/>
              </a:spcAft>
              <a:buNone/>
            </a:pPr>
            <a:r>
              <a:rPr lang="en-US" sz="400" dirty="0">
                <a:solidFill>
                  <a:srgbClr val="000000"/>
                </a:solidFill>
                <a:latin typeface="Calibri" pitchFamily="34" charset="0"/>
                <a:ea typeface="Calibri" pitchFamily="34" charset="-122"/>
                <a:cs typeface="Calibri" pitchFamily="34" charset="-120"/>
              </a:rPr>
              <a:t> </a:t>
            </a:r>
            <a:endParaRPr lang="en-US" sz="2800" dirty="0"/>
          </a:p>
          <a:p>
            <a:pPr indent="0" marL="0">
              <a:spcAft>
                <a:spcPts val="200"/>
              </a:spcAft>
              <a:buNone/>
            </a:pPr>
            <a:r>
              <a:rPr lang="en-US" sz="1100" dirty="0">
                <a:solidFill>
                  <a:srgbClr val="444444"/>
                </a:solidFill>
                <a:latin typeface="Calibri" pitchFamily="34" charset="0"/>
                <a:ea typeface="Calibri" pitchFamily="34" charset="-122"/>
                <a:cs typeface="Calibri" pitchFamily="34" charset="-120"/>
              </a:rPr>
              <a:t>The global MVNO market was $65.68bn in 2020 (up from $42bn in 2014) and is projected to reach </a:t>
            </a:r>
            <a:pPr indent="0" marL="0">
              <a:spcAft>
                <a:spcPts val="200"/>
              </a:spcAft>
              <a:buNone/>
            </a:pPr>
            <a:r>
              <a:rPr lang="en-US" sz="1100" b="1" dirty="0">
                <a:solidFill>
                  <a:srgbClr val="111111"/>
                </a:solidFill>
                <a:latin typeface="Calibri" pitchFamily="34" charset="0"/>
                <a:ea typeface="Calibri" pitchFamily="34" charset="-122"/>
                <a:cs typeface="Calibri" pitchFamily="34" charset="-120"/>
              </a:rPr>
              <a:t>$109.9bn by 2027</a:t>
            </a:r>
            <a:pPr indent="0" marL="0">
              <a:spcAft>
                <a:spcPts val="200"/>
              </a:spcAft>
              <a:buNone/>
            </a:pPr>
            <a:r>
              <a:rPr lang="en-US" sz="1100" dirty="0">
                <a:solidFill>
                  <a:srgbClr val="444444"/>
                </a:solidFill>
                <a:latin typeface="Calibri" pitchFamily="34" charset="0"/>
                <a:ea typeface="Calibri" pitchFamily="34" charset="-122"/>
                <a:cs typeface="Calibri" pitchFamily="34" charset="-120"/>
              </a:rPr>
              <a:t>.</a:t>
            </a:r>
            <a:endParaRPr lang="en-US" sz="2800" dirty="0"/>
          </a:p>
        </p:txBody>
      </p:sp>
      <p:sp>
        <p:nvSpPr>
          <p:cNvPr id="36" name="Shape 34"/>
          <p:cNvSpPr/>
          <p:nvPr/>
        </p:nvSpPr>
        <p:spPr>
          <a:xfrm>
            <a:off x="5943600" y="1828800"/>
            <a:ext cx="2834640" cy="2011680"/>
          </a:xfrm>
          <a:prstGeom prst="rect">
            <a:avLst/>
          </a:prstGeom>
          <a:solidFill>
            <a:srgbClr val="FFFFFF"/>
          </a:solidFill>
          <a:ln w="9525">
            <a:solidFill>
              <a:srgbClr val="111111"/>
            </a:solidFill>
            <a:prstDash val="solid"/>
          </a:ln>
        </p:spPr>
      </p:sp>
      <p:sp>
        <p:nvSpPr>
          <p:cNvPr id="37" name="Shape 35"/>
          <p:cNvSpPr/>
          <p:nvPr/>
        </p:nvSpPr>
        <p:spPr>
          <a:xfrm>
            <a:off x="5943600" y="1828800"/>
            <a:ext cx="2834640" cy="548640"/>
          </a:xfrm>
          <a:prstGeom prst="rect">
            <a:avLst/>
          </a:prstGeom>
          <a:solidFill>
            <a:srgbClr val="111111"/>
          </a:solidFill>
          <a:ln w="12700">
            <a:solidFill>
              <a:srgbClr val="111111"/>
            </a:solidFill>
            <a:prstDash val="solid"/>
          </a:ln>
        </p:spPr>
      </p:sp>
      <p:sp>
        <p:nvSpPr>
          <p:cNvPr id="38" name="Text 36"/>
          <p:cNvSpPr/>
          <p:nvPr/>
        </p:nvSpPr>
        <p:spPr>
          <a:xfrm>
            <a:off x="6080760" y="1828800"/>
            <a:ext cx="2560320" cy="54864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Branded SIM cards</a:t>
            </a:r>
            <a:endParaRPr lang="en-US" sz="1100" dirty="0"/>
          </a:p>
        </p:txBody>
      </p:sp>
      <p:sp>
        <p:nvSpPr>
          <p:cNvPr id="39" name="Text 37"/>
          <p:cNvSpPr/>
          <p:nvPr/>
        </p:nvSpPr>
        <p:spPr>
          <a:xfrm>
            <a:off x="6080760" y="2514600"/>
            <a:ext cx="2560320" cy="1234440"/>
          </a:xfrm>
          <a:prstGeom prst="rect">
            <a:avLst/>
          </a:prstGeom>
          <a:noFill/>
          <a:ln/>
        </p:spPr>
        <p:txBody>
          <a:bodyPr wrap="square" lIns="0" tIns="0" rIns="0" bIns="0" rtlCol="0" anchor="ctr"/>
          <a:lstStyle/>
          <a:p>
            <a:pPr indent="0" marL="0">
              <a:buNone/>
            </a:pPr>
            <a:r>
              <a:rPr lang="en-US" sz="1100" dirty="0">
                <a:solidFill>
                  <a:srgbClr val="444444"/>
                </a:solidFill>
                <a:latin typeface="Calibri" pitchFamily="34" charset="0"/>
                <a:ea typeface="Calibri" pitchFamily="34" charset="-122"/>
                <a:cs typeface="Calibri" pitchFamily="34" charset="-120"/>
              </a:rPr>
              <a:t>Your brand on every SIM, every pack, every journey.</a:t>
            </a:r>
            <a:endParaRPr lang="en-US" sz="1100" dirty="0"/>
          </a:p>
        </p:txBody>
      </p:sp>
      <p:sp>
        <p:nvSpPr>
          <p:cNvPr id="40" name="Shape 38"/>
          <p:cNvSpPr/>
          <p:nvPr/>
        </p:nvSpPr>
        <p:spPr>
          <a:xfrm>
            <a:off x="8961120" y="1828800"/>
            <a:ext cx="2834640" cy="2011680"/>
          </a:xfrm>
          <a:prstGeom prst="rect">
            <a:avLst/>
          </a:prstGeom>
          <a:solidFill>
            <a:srgbClr val="FFFFFF"/>
          </a:solidFill>
          <a:ln w="9525">
            <a:solidFill>
              <a:srgbClr val="111111"/>
            </a:solidFill>
            <a:prstDash val="solid"/>
          </a:ln>
        </p:spPr>
      </p:sp>
      <p:sp>
        <p:nvSpPr>
          <p:cNvPr id="41" name="Shape 39"/>
          <p:cNvSpPr/>
          <p:nvPr/>
        </p:nvSpPr>
        <p:spPr>
          <a:xfrm>
            <a:off x="8961120" y="1828800"/>
            <a:ext cx="2834640" cy="548640"/>
          </a:xfrm>
          <a:prstGeom prst="rect">
            <a:avLst/>
          </a:prstGeom>
          <a:solidFill>
            <a:srgbClr val="111111"/>
          </a:solidFill>
          <a:ln w="12700">
            <a:solidFill>
              <a:srgbClr val="111111"/>
            </a:solidFill>
            <a:prstDash val="solid"/>
          </a:ln>
        </p:spPr>
      </p:sp>
      <p:sp>
        <p:nvSpPr>
          <p:cNvPr id="42" name="Text 40"/>
          <p:cNvSpPr/>
          <p:nvPr/>
        </p:nvSpPr>
        <p:spPr>
          <a:xfrm>
            <a:off x="9098280" y="1828800"/>
            <a:ext cx="2560320" cy="54864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Independent customer care &amp; billing</a:t>
            </a:r>
            <a:endParaRPr lang="en-US" sz="1100" dirty="0"/>
          </a:p>
        </p:txBody>
      </p:sp>
      <p:sp>
        <p:nvSpPr>
          <p:cNvPr id="43" name="Text 41"/>
          <p:cNvSpPr/>
          <p:nvPr/>
        </p:nvSpPr>
        <p:spPr>
          <a:xfrm>
            <a:off x="9098280" y="2514600"/>
            <a:ext cx="2560320" cy="1234440"/>
          </a:xfrm>
          <a:prstGeom prst="rect">
            <a:avLst/>
          </a:prstGeom>
          <a:noFill/>
          <a:ln/>
        </p:spPr>
        <p:txBody>
          <a:bodyPr wrap="square" lIns="0" tIns="0" rIns="0" bIns="0" rtlCol="0" anchor="ctr"/>
          <a:lstStyle/>
          <a:p>
            <a:pPr indent="0" marL="0">
              <a:buNone/>
            </a:pPr>
            <a:r>
              <a:rPr lang="en-US" sz="1100" dirty="0">
                <a:solidFill>
                  <a:srgbClr val="444444"/>
                </a:solidFill>
                <a:latin typeface="Calibri" pitchFamily="34" charset="0"/>
                <a:ea typeface="Calibri" pitchFamily="34" charset="-122"/>
                <a:cs typeface="Calibri" pitchFamily="34" charset="-120"/>
              </a:rPr>
              <a:t>Direct, recurring, high-trust relationship.</a:t>
            </a:r>
            <a:endParaRPr lang="en-US" sz="1100" dirty="0"/>
          </a:p>
        </p:txBody>
      </p:sp>
      <p:sp>
        <p:nvSpPr>
          <p:cNvPr id="44" name="Shape 42"/>
          <p:cNvSpPr/>
          <p:nvPr/>
        </p:nvSpPr>
        <p:spPr>
          <a:xfrm>
            <a:off x="5943600" y="4023360"/>
            <a:ext cx="2834640" cy="2011680"/>
          </a:xfrm>
          <a:prstGeom prst="rect">
            <a:avLst/>
          </a:prstGeom>
          <a:solidFill>
            <a:srgbClr val="FFFFFF"/>
          </a:solidFill>
          <a:ln w="9525">
            <a:solidFill>
              <a:srgbClr val="111111"/>
            </a:solidFill>
            <a:prstDash val="solid"/>
          </a:ln>
        </p:spPr>
      </p:sp>
      <p:sp>
        <p:nvSpPr>
          <p:cNvPr id="45" name="Shape 43"/>
          <p:cNvSpPr/>
          <p:nvPr/>
        </p:nvSpPr>
        <p:spPr>
          <a:xfrm>
            <a:off x="5943600" y="4023360"/>
            <a:ext cx="2834640" cy="548640"/>
          </a:xfrm>
          <a:prstGeom prst="rect">
            <a:avLst/>
          </a:prstGeom>
          <a:solidFill>
            <a:srgbClr val="111111"/>
          </a:solidFill>
          <a:ln w="12700">
            <a:solidFill>
              <a:srgbClr val="111111"/>
            </a:solidFill>
            <a:prstDash val="solid"/>
          </a:ln>
        </p:spPr>
      </p:sp>
      <p:sp>
        <p:nvSpPr>
          <p:cNvPr id="46" name="Text 44"/>
          <p:cNvSpPr/>
          <p:nvPr/>
        </p:nvSpPr>
        <p:spPr>
          <a:xfrm>
            <a:off x="6080760" y="4023360"/>
            <a:ext cx="2560320" cy="54864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Autonomy on deals &amp; tariffs</a:t>
            </a:r>
            <a:endParaRPr lang="en-US" sz="1100" dirty="0"/>
          </a:p>
        </p:txBody>
      </p:sp>
      <p:sp>
        <p:nvSpPr>
          <p:cNvPr id="47" name="Text 45"/>
          <p:cNvSpPr/>
          <p:nvPr/>
        </p:nvSpPr>
        <p:spPr>
          <a:xfrm>
            <a:off x="6080760" y="4709160"/>
            <a:ext cx="2560320" cy="1234440"/>
          </a:xfrm>
          <a:prstGeom prst="rect">
            <a:avLst/>
          </a:prstGeom>
          <a:noFill/>
          <a:ln/>
        </p:spPr>
        <p:txBody>
          <a:bodyPr wrap="square" lIns="0" tIns="0" rIns="0" bIns="0" rtlCol="0" anchor="ctr"/>
          <a:lstStyle/>
          <a:p>
            <a:pPr indent="0" marL="0">
              <a:buNone/>
            </a:pPr>
            <a:r>
              <a:rPr lang="en-US" sz="1100" dirty="0">
                <a:solidFill>
                  <a:srgbClr val="444444"/>
                </a:solidFill>
                <a:latin typeface="Calibri" pitchFamily="34" charset="0"/>
                <a:ea typeface="Calibri" pitchFamily="34" charset="-122"/>
                <a:cs typeface="Calibri" pitchFamily="34" charset="-120"/>
              </a:rPr>
              <a:t>Create packages and bundles without MNO approval.</a:t>
            </a:r>
            <a:endParaRPr lang="en-US" sz="1100" dirty="0"/>
          </a:p>
        </p:txBody>
      </p:sp>
      <p:sp>
        <p:nvSpPr>
          <p:cNvPr id="48" name="Shape 46"/>
          <p:cNvSpPr/>
          <p:nvPr/>
        </p:nvSpPr>
        <p:spPr>
          <a:xfrm>
            <a:off x="8961120" y="4023360"/>
            <a:ext cx="2834640" cy="2011680"/>
          </a:xfrm>
          <a:prstGeom prst="rect">
            <a:avLst/>
          </a:prstGeom>
          <a:solidFill>
            <a:srgbClr val="FFFFFF"/>
          </a:solidFill>
          <a:ln w="9525">
            <a:solidFill>
              <a:srgbClr val="111111"/>
            </a:solidFill>
            <a:prstDash val="solid"/>
          </a:ln>
        </p:spPr>
      </p:sp>
      <p:sp>
        <p:nvSpPr>
          <p:cNvPr id="49" name="Shape 47"/>
          <p:cNvSpPr/>
          <p:nvPr/>
        </p:nvSpPr>
        <p:spPr>
          <a:xfrm>
            <a:off x="8961120" y="4023360"/>
            <a:ext cx="2834640" cy="548640"/>
          </a:xfrm>
          <a:prstGeom prst="rect">
            <a:avLst/>
          </a:prstGeom>
          <a:solidFill>
            <a:srgbClr val="111111"/>
          </a:solidFill>
          <a:ln w="12700">
            <a:solidFill>
              <a:srgbClr val="111111"/>
            </a:solidFill>
            <a:prstDash val="solid"/>
          </a:ln>
        </p:spPr>
      </p:sp>
      <p:sp>
        <p:nvSpPr>
          <p:cNvPr id="50" name="Text 48"/>
          <p:cNvSpPr/>
          <p:nvPr/>
        </p:nvSpPr>
        <p:spPr>
          <a:xfrm>
            <a:off x="9098280" y="4023360"/>
            <a:ext cx="2560320" cy="54864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No network infrastructure</a:t>
            </a:r>
            <a:endParaRPr lang="en-US" sz="1100" dirty="0"/>
          </a:p>
        </p:txBody>
      </p:sp>
      <p:sp>
        <p:nvSpPr>
          <p:cNvPr id="51" name="Text 49"/>
          <p:cNvSpPr/>
          <p:nvPr/>
        </p:nvSpPr>
        <p:spPr>
          <a:xfrm>
            <a:off x="9098280" y="4709160"/>
            <a:ext cx="2560320" cy="1234440"/>
          </a:xfrm>
          <a:prstGeom prst="rect">
            <a:avLst/>
          </a:prstGeom>
          <a:noFill/>
          <a:ln/>
        </p:spPr>
        <p:txBody>
          <a:bodyPr wrap="square" lIns="0" tIns="0" rIns="0" bIns="0" rtlCol="0" anchor="ctr"/>
          <a:lstStyle/>
          <a:p>
            <a:pPr indent="0" marL="0">
              <a:buNone/>
            </a:pPr>
            <a:r>
              <a:rPr lang="en-US" sz="1100" dirty="0">
                <a:solidFill>
                  <a:srgbClr val="444444"/>
                </a:solidFill>
                <a:latin typeface="Calibri" pitchFamily="34" charset="0"/>
                <a:ea typeface="Calibri" pitchFamily="34" charset="-122"/>
                <a:cs typeface="Calibri" pitchFamily="34" charset="-120"/>
              </a:rPr>
              <a:t>Wholesale agreement with the host network does the heavy lifting.</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20040" y="182880"/>
            <a:ext cx="1417320" cy="438912"/>
          </a:xfrm>
          <a:prstGeom prst="rect">
            <a:avLst/>
          </a:prstGeom>
          <a:solidFill>
            <a:srgbClr val="111111"/>
          </a:solidFill>
          <a:ln w="12700">
            <a:solidFill>
              <a:srgbClr val="111111"/>
            </a:solidFill>
            <a:prstDash val="solid"/>
          </a:ln>
        </p:spPr>
      </p:sp>
      <p:sp>
        <p:nvSpPr>
          <p:cNvPr id="3" name="Text 1"/>
          <p:cNvSpPr/>
          <p:nvPr/>
        </p:nvSpPr>
        <p:spPr>
          <a:xfrm>
            <a:off x="320040" y="182880"/>
            <a:ext cx="1417320" cy="438912"/>
          </a:xfrm>
          <a:prstGeom prst="rect">
            <a:avLst/>
          </a:prstGeom>
          <a:noFill/>
          <a:ln/>
        </p:spPr>
        <p:txBody>
          <a:bodyPr wrap="square" lIns="0" tIns="0" rIns="0" bIns="0" rtlCol="0" anchor="ctr"/>
          <a:lstStyle/>
          <a:p>
            <a:pPr algn="ctr" indent="0" marL="0">
              <a:buNone/>
            </a:pPr>
            <a:r>
              <a:rPr lang="en-US" sz="1500" b="1" spc="400" kern="0" dirty="0">
                <a:solidFill>
                  <a:srgbClr val="FFFFFF"/>
                </a:solidFill>
                <a:latin typeface="Calibri" pitchFamily="34" charset="0"/>
                <a:ea typeface="Calibri" pitchFamily="34" charset="-122"/>
                <a:cs typeface="Calibri" pitchFamily="34" charset="-120"/>
              </a:rPr>
              <a:t>ARENA
</a:t>
            </a:r>
            <a:pPr algn="ctr" indent="0" marL="0">
              <a:buNone/>
            </a:pPr>
            <a:r>
              <a:rPr lang="en-US" sz="600" spc="400" kern="0" dirty="0">
                <a:solidFill>
                  <a:srgbClr val="FFFFFF"/>
                </a:solidFill>
                <a:latin typeface="Calibri" pitchFamily="34" charset="0"/>
                <a:ea typeface="Calibri" pitchFamily="34" charset="-122"/>
                <a:cs typeface="Calibri" pitchFamily="34" charset="-120"/>
              </a:rPr>
              <a:t>H O L D I N G S</a:t>
            </a:r>
            <a:endParaRPr lang="en-US" sz="1500" dirty="0"/>
          </a:p>
        </p:txBody>
      </p:sp>
      <p:sp>
        <p:nvSpPr>
          <p:cNvPr id="4" name="Shape 2"/>
          <p:cNvSpPr/>
          <p:nvPr/>
        </p:nvSpPr>
        <p:spPr>
          <a:xfrm>
            <a:off x="9677095" y="246888"/>
            <a:ext cx="201168" cy="201168"/>
          </a:xfrm>
          <a:prstGeom prst="ellipse">
            <a:avLst/>
          </a:prstGeom>
          <a:solidFill>
            <a:srgbClr val="111111"/>
          </a:solidFill>
          <a:ln w="12700">
            <a:solidFill>
              <a:srgbClr val="111111"/>
            </a:solidFill>
            <a:prstDash val="solid"/>
          </a:ln>
        </p:spPr>
      </p:sp>
      <p:sp>
        <p:nvSpPr>
          <p:cNvPr id="5" name="Text 3"/>
          <p:cNvSpPr/>
          <p:nvPr/>
        </p:nvSpPr>
        <p:spPr>
          <a:xfrm>
            <a:off x="9923983" y="210312"/>
            <a:ext cx="2011680" cy="274320"/>
          </a:xfrm>
          <a:prstGeom prst="rect">
            <a:avLst/>
          </a:prstGeom>
          <a:noFill/>
          <a:ln/>
        </p:spPr>
        <p:txBody>
          <a:bodyPr wrap="square" lIns="0" tIns="0" rIns="0" bIns="0" rtlCol="0" anchor="ctr"/>
          <a:lstStyle/>
          <a:p>
            <a:pPr algn="l" indent="0" marL="0">
              <a:buNone/>
            </a:pPr>
            <a:r>
              <a:rPr lang="en-US" sz="1000" b="1" i="1" dirty="0">
                <a:solidFill>
                  <a:srgbClr val="111111"/>
                </a:solidFill>
                <a:latin typeface="Calibri" pitchFamily="34" charset="0"/>
                <a:ea typeface="Calibri" pitchFamily="34" charset="-122"/>
                <a:cs typeface="Calibri" pitchFamily="34" charset="-120"/>
              </a:rPr>
              <a:t>#DoingSomethingGreat</a:t>
            </a:r>
            <a:endParaRPr lang="en-US" sz="1000" dirty="0"/>
          </a:p>
        </p:txBody>
      </p:sp>
      <p:sp>
        <p:nvSpPr>
          <p:cNvPr id="6" name="Shape 4"/>
          <p:cNvSpPr/>
          <p:nvPr/>
        </p:nvSpPr>
        <p:spPr>
          <a:xfrm>
            <a:off x="5973775" y="0"/>
            <a:ext cx="6217920" cy="1463040"/>
          </a:xfrm>
          <a:prstGeom prst="rect">
            <a:avLst/>
          </a:prstGeom>
          <a:solidFill>
            <a:srgbClr val="F5F5F5"/>
          </a:solidFill>
          <a:ln w="12700">
            <a:solidFill>
              <a:srgbClr val="F5F5F5"/>
            </a:solidFill>
            <a:prstDash val="solid"/>
          </a:ln>
        </p:spPr>
      </p:sp>
      <p:sp>
        <p:nvSpPr>
          <p:cNvPr id="7" name="Shape 5"/>
          <p:cNvSpPr/>
          <p:nvPr/>
        </p:nvSpPr>
        <p:spPr>
          <a:xfrm>
            <a:off x="6248095" y="0"/>
            <a:ext cx="-1280160" cy="1280160"/>
          </a:xfrm>
          <a:prstGeom prst="line">
            <a:avLst/>
          </a:prstGeom>
          <a:noFill/>
          <a:ln w="9525">
            <a:solidFill>
              <a:srgbClr val="EDEDED"/>
            </a:solidFill>
            <a:prstDash val="solid"/>
          </a:ln>
        </p:spPr>
      </p:sp>
      <p:sp>
        <p:nvSpPr>
          <p:cNvPr id="8" name="Shape 6"/>
          <p:cNvSpPr/>
          <p:nvPr/>
        </p:nvSpPr>
        <p:spPr>
          <a:xfrm>
            <a:off x="6659575" y="0"/>
            <a:ext cx="-1280160" cy="1280160"/>
          </a:xfrm>
          <a:prstGeom prst="line">
            <a:avLst/>
          </a:prstGeom>
          <a:noFill/>
          <a:ln w="9525">
            <a:solidFill>
              <a:srgbClr val="EDEDED"/>
            </a:solidFill>
            <a:prstDash val="solid"/>
          </a:ln>
        </p:spPr>
      </p:sp>
      <p:sp>
        <p:nvSpPr>
          <p:cNvPr id="9" name="Shape 7"/>
          <p:cNvSpPr/>
          <p:nvPr/>
        </p:nvSpPr>
        <p:spPr>
          <a:xfrm>
            <a:off x="7071055" y="0"/>
            <a:ext cx="-1280160" cy="1280160"/>
          </a:xfrm>
          <a:prstGeom prst="line">
            <a:avLst/>
          </a:prstGeom>
          <a:noFill/>
          <a:ln w="9525">
            <a:solidFill>
              <a:srgbClr val="EDEDED"/>
            </a:solidFill>
            <a:prstDash val="solid"/>
          </a:ln>
        </p:spPr>
      </p:sp>
      <p:sp>
        <p:nvSpPr>
          <p:cNvPr id="10" name="Shape 8"/>
          <p:cNvSpPr/>
          <p:nvPr/>
        </p:nvSpPr>
        <p:spPr>
          <a:xfrm>
            <a:off x="7482535" y="0"/>
            <a:ext cx="-1280160" cy="1280160"/>
          </a:xfrm>
          <a:prstGeom prst="line">
            <a:avLst/>
          </a:prstGeom>
          <a:noFill/>
          <a:ln w="9525">
            <a:solidFill>
              <a:srgbClr val="EDEDED"/>
            </a:solidFill>
            <a:prstDash val="solid"/>
          </a:ln>
        </p:spPr>
      </p:sp>
      <p:sp>
        <p:nvSpPr>
          <p:cNvPr id="11" name="Shape 9"/>
          <p:cNvSpPr/>
          <p:nvPr/>
        </p:nvSpPr>
        <p:spPr>
          <a:xfrm>
            <a:off x="7894015" y="0"/>
            <a:ext cx="-1280160" cy="1280160"/>
          </a:xfrm>
          <a:prstGeom prst="line">
            <a:avLst/>
          </a:prstGeom>
          <a:noFill/>
          <a:ln w="9525">
            <a:solidFill>
              <a:srgbClr val="EDEDED"/>
            </a:solidFill>
            <a:prstDash val="solid"/>
          </a:ln>
        </p:spPr>
      </p:sp>
      <p:sp>
        <p:nvSpPr>
          <p:cNvPr id="12" name="Shape 10"/>
          <p:cNvSpPr/>
          <p:nvPr/>
        </p:nvSpPr>
        <p:spPr>
          <a:xfrm>
            <a:off x="8305495" y="0"/>
            <a:ext cx="-1280160" cy="1280160"/>
          </a:xfrm>
          <a:prstGeom prst="line">
            <a:avLst/>
          </a:prstGeom>
          <a:noFill/>
          <a:ln w="9525">
            <a:solidFill>
              <a:srgbClr val="EDEDED"/>
            </a:solidFill>
            <a:prstDash val="solid"/>
          </a:ln>
        </p:spPr>
      </p:sp>
      <p:sp>
        <p:nvSpPr>
          <p:cNvPr id="13" name="Shape 11"/>
          <p:cNvSpPr/>
          <p:nvPr/>
        </p:nvSpPr>
        <p:spPr>
          <a:xfrm>
            <a:off x="8716975" y="0"/>
            <a:ext cx="-1280160" cy="1280160"/>
          </a:xfrm>
          <a:prstGeom prst="line">
            <a:avLst/>
          </a:prstGeom>
          <a:noFill/>
          <a:ln w="9525">
            <a:solidFill>
              <a:srgbClr val="EDEDED"/>
            </a:solidFill>
            <a:prstDash val="solid"/>
          </a:ln>
        </p:spPr>
      </p:sp>
      <p:sp>
        <p:nvSpPr>
          <p:cNvPr id="14" name="Shape 12"/>
          <p:cNvSpPr/>
          <p:nvPr/>
        </p:nvSpPr>
        <p:spPr>
          <a:xfrm>
            <a:off x="9128455" y="0"/>
            <a:ext cx="-1280160" cy="1280160"/>
          </a:xfrm>
          <a:prstGeom prst="line">
            <a:avLst/>
          </a:prstGeom>
          <a:noFill/>
          <a:ln w="9525">
            <a:solidFill>
              <a:srgbClr val="EDEDED"/>
            </a:solidFill>
            <a:prstDash val="solid"/>
          </a:ln>
        </p:spPr>
      </p:sp>
      <p:sp>
        <p:nvSpPr>
          <p:cNvPr id="15" name="Shape 13"/>
          <p:cNvSpPr/>
          <p:nvPr/>
        </p:nvSpPr>
        <p:spPr>
          <a:xfrm>
            <a:off x="9539935" y="0"/>
            <a:ext cx="-1280160" cy="1280160"/>
          </a:xfrm>
          <a:prstGeom prst="line">
            <a:avLst/>
          </a:prstGeom>
          <a:noFill/>
          <a:ln w="9525">
            <a:solidFill>
              <a:srgbClr val="EDEDED"/>
            </a:solidFill>
            <a:prstDash val="solid"/>
          </a:ln>
        </p:spPr>
      </p:sp>
      <p:sp>
        <p:nvSpPr>
          <p:cNvPr id="16" name="Shape 14"/>
          <p:cNvSpPr/>
          <p:nvPr/>
        </p:nvSpPr>
        <p:spPr>
          <a:xfrm>
            <a:off x="9951415" y="0"/>
            <a:ext cx="-1280160" cy="1280160"/>
          </a:xfrm>
          <a:prstGeom prst="line">
            <a:avLst/>
          </a:prstGeom>
          <a:noFill/>
          <a:ln w="9525">
            <a:solidFill>
              <a:srgbClr val="EDEDED"/>
            </a:solidFill>
            <a:prstDash val="solid"/>
          </a:ln>
        </p:spPr>
      </p:sp>
      <p:sp>
        <p:nvSpPr>
          <p:cNvPr id="17" name="Shape 15"/>
          <p:cNvSpPr/>
          <p:nvPr/>
        </p:nvSpPr>
        <p:spPr>
          <a:xfrm>
            <a:off x="10362895" y="0"/>
            <a:ext cx="-1280160" cy="1280160"/>
          </a:xfrm>
          <a:prstGeom prst="line">
            <a:avLst/>
          </a:prstGeom>
          <a:noFill/>
          <a:ln w="9525">
            <a:solidFill>
              <a:srgbClr val="EDEDED"/>
            </a:solidFill>
            <a:prstDash val="solid"/>
          </a:ln>
        </p:spPr>
      </p:sp>
      <p:sp>
        <p:nvSpPr>
          <p:cNvPr id="18" name="Shape 16"/>
          <p:cNvSpPr/>
          <p:nvPr/>
        </p:nvSpPr>
        <p:spPr>
          <a:xfrm>
            <a:off x="10774375" y="0"/>
            <a:ext cx="-1280160" cy="1280160"/>
          </a:xfrm>
          <a:prstGeom prst="line">
            <a:avLst/>
          </a:prstGeom>
          <a:noFill/>
          <a:ln w="9525">
            <a:solidFill>
              <a:srgbClr val="EDEDED"/>
            </a:solidFill>
            <a:prstDash val="solid"/>
          </a:ln>
        </p:spPr>
      </p:sp>
      <p:sp>
        <p:nvSpPr>
          <p:cNvPr id="19" name="Shape 17"/>
          <p:cNvSpPr/>
          <p:nvPr/>
        </p:nvSpPr>
        <p:spPr>
          <a:xfrm>
            <a:off x="11185855" y="0"/>
            <a:ext cx="-1280160" cy="1280160"/>
          </a:xfrm>
          <a:prstGeom prst="line">
            <a:avLst/>
          </a:prstGeom>
          <a:noFill/>
          <a:ln w="9525">
            <a:solidFill>
              <a:srgbClr val="EDEDED"/>
            </a:solidFill>
            <a:prstDash val="solid"/>
          </a:ln>
        </p:spPr>
      </p:sp>
      <p:sp>
        <p:nvSpPr>
          <p:cNvPr id="20" name="Shape 18"/>
          <p:cNvSpPr/>
          <p:nvPr/>
        </p:nvSpPr>
        <p:spPr>
          <a:xfrm>
            <a:off x="11597335" y="0"/>
            <a:ext cx="-1280160" cy="1280160"/>
          </a:xfrm>
          <a:prstGeom prst="line">
            <a:avLst/>
          </a:prstGeom>
          <a:noFill/>
          <a:ln w="9525">
            <a:solidFill>
              <a:srgbClr val="EDEDED"/>
            </a:solidFill>
            <a:prstDash val="solid"/>
          </a:ln>
        </p:spPr>
      </p:sp>
      <p:sp>
        <p:nvSpPr>
          <p:cNvPr id="21" name="Shape 19"/>
          <p:cNvSpPr/>
          <p:nvPr/>
        </p:nvSpPr>
        <p:spPr>
          <a:xfrm>
            <a:off x="320040" y="1481328"/>
            <a:ext cx="11551615" cy="0"/>
          </a:xfrm>
          <a:prstGeom prst="line">
            <a:avLst/>
          </a:prstGeom>
          <a:noFill/>
          <a:ln w="15875">
            <a:solidFill>
              <a:srgbClr val="111111"/>
            </a:solidFill>
            <a:prstDash val="solid"/>
          </a:ln>
        </p:spPr>
      </p:sp>
      <p:sp>
        <p:nvSpPr>
          <p:cNvPr id="22" name="Text 20"/>
          <p:cNvSpPr/>
          <p:nvPr/>
        </p:nvSpPr>
        <p:spPr>
          <a:xfrm>
            <a:off x="5486400" y="292608"/>
            <a:ext cx="6309360" cy="685800"/>
          </a:xfrm>
          <a:prstGeom prst="rect">
            <a:avLst/>
          </a:prstGeom>
          <a:noFill/>
          <a:ln/>
        </p:spPr>
        <p:txBody>
          <a:bodyPr wrap="square" lIns="0" tIns="0" rIns="0" bIns="0" rtlCol="0" anchor="ctr"/>
          <a:lstStyle/>
          <a:p>
            <a:pPr algn="r" indent="0" marL="0">
              <a:buNone/>
            </a:pPr>
            <a:r>
              <a:rPr lang="en-US" sz="2600" b="1" dirty="0">
                <a:solidFill>
                  <a:srgbClr val="111111"/>
                </a:solidFill>
                <a:latin typeface="Calibri" pitchFamily="34" charset="0"/>
                <a:ea typeface="Calibri" pitchFamily="34" charset="-122"/>
                <a:cs typeface="Calibri" pitchFamily="34" charset="-120"/>
              </a:rPr>
              <a:t>Our Strategic Objectives for the MVNO</a:t>
            </a:r>
            <a:endParaRPr lang="en-US" sz="2600" dirty="0"/>
          </a:p>
        </p:txBody>
      </p:sp>
      <p:sp>
        <p:nvSpPr>
          <p:cNvPr id="23" name="Text 21"/>
          <p:cNvSpPr/>
          <p:nvPr/>
        </p:nvSpPr>
        <p:spPr>
          <a:xfrm>
            <a:off x="5486400" y="960120"/>
            <a:ext cx="6309360" cy="365760"/>
          </a:xfrm>
          <a:prstGeom prst="rect">
            <a:avLst/>
          </a:prstGeom>
          <a:noFill/>
          <a:ln/>
        </p:spPr>
        <p:txBody>
          <a:bodyPr wrap="square" lIns="0" tIns="0" rIns="0" bIns="0" rtlCol="0" anchor="ctr"/>
          <a:lstStyle/>
          <a:p>
            <a:pPr algn="r" indent="0" marL="0">
              <a:buNone/>
            </a:pPr>
            <a:r>
              <a:rPr lang="en-US" sz="1200" i="1" dirty="0">
                <a:solidFill>
                  <a:srgbClr val="6B6B6B"/>
                </a:solidFill>
                <a:latin typeface="Calibri" pitchFamily="34" charset="0"/>
                <a:ea typeface="Calibri" pitchFamily="34" charset="-122"/>
                <a:cs typeface="Calibri" pitchFamily="34" charset="-120"/>
              </a:rPr>
              <a:t>Why this matters for Arena</a:t>
            </a:r>
            <a:endParaRPr lang="en-US" sz="1200" dirty="0"/>
          </a:p>
        </p:txBody>
      </p:sp>
      <p:sp>
        <p:nvSpPr>
          <p:cNvPr id="24" name="Shape 22"/>
          <p:cNvSpPr/>
          <p:nvPr/>
        </p:nvSpPr>
        <p:spPr>
          <a:xfrm>
            <a:off x="320040" y="6355080"/>
            <a:ext cx="11551615" cy="0"/>
          </a:xfrm>
          <a:prstGeom prst="line">
            <a:avLst/>
          </a:prstGeom>
          <a:noFill/>
          <a:ln w="6350">
            <a:solidFill>
              <a:srgbClr val="BFBFBF"/>
            </a:solidFill>
            <a:prstDash val="solid"/>
          </a:ln>
        </p:spPr>
      </p:sp>
      <p:sp>
        <p:nvSpPr>
          <p:cNvPr id="25" name="Shape 23"/>
          <p:cNvSpPr/>
          <p:nvPr/>
        </p:nvSpPr>
        <p:spPr>
          <a:xfrm>
            <a:off x="320040" y="6473952"/>
            <a:ext cx="502920" cy="237744"/>
          </a:xfrm>
          <a:prstGeom prst="rect">
            <a:avLst/>
          </a:prstGeom>
          <a:solidFill>
            <a:srgbClr val="111111"/>
          </a:solidFill>
          <a:ln w="12700">
            <a:solidFill>
              <a:srgbClr val="111111"/>
            </a:solidFill>
            <a:prstDash val="solid"/>
          </a:ln>
        </p:spPr>
      </p:sp>
      <p:sp>
        <p:nvSpPr>
          <p:cNvPr id="26" name="Text 24"/>
          <p:cNvSpPr/>
          <p:nvPr/>
        </p:nvSpPr>
        <p:spPr>
          <a:xfrm>
            <a:off x="320040" y="6473952"/>
            <a:ext cx="502920" cy="237744"/>
          </a:xfrm>
          <a:prstGeom prst="rect">
            <a:avLst/>
          </a:prstGeom>
          <a:noFill/>
          <a:ln/>
        </p:spPr>
        <p:txBody>
          <a:bodyPr wrap="square" lIns="0" tIns="0" rIns="0" bIns="0" rtlCol="0" anchor="ctr"/>
          <a:lstStyle/>
          <a:p>
            <a:pPr algn="ctr" indent="0" marL="0">
              <a:buNone/>
            </a:pPr>
            <a:r>
              <a:rPr lang="en-US" sz="900" b="1" spc="200" kern="0" dirty="0">
                <a:solidFill>
                  <a:srgbClr val="FFFFFF"/>
                </a:solidFill>
                <a:latin typeface="Calibri" pitchFamily="34" charset="0"/>
                <a:ea typeface="Calibri" pitchFamily="34" charset="-122"/>
                <a:cs typeface="Calibri" pitchFamily="34" charset="-120"/>
              </a:rPr>
              <a:t>DSG</a:t>
            </a:r>
            <a:endParaRPr lang="en-US" sz="900" dirty="0"/>
          </a:p>
        </p:txBody>
      </p:sp>
      <p:sp>
        <p:nvSpPr>
          <p:cNvPr id="27" name="Text 25"/>
          <p:cNvSpPr/>
          <p:nvPr/>
        </p:nvSpPr>
        <p:spPr>
          <a:xfrm>
            <a:off x="868680" y="6473952"/>
            <a:ext cx="2194560" cy="237744"/>
          </a:xfrm>
          <a:prstGeom prst="rect">
            <a:avLst/>
          </a:prstGeom>
          <a:noFill/>
          <a:ln/>
        </p:spPr>
        <p:txBody>
          <a:bodyPr wrap="square" lIns="0" tIns="0" rIns="0" bIns="0" rtlCol="0" anchor="ctr"/>
          <a:lstStyle/>
          <a:p>
            <a:pPr indent="0" marL="0">
              <a:buNone/>
            </a:pPr>
            <a:r>
              <a:rPr lang="en-US" sz="650" spc="200" kern="0" dirty="0">
                <a:solidFill>
                  <a:srgbClr val="6B6B6B"/>
                </a:solidFill>
                <a:latin typeface="Calibri" pitchFamily="34" charset="0"/>
                <a:ea typeface="Calibri" pitchFamily="34" charset="-122"/>
                <a:cs typeface="Calibri" pitchFamily="34" charset="-120"/>
              </a:rPr>
              <a:t>DIGITAL SOLUTIONS GROUP</a:t>
            </a:r>
            <a:endParaRPr lang="en-US" sz="650" dirty="0"/>
          </a:p>
        </p:txBody>
      </p:sp>
      <p:sp>
        <p:nvSpPr>
          <p:cNvPr id="28" name="Text 26"/>
          <p:cNvSpPr/>
          <p:nvPr/>
        </p:nvSpPr>
        <p:spPr>
          <a:xfrm>
            <a:off x="4754880" y="6473952"/>
            <a:ext cx="2743200" cy="237744"/>
          </a:xfrm>
          <a:prstGeom prst="rect">
            <a:avLst/>
          </a:prstGeom>
          <a:noFill/>
          <a:ln/>
        </p:spPr>
        <p:txBody>
          <a:bodyPr wrap="square" lIns="0" tIns="0" rIns="0" bIns="0" rtlCol="0" anchor="ctr"/>
          <a:lstStyle/>
          <a:p>
            <a:pPr algn="ctr" indent="0" marL="0">
              <a:buNone/>
            </a:pPr>
            <a:r>
              <a:rPr lang="en-US" sz="1100" b="1" dirty="0">
                <a:solidFill>
                  <a:srgbClr val="111111"/>
                </a:solidFill>
                <a:latin typeface="Calibri" pitchFamily="34" charset="0"/>
                <a:ea typeface="Calibri" pitchFamily="34" charset="-122"/>
                <a:cs typeface="Calibri" pitchFamily="34" charset="-120"/>
              </a:rPr>
              <a:t>digital</a:t>
            </a:r>
            <a:pPr algn="ctr" indent="0" marL="0">
              <a:buNone/>
            </a:pPr>
            <a:r>
              <a:rPr lang="en-US" sz="1100" b="1" dirty="0">
                <a:solidFill>
                  <a:srgbClr val="6B6B6B"/>
                </a:solidFill>
                <a:latin typeface="Calibri" pitchFamily="34" charset="0"/>
                <a:ea typeface="Calibri" pitchFamily="34" charset="-122"/>
                <a:cs typeface="Calibri" pitchFamily="34" charset="-120"/>
              </a:rPr>
              <a:t>mobile</a:t>
            </a:r>
            <a:endParaRPr lang="en-US" sz="1100" dirty="0"/>
          </a:p>
        </p:txBody>
      </p:sp>
      <p:sp>
        <p:nvSpPr>
          <p:cNvPr id="29" name="Shape 27"/>
          <p:cNvSpPr/>
          <p:nvPr/>
        </p:nvSpPr>
        <p:spPr>
          <a:xfrm>
            <a:off x="8595360" y="6519672"/>
            <a:ext cx="146304" cy="146304"/>
          </a:xfrm>
          <a:prstGeom prst="ellipse">
            <a:avLst/>
          </a:prstGeom>
          <a:solidFill>
            <a:srgbClr val="111111"/>
          </a:solidFill>
          <a:ln w="12700">
            <a:solidFill>
              <a:srgbClr val="111111"/>
            </a:solidFill>
            <a:prstDash val="solid"/>
          </a:ln>
        </p:spPr>
      </p:sp>
      <p:sp>
        <p:nvSpPr>
          <p:cNvPr id="30" name="Text 28"/>
          <p:cNvSpPr/>
          <p:nvPr/>
        </p:nvSpPr>
        <p:spPr>
          <a:xfrm>
            <a:off x="8778240" y="6473952"/>
            <a:ext cx="2194560" cy="237744"/>
          </a:xfrm>
          <a:prstGeom prst="rect">
            <a:avLst/>
          </a:prstGeom>
          <a:noFill/>
          <a:ln/>
        </p:spPr>
        <p:txBody>
          <a:bodyPr wrap="square" lIns="0" tIns="0" rIns="0" bIns="0" rtlCol="0" anchor="ctr"/>
          <a:lstStyle/>
          <a:p>
            <a:pPr indent="0" marL="0">
              <a:buNone/>
            </a:pPr>
            <a:r>
              <a:rPr lang="en-US" sz="900" i="1" dirty="0">
                <a:solidFill>
                  <a:srgbClr val="111111"/>
                </a:solidFill>
                <a:latin typeface="Calibri" pitchFamily="34" charset="0"/>
                <a:ea typeface="Calibri" pitchFamily="34" charset="-122"/>
                <a:cs typeface="Calibri" pitchFamily="34" charset="-120"/>
              </a:rPr>
              <a:t>#DoingSomethingGreat</a:t>
            </a:r>
            <a:endParaRPr lang="en-US" sz="900" dirty="0"/>
          </a:p>
        </p:txBody>
      </p:sp>
      <p:sp>
        <p:nvSpPr>
          <p:cNvPr id="31" name="Text 29"/>
          <p:cNvSpPr/>
          <p:nvPr/>
        </p:nvSpPr>
        <p:spPr>
          <a:xfrm>
            <a:off x="11002975" y="6473952"/>
            <a:ext cx="914400" cy="237744"/>
          </a:xfrm>
          <a:prstGeom prst="rect">
            <a:avLst/>
          </a:prstGeom>
          <a:noFill/>
          <a:ln/>
        </p:spPr>
        <p:txBody>
          <a:bodyPr wrap="square" lIns="0" tIns="0" rIns="0" bIns="0" rtlCol="0" anchor="ctr"/>
          <a:lstStyle/>
          <a:p>
            <a:pPr algn="r" indent="0" marL="0">
              <a:buNone/>
            </a:pPr>
            <a:r>
              <a:rPr lang="en-US" sz="800" dirty="0">
                <a:solidFill>
                  <a:srgbClr val="6B6B6B"/>
                </a:solidFill>
                <a:latin typeface="Calibri" pitchFamily="34" charset="0"/>
                <a:ea typeface="Calibri" pitchFamily="34" charset="-122"/>
                <a:cs typeface="Calibri" pitchFamily="34" charset="-120"/>
              </a:rPr>
              <a:t>04 / 20</a:t>
            </a:r>
            <a:endParaRPr lang="en-US" sz="800" dirty="0"/>
          </a:p>
        </p:txBody>
      </p:sp>
      <p:sp>
        <p:nvSpPr>
          <p:cNvPr id="32" name="Shape 30"/>
          <p:cNvSpPr/>
          <p:nvPr/>
        </p:nvSpPr>
        <p:spPr>
          <a:xfrm>
            <a:off x="502920" y="1828800"/>
            <a:ext cx="2926080" cy="4389120"/>
          </a:xfrm>
          <a:prstGeom prst="rect">
            <a:avLst/>
          </a:prstGeom>
          <a:solidFill>
            <a:srgbClr val="111111"/>
          </a:solidFill>
          <a:ln w="12700">
            <a:solidFill>
              <a:srgbClr val="111111"/>
            </a:solidFill>
            <a:prstDash val="solid"/>
          </a:ln>
        </p:spPr>
      </p:sp>
      <p:sp>
        <p:nvSpPr>
          <p:cNvPr id="33" name="Text 31"/>
          <p:cNvSpPr/>
          <p:nvPr/>
        </p:nvSpPr>
        <p:spPr>
          <a:xfrm>
            <a:off x="640080" y="1965960"/>
            <a:ext cx="2651760" cy="4114800"/>
          </a:xfrm>
          <a:prstGeom prst="rect">
            <a:avLst/>
          </a:prstGeom>
          <a:noFill/>
          <a:ln/>
        </p:spPr>
        <p:txBody>
          <a:bodyPr wrap="square" lIns="0" tIns="0" rIns="0" bIns="0" rtlCol="0" anchor="ctr"/>
          <a:lstStyle/>
          <a:p>
            <a:pPr indent="0" marL="0">
              <a:buNone/>
            </a:pPr>
            <a:r>
              <a:rPr lang="en-US" sz="2000" dirty="0">
                <a:solidFill>
                  <a:srgbClr val="FFFFFF"/>
                </a:solidFill>
                <a:latin typeface="Georgia" pitchFamily="34" charset="0"/>
                <a:ea typeface="Georgia" pitchFamily="34" charset="-122"/>
                <a:cs typeface="Georgia" pitchFamily="34" charset="-120"/>
              </a:rPr>
              <a:t>Six strategic reasons Arena becomes a mobile operator.</a:t>
            </a:r>
            <a:endParaRPr lang="en-US" sz="20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3657600" y="1828800"/>
          <a:ext cx="8229600" cy="914400"/>
        </p:xfrm>
        <a:graphic>
          <a:graphicData uri="http://schemas.openxmlformats.org/drawingml/2006/table">
            <a:tbl>
              <a:tblPr/>
              <a:tblGrid>
                <a:gridCol w="2743200"/>
                <a:gridCol w="5486400"/>
              </a:tblGrid>
              <a:tr h="594360">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Strategic Objective</a:t>
                      </a:r>
                      <a:endParaRPr lang="en-US" sz="1050" dirty="0">
                        <a:latin typeface="Calibri" charset="0"/>
                        <a:ea typeface="Calibri" charset="0"/>
                        <a:cs typeface="Calibri" charset="0"/>
                      </a:endParaRPr>
                    </a:p>
                  </a:txBody>
                  <a:tcPr marL="76200" marR="76200" marT="76200" marB="762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11111"/>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Description</a:t>
                      </a:r>
                      <a:endParaRPr lang="en-US" sz="1050" dirty="0">
                        <a:latin typeface="Calibri" charset="0"/>
                        <a:ea typeface="Calibri" charset="0"/>
                        <a:cs typeface="Calibri" charset="0"/>
                      </a:endParaRPr>
                    </a:p>
                  </a:txBody>
                  <a:tcPr marL="76200" marR="76200" marT="76200" marB="762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11111"/>
                    </a:solidFill>
                  </a:tcPr>
                </a:tc>
              </a:tr>
              <a:tr h="594360">
                <a:tc>
                  <a:txBody>
                    <a:bodyPr/>
                    <a:lstStyle/>
                    <a:p>
                      <a:pPr indent="0" marL="0">
                        <a:buNone/>
                      </a:pPr>
                      <a:r>
                        <a:rPr lang="en-US" sz="1100" b="1" dirty="0">
                          <a:solidFill>
                            <a:srgbClr val="111111"/>
                          </a:solidFill>
                          <a:latin typeface="Calibri" pitchFamily="34" charset="0"/>
                          <a:ea typeface="Calibri" pitchFamily="34" charset="-122"/>
                          <a:cs typeface="Calibri" pitchFamily="34" charset="-120"/>
                        </a:rPr>
                        <a:t>Non-traditional revenue growth</a:t>
                      </a:r>
                      <a:endParaRPr lang="en-US" sz="1100" dirty="0">
                        <a:latin typeface="Calibri" charset="0"/>
                        <a:ea typeface="Calibri" charset="0"/>
                        <a:cs typeface="Calibri" charset="0"/>
                      </a:endParaRPr>
                    </a:p>
                  </a:txBody>
                  <a:tcPr marL="76200" marR="76200" marT="76200" marB="762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100" dirty="0">
                          <a:solidFill>
                            <a:srgbClr val="444444"/>
                          </a:solidFill>
                          <a:latin typeface="Calibri" pitchFamily="34" charset="0"/>
                          <a:ea typeface="Calibri" pitchFamily="34" charset="-122"/>
                          <a:cs typeface="Calibri" pitchFamily="34" charset="-120"/>
                        </a:rPr>
                        <a:t>Adding telecoms diversifies the Arena revenue mix.</a:t>
                      </a:r>
                      <a:endParaRPr lang="en-US" sz="1100" dirty="0">
                        <a:latin typeface="Calibri" charset="0"/>
                        <a:ea typeface="Calibri" charset="0"/>
                        <a:cs typeface="Calibri" charset="0"/>
                      </a:endParaRPr>
                    </a:p>
                  </a:txBody>
                  <a:tcPr marL="76200" marR="76200" marT="76200" marB="762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r>
              <a:tr h="594360">
                <a:tc>
                  <a:txBody>
                    <a:bodyPr/>
                    <a:lstStyle/>
                    <a:p>
                      <a:pPr indent="0" marL="0">
                        <a:buNone/>
                      </a:pPr>
                      <a:r>
                        <a:rPr lang="en-US" sz="1100" b="1" dirty="0">
                          <a:solidFill>
                            <a:srgbClr val="111111"/>
                          </a:solidFill>
                          <a:latin typeface="Calibri" pitchFamily="34" charset="0"/>
                          <a:ea typeface="Calibri" pitchFamily="34" charset="-122"/>
                          <a:cs typeface="Calibri" pitchFamily="34" charset="-120"/>
                        </a:rPr>
                        <a:t>Driving core business revenue</a:t>
                      </a:r>
                      <a:endParaRPr lang="en-US" sz="1100" dirty="0">
                        <a:latin typeface="Calibri" charset="0"/>
                        <a:ea typeface="Calibri" charset="0"/>
                        <a:cs typeface="Calibri" charset="0"/>
                      </a:endParaRPr>
                    </a:p>
                  </a:txBody>
                  <a:tcPr marL="76200" marR="76200" marT="76200" marB="762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5F5F5"/>
                    </a:solidFill>
                  </a:tcPr>
                </a:tc>
                <a:tc>
                  <a:txBody>
                    <a:bodyPr/>
                    <a:lstStyle/>
                    <a:p>
                      <a:pPr indent="0" marL="0">
                        <a:buNone/>
                      </a:pPr>
                      <a:r>
                        <a:rPr lang="en-US" sz="1100" dirty="0">
                          <a:solidFill>
                            <a:srgbClr val="444444"/>
                          </a:solidFill>
                          <a:latin typeface="Calibri" pitchFamily="34" charset="0"/>
                          <a:ea typeface="Calibri" pitchFamily="34" charset="-122"/>
                          <a:cs typeface="Calibri" pitchFamily="34" charset="-120"/>
                        </a:rPr>
                        <a:t>MVNO activity drives uptake of Arena's core titles and broadcast.</a:t>
                      </a:r>
                      <a:endParaRPr lang="en-US" sz="1100" dirty="0">
                        <a:latin typeface="Calibri" charset="0"/>
                        <a:ea typeface="Calibri" charset="0"/>
                        <a:cs typeface="Calibri" charset="0"/>
                      </a:endParaRPr>
                    </a:p>
                  </a:txBody>
                  <a:tcPr marL="76200" marR="76200" marT="76200" marB="762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5F5F5"/>
                    </a:solidFill>
                  </a:tcPr>
                </a:tc>
              </a:tr>
              <a:tr h="594360">
                <a:tc>
                  <a:txBody>
                    <a:bodyPr/>
                    <a:lstStyle/>
                    <a:p>
                      <a:pPr indent="0" marL="0">
                        <a:buNone/>
                      </a:pPr>
                      <a:r>
                        <a:rPr lang="en-US" sz="1100" b="1" dirty="0">
                          <a:solidFill>
                            <a:srgbClr val="111111"/>
                          </a:solidFill>
                          <a:latin typeface="Calibri" pitchFamily="34" charset="0"/>
                          <a:ea typeface="Calibri" pitchFamily="34" charset="-122"/>
                          <a:cs typeface="Calibri" pitchFamily="34" charset="-120"/>
                        </a:rPr>
                        <a:t>Defensive positioning against disruption</a:t>
                      </a:r>
                      <a:endParaRPr lang="en-US" sz="1100" dirty="0">
                        <a:latin typeface="Calibri" charset="0"/>
                        <a:ea typeface="Calibri" charset="0"/>
                        <a:cs typeface="Calibri" charset="0"/>
                      </a:endParaRPr>
                    </a:p>
                  </a:txBody>
                  <a:tcPr marL="76200" marR="76200" marT="76200" marB="762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100" dirty="0">
                          <a:solidFill>
                            <a:srgbClr val="444444"/>
                          </a:solidFill>
                          <a:latin typeface="Calibri" pitchFamily="34" charset="0"/>
                          <a:ea typeface="Calibri" pitchFamily="34" charset="-122"/>
                          <a:cs typeface="Calibri" pitchFamily="34" charset="-120"/>
                        </a:rPr>
                        <a:t>Owning the telecoms value chain unlocks digital innovation.</a:t>
                      </a:r>
                      <a:endParaRPr lang="en-US" sz="1100" dirty="0">
                        <a:latin typeface="Calibri" charset="0"/>
                        <a:ea typeface="Calibri" charset="0"/>
                        <a:cs typeface="Calibri" charset="0"/>
                      </a:endParaRPr>
                    </a:p>
                  </a:txBody>
                  <a:tcPr marL="76200" marR="76200" marT="76200" marB="762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r>
              <a:tr h="594360">
                <a:tc>
                  <a:txBody>
                    <a:bodyPr/>
                    <a:lstStyle/>
                    <a:p>
                      <a:pPr indent="0" marL="0">
                        <a:buNone/>
                      </a:pPr>
                      <a:r>
                        <a:rPr lang="en-US" sz="1100" b="1" dirty="0">
                          <a:solidFill>
                            <a:srgbClr val="111111"/>
                          </a:solidFill>
                          <a:latin typeface="Calibri" pitchFamily="34" charset="0"/>
                          <a:ea typeface="Calibri" pitchFamily="34" charset="-122"/>
                          <a:cs typeface="Calibri" pitchFamily="34" charset="-120"/>
                        </a:rPr>
                        <a:t>Improved customer understanding</a:t>
                      </a:r>
                      <a:endParaRPr lang="en-US" sz="1100" dirty="0">
                        <a:latin typeface="Calibri" charset="0"/>
                        <a:ea typeface="Calibri" charset="0"/>
                        <a:cs typeface="Calibri" charset="0"/>
                      </a:endParaRPr>
                    </a:p>
                  </a:txBody>
                  <a:tcPr marL="76200" marR="76200" marT="76200" marB="762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5F5F5"/>
                    </a:solidFill>
                  </a:tcPr>
                </a:tc>
                <a:tc>
                  <a:txBody>
                    <a:bodyPr/>
                    <a:lstStyle/>
                    <a:p>
                      <a:pPr indent="0" marL="0">
                        <a:buNone/>
                      </a:pPr>
                      <a:r>
                        <a:rPr lang="en-US" sz="1100" dirty="0">
                          <a:solidFill>
                            <a:srgbClr val="444444"/>
                          </a:solidFill>
                          <a:latin typeface="Calibri" pitchFamily="34" charset="0"/>
                          <a:ea typeface="Calibri" pitchFamily="34" charset="-122"/>
                          <a:cs typeface="Calibri" pitchFamily="34" charset="-120"/>
                        </a:rPr>
                        <a:t>Passive data from the SIM builds rich behavioural datasets.</a:t>
                      </a:r>
                      <a:endParaRPr lang="en-US" sz="1100" dirty="0">
                        <a:latin typeface="Calibri" charset="0"/>
                        <a:ea typeface="Calibri" charset="0"/>
                        <a:cs typeface="Calibri" charset="0"/>
                      </a:endParaRPr>
                    </a:p>
                  </a:txBody>
                  <a:tcPr marL="76200" marR="76200" marT="76200" marB="762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5F5F5"/>
                    </a:solidFill>
                  </a:tcPr>
                </a:tc>
              </a:tr>
              <a:tr h="594360">
                <a:tc>
                  <a:txBody>
                    <a:bodyPr/>
                    <a:lstStyle/>
                    <a:p>
                      <a:pPr indent="0" marL="0">
                        <a:buNone/>
                      </a:pPr>
                      <a:r>
                        <a:rPr lang="en-US" sz="1100" b="1" dirty="0">
                          <a:solidFill>
                            <a:srgbClr val="111111"/>
                          </a:solidFill>
                          <a:latin typeface="Calibri" pitchFamily="34" charset="0"/>
                          <a:ea typeface="Calibri" pitchFamily="34" charset="-122"/>
                          <a:cs typeface="Calibri" pitchFamily="34" charset="-120"/>
                        </a:rPr>
                        <a:t>Improved engagement &amp; retention</a:t>
                      </a:r>
                      <a:endParaRPr lang="en-US" sz="1100" dirty="0">
                        <a:latin typeface="Calibri" charset="0"/>
                        <a:ea typeface="Calibri" charset="0"/>
                        <a:cs typeface="Calibri" charset="0"/>
                      </a:endParaRPr>
                    </a:p>
                  </a:txBody>
                  <a:tcPr marL="76200" marR="76200" marT="76200" marB="762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100" dirty="0">
                          <a:solidFill>
                            <a:srgbClr val="444444"/>
                          </a:solidFill>
                          <a:latin typeface="Calibri" pitchFamily="34" charset="0"/>
                          <a:ea typeface="Calibri" pitchFamily="34" charset="-122"/>
                          <a:cs typeface="Calibri" pitchFamily="34" charset="-120"/>
                        </a:rPr>
                        <a:t>Digital improves experience and retention across group companies.</a:t>
                      </a:r>
                      <a:endParaRPr lang="en-US" sz="1100" dirty="0">
                        <a:latin typeface="Calibri" charset="0"/>
                        <a:ea typeface="Calibri" charset="0"/>
                        <a:cs typeface="Calibri" charset="0"/>
                      </a:endParaRPr>
                    </a:p>
                  </a:txBody>
                  <a:tcPr marL="76200" marR="76200" marT="76200" marB="762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r>
              <a:tr h="594360">
                <a:tc>
                  <a:txBody>
                    <a:bodyPr/>
                    <a:lstStyle/>
                    <a:p>
                      <a:pPr indent="0" marL="0">
                        <a:buNone/>
                      </a:pPr>
                      <a:r>
                        <a:rPr lang="en-US" sz="1100" b="1" dirty="0">
                          <a:solidFill>
                            <a:srgbClr val="111111"/>
                          </a:solidFill>
                          <a:latin typeface="Calibri" pitchFamily="34" charset="0"/>
                          <a:ea typeface="Calibri" pitchFamily="34" charset="-122"/>
                          <a:cs typeface="Calibri" pitchFamily="34" charset="-120"/>
                        </a:rPr>
                        <a:t>Lower cost-to-serve, higher profit</a:t>
                      </a:r>
                      <a:endParaRPr lang="en-US" sz="1100" dirty="0">
                        <a:latin typeface="Calibri" charset="0"/>
                        <a:ea typeface="Calibri" charset="0"/>
                        <a:cs typeface="Calibri" charset="0"/>
                      </a:endParaRPr>
                    </a:p>
                  </a:txBody>
                  <a:tcPr marL="76200" marR="76200" marT="76200" marB="762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5F5F5"/>
                    </a:solidFill>
                  </a:tcPr>
                </a:tc>
                <a:tc>
                  <a:txBody>
                    <a:bodyPr/>
                    <a:lstStyle/>
                    <a:p>
                      <a:pPr indent="0" marL="0">
                        <a:buNone/>
                      </a:pPr>
                      <a:r>
                        <a:rPr lang="en-US" sz="1100" dirty="0">
                          <a:solidFill>
                            <a:srgbClr val="444444"/>
                          </a:solidFill>
                          <a:latin typeface="Calibri" pitchFamily="34" charset="0"/>
                          <a:ea typeface="Calibri" pitchFamily="34" charset="-122"/>
                          <a:cs typeface="Calibri" pitchFamily="34" charset="-120"/>
                        </a:rPr>
                        <a:t>Self-service digital channels and converged propositions cut OpEx.</a:t>
                      </a:r>
                      <a:endParaRPr lang="en-US" sz="1100" dirty="0">
                        <a:latin typeface="Calibri" charset="0"/>
                        <a:ea typeface="Calibri" charset="0"/>
                        <a:cs typeface="Calibri" charset="0"/>
                      </a:endParaRPr>
                    </a:p>
                  </a:txBody>
                  <a:tcPr marL="76200" marR="76200" marT="76200" marB="762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5F5F5"/>
                    </a:solidFill>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20040" y="182880"/>
            <a:ext cx="1417320" cy="438912"/>
          </a:xfrm>
          <a:prstGeom prst="rect">
            <a:avLst/>
          </a:prstGeom>
          <a:solidFill>
            <a:srgbClr val="111111"/>
          </a:solidFill>
          <a:ln w="12700">
            <a:solidFill>
              <a:srgbClr val="111111"/>
            </a:solidFill>
            <a:prstDash val="solid"/>
          </a:ln>
        </p:spPr>
      </p:sp>
      <p:sp>
        <p:nvSpPr>
          <p:cNvPr id="3" name="Text 1"/>
          <p:cNvSpPr/>
          <p:nvPr/>
        </p:nvSpPr>
        <p:spPr>
          <a:xfrm>
            <a:off x="320040" y="182880"/>
            <a:ext cx="1417320" cy="438912"/>
          </a:xfrm>
          <a:prstGeom prst="rect">
            <a:avLst/>
          </a:prstGeom>
          <a:noFill/>
          <a:ln/>
        </p:spPr>
        <p:txBody>
          <a:bodyPr wrap="square" lIns="0" tIns="0" rIns="0" bIns="0" rtlCol="0" anchor="ctr"/>
          <a:lstStyle/>
          <a:p>
            <a:pPr algn="ctr" indent="0" marL="0">
              <a:buNone/>
            </a:pPr>
            <a:r>
              <a:rPr lang="en-US" sz="1500" b="1" spc="400" kern="0" dirty="0">
                <a:solidFill>
                  <a:srgbClr val="FFFFFF"/>
                </a:solidFill>
                <a:latin typeface="Calibri" pitchFamily="34" charset="0"/>
                <a:ea typeface="Calibri" pitchFamily="34" charset="-122"/>
                <a:cs typeface="Calibri" pitchFamily="34" charset="-120"/>
              </a:rPr>
              <a:t>ARENA
</a:t>
            </a:r>
            <a:pPr algn="ctr" indent="0" marL="0">
              <a:buNone/>
            </a:pPr>
            <a:r>
              <a:rPr lang="en-US" sz="600" spc="400" kern="0" dirty="0">
                <a:solidFill>
                  <a:srgbClr val="FFFFFF"/>
                </a:solidFill>
                <a:latin typeface="Calibri" pitchFamily="34" charset="0"/>
                <a:ea typeface="Calibri" pitchFamily="34" charset="-122"/>
                <a:cs typeface="Calibri" pitchFamily="34" charset="-120"/>
              </a:rPr>
              <a:t>H O L D I N G S</a:t>
            </a:r>
            <a:endParaRPr lang="en-US" sz="1500" dirty="0"/>
          </a:p>
        </p:txBody>
      </p:sp>
      <p:sp>
        <p:nvSpPr>
          <p:cNvPr id="4" name="Shape 2"/>
          <p:cNvSpPr/>
          <p:nvPr/>
        </p:nvSpPr>
        <p:spPr>
          <a:xfrm>
            <a:off x="9677095" y="246888"/>
            <a:ext cx="201168" cy="201168"/>
          </a:xfrm>
          <a:prstGeom prst="ellipse">
            <a:avLst/>
          </a:prstGeom>
          <a:solidFill>
            <a:srgbClr val="111111"/>
          </a:solidFill>
          <a:ln w="12700">
            <a:solidFill>
              <a:srgbClr val="111111"/>
            </a:solidFill>
            <a:prstDash val="solid"/>
          </a:ln>
        </p:spPr>
      </p:sp>
      <p:sp>
        <p:nvSpPr>
          <p:cNvPr id="5" name="Text 3"/>
          <p:cNvSpPr/>
          <p:nvPr/>
        </p:nvSpPr>
        <p:spPr>
          <a:xfrm>
            <a:off x="9923983" y="210312"/>
            <a:ext cx="2011680" cy="274320"/>
          </a:xfrm>
          <a:prstGeom prst="rect">
            <a:avLst/>
          </a:prstGeom>
          <a:noFill/>
          <a:ln/>
        </p:spPr>
        <p:txBody>
          <a:bodyPr wrap="square" lIns="0" tIns="0" rIns="0" bIns="0" rtlCol="0" anchor="ctr"/>
          <a:lstStyle/>
          <a:p>
            <a:pPr algn="l" indent="0" marL="0">
              <a:buNone/>
            </a:pPr>
            <a:r>
              <a:rPr lang="en-US" sz="1000" b="1" i="1" dirty="0">
                <a:solidFill>
                  <a:srgbClr val="111111"/>
                </a:solidFill>
                <a:latin typeface="Calibri" pitchFamily="34" charset="0"/>
                <a:ea typeface="Calibri" pitchFamily="34" charset="-122"/>
                <a:cs typeface="Calibri" pitchFamily="34" charset="-120"/>
              </a:rPr>
              <a:t>#DoingSomethingGreat</a:t>
            </a:r>
            <a:endParaRPr lang="en-US" sz="1000" dirty="0"/>
          </a:p>
        </p:txBody>
      </p:sp>
      <p:sp>
        <p:nvSpPr>
          <p:cNvPr id="6" name="Shape 4"/>
          <p:cNvSpPr/>
          <p:nvPr/>
        </p:nvSpPr>
        <p:spPr>
          <a:xfrm>
            <a:off x="5973775" y="0"/>
            <a:ext cx="6217920" cy="1463040"/>
          </a:xfrm>
          <a:prstGeom prst="rect">
            <a:avLst/>
          </a:prstGeom>
          <a:solidFill>
            <a:srgbClr val="F5F5F5"/>
          </a:solidFill>
          <a:ln w="12700">
            <a:solidFill>
              <a:srgbClr val="F5F5F5"/>
            </a:solidFill>
            <a:prstDash val="solid"/>
          </a:ln>
        </p:spPr>
      </p:sp>
      <p:sp>
        <p:nvSpPr>
          <p:cNvPr id="7" name="Shape 5"/>
          <p:cNvSpPr/>
          <p:nvPr/>
        </p:nvSpPr>
        <p:spPr>
          <a:xfrm>
            <a:off x="6248095" y="0"/>
            <a:ext cx="-1280160" cy="1280160"/>
          </a:xfrm>
          <a:prstGeom prst="line">
            <a:avLst/>
          </a:prstGeom>
          <a:noFill/>
          <a:ln w="9525">
            <a:solidFill>
              <a:srgbClr val="EDEDED"/>
            </a:solidFill>
            <a:prstDash val="solid"/>
          </a:ln>
        </p:spPr>
      </p:sp>
      <p:sp>
        <p:nvSpPr>
          <p:cNvPr id="8" name="Shape 6"/>
          <p:cNvSpPr/>
          <p:nvPr/>
        </p:nvSpPr>
        <p:spPr>
          <a:xfrm>
            <a:off x="6659575" y="0"/>
            <a:ext cx="-1280160" cy="1280160"/>
          </a:xfrm>
          <a:prstGeom prst="line">
            <a:avLst/>
          </a:prstGeom>
          <a:noFill/>
          <a:ln w="9525">
            <a:solidFill>
              <a:srgbClr val="EDEDED"/>
            </a:solidFill>
            <a:prstDash val="solid"/>
          </a:ln>
        </p:spPr>
      </p:sp>
      <p:sp>
        <p:nvSpPr>
          <p:cNvPr id="9" name="Shape 7"/>
          <p:cNvSpPr/>
          <p:nvPr/>
        </p:nvSpPr>
        <p:spPr>
          <a:xfrm>
            <a:off x="7071055" y="0"/>
            <a:ext cx="-1280160" cy="1280160"/>
          </a:xfrm>
          <a:prstGeom prst="line">
            <a:avLst/>
          </a:prstGeom>
          <a:noFill/>
          <a:ln w="9525">
            <a:solidFill>
              <a:srgbClr val="EDEDED"/>
            </a:solidFill>
            <a:prstDash val="solid"/>
          </a:ln>
        </p:spPr>
      </p:sp>
      <p:sp>
        <p:nvSpPr>
          <p:cNvPr id="10" name="Shape 8"/>
          <p:cNvSpPr/>
          <p:nvPr/>
        </p:nvSpPr>
        <p:spPr>
          <a:xfrm>
            <a:off x="7482535" y="0"/>
            <a:ext cx="-1280160" cy="1280160"/>
          </a:xfrm>
          <a:prstGeom prst="line">
            <a:avLst/>
          </a:prstGeom>
          <a:noFill/>
          <a:ln w="9525">
            <a:solidFill>
              <a:srgbClr val="EDEDED"/>
            </a:solidFill>
            <a:prstDash val="solid"/>
          </a:ln>
        </p:spPr>
      </p:sp>
      <p:sp>
        <p:nvSpPr>
          <p:cNvPr id="11" name="Shape 9"/>
          <p:cNvSpPr/>
          <p:nvPr/>
        </p:nvSpPr>
        <p:spPr>
          <a:xfrm>
            <a:off x="7894015" y="0"/>
            <a:ext cx="-1280160" cy="1280160"/>
          </a:xfrm>
          <a:prstGeom prst="line">
            <a:avLst/>
          </a:prstGeom>
          <a:noFill/>
          <a:ln w="9525">
            <a:solidFill>
              <a:srgbClr val="EDEDED"/>
            </a:solidFill>
            <a:prstDash val="solid"/>
          </a:ln>
        </p:spPr>
      </p:sp>
      <p:sp>
        <p:nvSpPr>
          <p:cNvPr id="12" name="Shape 10"/>
          <p:cNvSpPr/>
          <p:nvPr/>
        </p:nvSpPr>
        <p:spPr>
          <a:xfrm>
            <a:off x="8305495" y="0"/>
            <a:ext cx="-1280160" cy="1280160"/>
          </a:xfrm>
          <a:prstGeom prst="line">
            <a:avLst/>
          </a:prstGeom>
          <a:noFill/>
          <a:ln w="9525">
            <a:solidFill>
              <a:srgbClr val="EDEDED"/>
            </a:solidFill>
            <a:prstDash val="solid"/>
          </a:ln>
        </p:spPr>
      </p:sp>
      <p:sp>
        <p:nvSpPr>
          <p:cNvPr id="13" name="Shape 11"/>
          <p:cNvSpPr/>
          <p:nvPr/>
        </p:nvSpPr>
        <p:spPr>
          <a:xfrm>
            <a:off x="8716975" y="0"/>
            <a:ext cx="-1280160" cy="1280160"/>
          </a:xfrm>
          <a:prstGeom prst="line">
            <a:avLst/>
          </a:prstGeom>
          <a:noFill/>
          <a:ln w="9525">
            <a:solidFill>
              <a:srgbClr val="EDEDED"/>
            </a:solidFill>
            <a:prstDash val="solid"/>
          </a:ln>
        </p:spPr>
      </p:sp>
      <p:sp>
        <p:nvSpPr>
          <p:cNvPr id="14" name="Shape 12"/>
          <p:cNvSpPr/>
          <p:nvPr/>
        </p:nvSpPr>
        <p:spPr>
          <a:xfrm>
            <a:off x="9128455" y="0"/>
            <a:ext cx="-1280160" cy="1280160"/>
          </a:xfrm>
          <a:prstGeom prst="line">
            <a:avLst/>
          </a:prstGeom>
          <a:noFill/>
          <a:ln w="9525">
            <a:solidFill>
              <a:srgbClr val="EDEDED"/>
            </a:solidFill>
            <a:prstDash val="solid"/>
          </a:ln>
        </p:spPr>
      </p:sp>
      <p:sp>
        <p:nvSpPr>
          <p:cNvPr id="15" name="Shape 13"/>
          <p:cNvSpPr/>
          <p:nvPr/>
        </p:nvSpPr>
        <p:spPr>
          <a:xfrm>
            <a:off x="9539935" y="0"/>
            <a:ext cx="-1280160" cy="1280160"/>
          </a:xfrm>
          <a:prstGeom prst="line">
            <a:avLst/>
          </a:prstGeom>
          <a:noFill/>
          <a:ln w="9525">
            <a:solidFill>
              <a:srgbClr val="EDEDED"/>
            </a:solidFill>
            <a:prstDash val="solid"/>
          </a:ln>
        </p:spPr>
      </p:sp>
      <p:sp>
        <p:nvSpPr>
          <p:cNvPr id="16" name="Shape 14"/>
          <p:cNvSpPr/>
          <p:nvPr/>
        </p:nvSpPr>
        <p:spPr>
          <a:xfrm>
            <a:off x="9951415" y="0"/>
            <a:ext cx="-1280160" cy="1280160"/>
          </a:xfrm>
          <a:prstGeom prst="line">
            <a:avLst/>
          </a:prstGeom>
          <a:noFill/>
          <a:ln w="9525">
            <a:solidFill>
              <a:srgbClr val="EDEDED"/>
            </a:solidFill>
            <a:prstDash val="solid"/>
          </a:ln>
        </p:spPr>
      </p:sp>
      <p:sp>
        <p:nvSpPr>
          <p:cNvPr id="17" name="Shape 15"/>
          <p:cNvSpPr/>
          <p:nvPr/>
        </p:nvSpPr>
        <p:spPr>
          <a:xfrm>
            <a:off x="10362895" y="0"/>
            <a:ext cx="-1280160" cy="1280160"/>
          </a:xfrm>
          <a:prstGeom prst="line">
            <a:avLst/>
          </a:prstGeom>
          <a:noFill/>
          <a:ln w="9525">
            <a:solidFill>
              <a:srgbClr val="EDEDED"/>
            </a:solidFill>
            <a:prstDash val="solid"/>
          </a:ln>
        </p:spPr>
      </p:sp>
      <p:sp>
        <p:nvSpPr>
          <p:cNvPr id="18" name="Shape 16"/>
          <p:cNvSpPr/>
          <p:nvPr/>
        </p:nvSpPr>
        <p:spPr>
          <a:xfrm>
            <a:off x="10774375" y="0"/>
            <a:ext cx="-1280160" cy="1280160"/>
          </a:xfrm>
          <a:prstGeom prst="line">
            <a:avLst/>
          </a:prstGeom>
          <a:noFill/>
          <a:ln w="9525">
            <a:solidFill>
              <a:srgbClr val="EDEDED"/>
            </a:solidFill>
            <a:prstDash val="solid"/>
          </a:ln>
        </p:spPr>
      </p:sp>
      <p:sp>
        <p:nvSpPr>
          <p:cNvPr id="19" name="Shape 17"/>
          <p:cNvSpPr/>
          <p:nvPr/>
        </p:nvSpPr>
        <p:spPr>
          <a:xfrm>
            <a:off x="11185855" y="0"/>
            <a:ext cx="-1280160" cy="1280160"/>
          </a:xfrm>
          <a:prstGeom prst="line">
            <a:avLst/>
          </a:prstGeom>
          <a:noFill/>
          <a:ln w="9525">
            <a:solidFill>
              <a:srgbClr val="EDEDED"/>
            </a:solidFill>
            <a:prstDash val="solid"/>
          </a:ln>
        </p:spPr>
      </p:sp>
      <p:sp>
        <p:nvSpPr>
          <p:cNvPr id="20" name="Shape 18"/>
          <p:cNvSpPr/>
          <p:nvPr/>
        </p:nvSpPr>
        <p:spPr>
          <a:xfrm>
            <a:off x="11597335" y="0"/>
            <a:ext cx="-1280160" cy="1280160"/>
          </a:xfrm>
          <a:prstGeom prst="line">
            <a:avLst/>
          </a:prstGeom>
          <a:noFill/>
          <a:ln w="9525">
            <a:solidFill>
              <a:srgbClr val="EDEDED"/>
            </a:solidFill>
            <a:prstDash val="solid"/>
          </a:ln>
        </p:spPr>
      </p:sp>
      <p:sp>
        <p:nvSpPr>
          <p:cNvPr id="21" name="Shape 19"/>
          <p:cNvSpPr/>
          <p:nvPr/>
        </p:nvSpPr>
        <p:spPr>
          <a:xfrm>
            <a:off x="320040" y="1481328"/>
            <a:ext cx="11551615" cy="0"/>
          </a:xfrm>
          <a:prstGeom prst="line">
            <a:avLst/>
          </a:prstGeom>
          <a:noFill/>
          <a:ln w="15875">
            <a:solidFill>
              <a:srgbClr val="111111"/>
            </a:solidFill>
            <a:prstDash val="solid"/>
          </a:ln>
        </p:spPr>
      </p:sp>
      <p:sp>
        <p:nvSpPr>
          <p:cNvPr id="22" name="Text 20"/>
          <p:cNvSpPr/>
          <p:nvPr/>
        </p:nvSpPr>
        <p:spPr>
          <a:xfrm>
            <a:off x="5486400" y="292608"/>
            <a:ext cx="6309360" cy="685800"/>
          </a:xfrm>
          <a:prstGeom prst="rect">
            <a:avLst/>
          </a:prstGeom>
          <a:noFill/>
          <a:ln/>
        </p:spPr>
        <p:txBody>
          <a:bodyPr wrap="square" lIns="0" tIns="0" rIns="0" bIns="0" rtlCol="0" anchor="ctr"/>
          <a:lstStyle/>
          <a:p>
            <a:pPr algn="r" indent="0" marL="0">
              <a:buNone/>
            </a:pPr>
            <a:r>
              <a:rPr lang="en-US" sz="2600" b="1" dirty="0">
                <a:solidFill>
                  <a:srgbClr val="111111"/>
                </a:solidFill>
                <a:latin typeface="Calibri" pitchFamily="34" charset="0"/>
                <a:ea typeface="Calibri" pitchFamily="34" charset="-122"/>
                <a:cs typeface="Calibri" pitchFamily="34" charset="-120"/>
              </a:rPr>
              <a:t>What makes an MVNO successful</a:t>
            </a:r>
            <a:endParaRPr lang="en-US" sz="2600" dirty="0"/>
          </a:p>
        </p:txBody>
      </p:sp>
      <p:sp>
        <p:nvSpPr>
          <p:cNvPr id="23" name="Text 21"/>
          <p:cNvSpPr/>
          <p:nvPr/>
        </p:nvSpPr>
        <p:spPr>
          <a:xfrm>
            <a:off x="5486400" y="960120"/>
            <a:ext cx="6309360" cy="365760"/>
          </a:xfrm>
          <a:prstGeom prst="rect">
            <a:avLst/>
          </a:prstGeom>
          <a:noFill/>
          <a:ln/>
        </p:spPr>
        <p:txBody>
          <a:bodyPr wrap="square" lIns="0" tIns="0" rIns="0" bIns="0" rtlCol="0" anchor="ctr"/>
          <a:lstStyle/>
          <a:p>
            <a:pPr algn="r" indent="0" marL="0">
              <a:buNone/>
            </a:pPr>
            <a:r>
              <a:rPr lang="en-US" sz="1200" i="1" dirty="0">
                <a:solidFill>
                  <a:srgbClr val="6B6B6B"/>
                </a:solidFill>
                <a:latin typeface="Calibri" pitchFamily="34" charset="0"/>
                <a:ea typeface="Calibri" pitchFamily="34" charset="-122"/>
                <a:cs typeface="Calibri" pitchFamily="34" charset="-120"/>
              </a:rPr>
              <a:t>Risks inherent in becoming an MVNO</a:t>
            </a:r>
            <a:endParaRPr lang="en-US" sz="1200" dirty="0"/>
          </a:p>
        </p:txBody>
      </p:sp>
      <p:sp>
        <p:nvSpPr>
          <p:cNvPr id="24" name="Shape 22"/>
          <p:cNvSpPr/>
          <p:nvPr/>
        </p:nvSpPr>
        <p:spPr>
          <a:xfrm>
            <a:off x="320040" y="6355080"/>
            <a:ext cx="11551615" cy="0"/>
          </a:xfrm>
          <a:prstGeom prst="line">
            <a:avLst/>
          </a:prstGeom>
          <a:noFill/>
          <a:ln w="6350">
            <a:solidFill>
              <a:srgbClr val="BFBFBF"/>
            </a:solidFill>
            <a:prstDash val="solid"/>
          </a:ln>
        </p:spPr>
      </p:sp>
      <p:sp>
        <p:nvSpPr>
          <p:cNvPr id="25" name="Shape 23"/>
          <p:cNvSpPr/>
          <p:nvPr/>
        </p:nvSpPr>
        <p:spPr>
          <a:xfrm>
            <a:off x="320040" y="6473952"/>
            <a:ext cx="502920" cy="237744"/>
          </a:xfrm>
          <a:prstGeom prst="rect">
            <a:avLst/>
          </a:prstGeom>
          <a:solidFill>
            <a:srgbClr val="111111"/>
          </a:solidFill>
          <a:ln w="12700">
            <a:solidFill>
              <a:srgbClr val="111111"/>
            </a:solidFill>
            <a:prstDash val="solid"/>
          </a:ln>
        </p:spPr>
      </p:sp>
      <p:sp>
        <p:nvSpPr>
          <p:cNvPr id="26" name="Text 24"/>
          <p:cNvSpPr/>
          <p:nvPr/>
        </p:nvSpPr>
        <p:spPr>
          <a:xfrm>
            <a:off x="320040" y="6473952"/>
            <a:ext cx="502920" cy="237744"/>
          </a:xfrm>
          <a:prstGeom prst="rect">
            <a:avLst/>
          </a:prstGeom>
          <a:noFill/>
          <a:ln/>
        </p:spPr>
        <p:txBody>
          <a:bodyPr wrap="square" lIns="0" tIns="0" rIns="0" bIns="0" rtlCol="0" anchor="ctr"/>
          <a:lstStyle/>
          <a:p>
            <a:pPr algn="ctr" indent="0" marL="0">
              <a:buNone/>
            </a:pPr>
            <a:r>
              <a:rPr lang="en-US" sz="900" b="1" spc="200" kern="0" dirty="0">
                <a:solidFill>
                  <a:srgbClr val="FFFFFF"/>
                </a:solidFill>
                <a:latin typeface="Calibri" pitchFamily="34" charset="0"/>
                <a:ea typeface="Calibri" pitchFamily="34" charset="-122"/>
                <a:cs typeface="Calibri" pitchFamily="34" charset="-120"/>
              </a:rPr>
              <a:t>DSG</a:t>
            </a:r>
            <a:endParaRPr lang="en-US" sz="900" dirty="0"/>
          </a:p>
        </p:txBody>
      </p:sp>
      <p:sp>
        <p:nvSpPr>
          <p:cNvPr id="27" name="Text 25"/>
          <p:cNvSpPr/>
          <p:nvPr/>
        </p:nvSpPr>
        <p:spPr>
          <a:xfrm>
            <a:off x="868680" y="6473952"/>
            <a:ext cx="2194560" cy="237744"/>
          </a:xfrm>
          <a:prstGeom prst="rect">
            <a:avLst/>
          </a:prstGeom>
          <a:noFill/>
          <a:ln/>
        </p:spPr>
        <p:txBody>
          <a:bodyPr wrap="square" lIns="0" tIns="0" rIns="0" bIns="0" rtlCol="0" anchor="ctr"/>
          <a:lstStyle/>
          <a:p>
            <a:pPr indent="0" marL="0">
              <a:buNone/>
            </a:pPr>
            <a:r>
              <a:rPr lang="en-US" sz="650" spc="200" kern="0" dirty="0">
                <a:solidFill>
                  <a:srgbClr val="6B6B6B"/>
                </a:solidFill>
                <a:latin typeface="Calibri" pitchFamily="34" charset="0"/>
                <a:ea typeface="Calibri" pitchFamily="34" charset="-122"/>
                <a:cs typeface="Calibri" pitchFamily="34" charset="-120"/>
              </a:rPr>
              <a:t>DIGITAL SOLUTIONS GROUP</a:t>
            </a:r>
            <a:endParaRPr lang="en-US" sz="650" dirty="0"/>
          </a:p>
        </p:txBody>
      </p:sp>
      <p:sp>
        <p:nvSpPr>
          <p:cNvPr id="28" name="Text 26"/>
          <p:cNvSpPr/>
          <p:nvPr/>
        </p:nvSpPr>
        <p:spPr>
          <a:xfrm>
            <a:off x="4754880" y="6473952"/>
            <a:ext cx="2743200" cy="237744"/>
          </a:xfrm>
          <a:prstGeom prst="rect">
            <a:avLst/>
          </a:prstGeom>
          <a:noFill/>
          <a:ln/>
        </p:spPr>
        <p:txBody>
          <a:bodyPr wrap="square" lIns="0" tIns="0" rIns="0" bIns="0" rtlCol="0" anchor="ctr"/>
          <a:lstStyle/>
          <a:p>
            <a:pPr algn="ctr" indent="0" marL="0">
              <a:buNone/>
            </a:pPr>
            <a:r>
              <a:rPr lang="en-US" sz="1100" b="1" dirty="0">
                <a:solidFill>
                  <a:srgbClr val="111111"/>
                </a:solidFill>
                <a:latin typeface="Calibri" pitchFamily="34" charset="0"/>
                <a:ea typeface="Calibri" pitchFamily="34" charset="-122"/>
                <a:cs typeface="Calibri" pitchFamily="34" charset="-120"/>
              </a:rPr>
              <a:t>digital</a:t>
            </a:r>
            <a:pPr algn="ctr" indent="0" marL="0">
              <a:buNone/>
            </a:pPr>
            <a:r>
              <a:rPr lang="en-US" sz="1100" b="1" dirty="0">
                <a:solidFill>
                  <a:srgbClr val="6B6B6B"/>
                </a:solidFill>
                <a:latin typeface="Calibri" pitchFamily="34" charset="0"/>
                <a:ea typeface="Calibri" pitchFamily="34" charset="-122"/>
                <a:cs typeface="Calibri" pitchFamily="34" charset="-120"/>
              </a:rPr>
              <a:t>mobile</a:t>
            </a:r>
            <a:endParaRPr lang="en-US" sz="1100" dirty="0"/>
          </a:p>
        </p:txBody>
      </p:sp>
      <p:sp>
        <p:nvSpPr>
          <p:cNvPr id="29" name="Shape 27"/>
          <p:cNvSpPr/>
          <p:nvPr/>
        </p:nvSpPr>
        <p:spPr>
          <a:xfrm>
            <a:off x="8595360" y="6519672"/>
            <a:ext cx="146304" cy="146304"/>
          </a:xfrm>
          <a:prstGeom prst="ellipse">
            <a:avLst/>
          </a:prstGeom>
          <a:solidFill>
            <a:srgbClr val="111111"/>
          </a:solidFill>
          <a:ln w="12700">
            <a:solidFill>
              <a:srgbClr val="111111"/>
            </a:solidFill>
            <a:prstDash val="solid"/>
          </a:ln>
        </p:spPr>
      </p:sp>
      <p:sp>
        <p:nvSpPr>
          <p:cNvPr id="30" name="Text 28"/>
          <p:cNvSpPr/>
          <p:nvPr/>
        </p:nvSpPr>
        <p:spPr>
          <a:xfrm>
            <a:off x="8778240" y="6473952"/>
            <a:ext cx="2194560" cy="237744"/>
          </a:xfrm>
          <a:prstGeom prst="rect">
            <a:avLst/>
          </a:prstGeom>
          <a:noFill/>
          <a:ln/>
        </p:spPr>
        <p:txBody>
          <a:bodyPr wrap="square" lIns="0" tIns="0" rIns="0" bIns="0" rtlCol="0" anchor="ctr"/>
          <a:lstStyle/>
          <a:p>
            <a:pPr indent="0" marL="0">
              <a:buNone/>
            </a:pPr>
            <a:r>
              <a:rPr lang="en-US" sz="900" i="1" dirty="0">
                <a:solidFill>
                  <a:srgbClr val="111111"/>
                </a:solidFill>
                <a:latin typeface="Calibri" pitchFamily="34" charset="0"/>
                <a:ea typeface="Calibri" pitchFamily="34" charset="-122"/>
                <a:cs typeface="Calibri" pitchFamily="34" charset="-120"/>
              </a:rPr>
              <a:t>#DoingSomethingGreat</a:t>
            </a:r>
            <a:endParaRPr lang="en-US" sz="900" dirty="0"/>
          </a:p>
        </p:txBody>
      </p:sp>
      <p:sp>
        <p:nvSpPr>
          <p:cNvPr id="31" name="Text 29"/>
          <p:cNvSpPr/>
          <p:nvPr/>
        </p:nvSpPr>
        <p:spPr>
          <a:xfrm>
            <a:off x="11002975" y="6473952"/>
            <a:ext cx="914400" cy="237744"/>
          </a:xfrm>
          <a:prstGeom prst="rect">
            <a:avLst/>
          </a:prstGeom>
          <a:noFill/>
          <a:ln/>
        </p:spPr>
        <p:txBody>
          <a:bodyPr wrap="square" lIns="0" tIns="0" rIns="0" bIns="0" rtlCol="0" anchor="ctr"/>
          <a:lstStyle/>
          <a:p>
            <a:pPr algn="r" indent="0" marL="0">
              <a:buNone/>
            </a:pPr>
            <a:r>
              <a:rPr lang="en-US" sz="800" dirty="0">
                <a:solidFill>
                  <a:srgbClr val="6B6B6B"/>
                </a:solidFill>
                <a:latin typeface="Calibri" pitchFamily="34" charset="0"/>
                <a:ea typeface="Calibri" pitchFamily="34" charset="-122"/>
                <a:cs typeface="Calibri" pitchFamily="34" charset="-120"/>
              </a:rPr>
              <a:t>05 / 20</a:t>
            </a:r>
            <a:endParaRPr lang="en-US" sz="800" dirty="0"/>
          </a:p>
        </p:txBody>
      </p:sp>
      <p:sp>
        <p:nvSpPr>
          <p:cNvPr id="32" name="Text 30"/>
          <p:cNvSpPr/>
          <p:nvPr/>
        </p:nvSpPr>
        <p:spPr>
          <a:xfrm>
            <a:off x="502920" y="1828800"/>
            <a:ext cx="11247120" cy="457200"/>
          </a:xfrm>
          <a:prstGeom prst="rect">
            <a:avLst/>
          </a:prstGeom>
          <a:noFill/>
          <a:ln/>
        </p:spPr>
        <p:txBody>
          <a:bodyPr wrap="square" lIns="0" tIns="0" rIns="0" bIns="0" rtlCol="0" anchor="ctr"/>
          <a:lstStyle/>
          <a:p>
            <a:pPr indent="0" marL="0">
              <a:buNone/>
            </a:pPr>
            <a:r>
              <a:rPr lang="en-US" sz="1200" dirty="0">
                <a:solidFill>
                  <a:srgbClr val="444444"/>
                </a:solidFill>
                <a:latin typeface="Calibri" pitchFamily="34" charset="0"/>
                <a:ea typeface="Calibri" pitchFamily="34" charset="-122"/>
                <a:cs typeface="Calibri" pitchFamily="34" charset="-120"/>
              </a:rPr>
              <a:t>Not all MVNOs succeed — global data suggests only </a:t>
            </a:r>
            <a:pPr indent="0" marL="0">
              <a:buNone/>
            </a:pPr>
            <a:r>
              <a:rPr lang="en-US" sz="1200" b="1" dirty="0">
                <a:solidFill>
                  <a:srgbClr val="111111"/>
                </a:solidFill>
                <a:latin typeface="Calibri" pitchFamily="34" charset="0"/>
                <a:ea typeface="Calibri" pitchFamily="34" charset="-122"/>
                <a:cs typeface="Calibri" pitchFamily="34" charset="-120"/>
              </a:rPr>
              <a:t>2 out of 3</a:t>
            </a:r>
            <a:pPr indent="0" marL="0">
              <a:buNone/>
            </a:pPr>
            <a:r>
              <a:rPr lang="en-US" sz="1200" dirty="0">
                <a:solidFill>
                  <a:srgbClr val="444444"/>
                </a:solidFill>
                <a:latin typeface="Calibri" pitchFamily="34" charset="0"/>
                <a:ea typeface="Calibri" pitchFamily="34" charset="-122"/>
                <a:cs typeface="Calibri" pitchFamily="34" charset="-120"/>
              </a:rPr>
              <a:t> make it.  Case studies show a consistent set of success factors.  Arena is already well positioned against each one.</a:t>
            </a:r>
            <a:endParaRPr lang="en-US" sz="1200" dirty="0"/>
          </a:p>
        </p:txBody>
      </p:sp>
      <p:sp>
        <p:nvSpPr>
          <p:cNvPr id="33" name="Shape 31"/>
          <p:cNvSpPr/>
          <p:nvPr/>
        </p:nvSpPr>
        <p:spPr>
          <a:xfrm>
            <a:off x="502920" y="2651760"/>
            <a:ext cx="2659304" cy="1051560"/>
          </a:xfrm>
          <a:prstGeom prst="rect">
            <a:avLst/>
          </a:prstGeom>
          <a:solidFill>
            <a:srgbClr val="FFFFFF"/>
          </a:solidFill>
          <a:ln w="9525">
            <a:solidFill>
              <a:srgbClr val="111111"/>
            </a:solidFill>
            <a:prstDash val="solid"/>
          </a:ln>
        </p:spPr>
      </p:sp>
      <p:sp>
        <p:nvSpPr>
          <p:cNvPr id="34" name="Shape 32"/>
          <p:cNvSpPr/>
          <p:nvPr/>
        </p:nvSpPr>
        <p:spPr>
          <a:xfrm>
            <a:off x="502920" y="2651760"/>
            <a:ext cx="91440" cy="1051560"/>
          </a:xfrm>
          <a:prstGeom prst="rect">
            <a:avLst/>
          </a:prstGeom>
          <a:solidFill>
            <a:srgbClr val="111111"/>
          </a:solidFill>
          <a:ln w="12700">
            <a:solidFill>
              <a:srgbClr val="111111"/>
            </a:solidFill>
            <a:prstDash val="solid"/>
          </a:ln>
        </p:spPr>
      </p:sp>
      <p:sp>
        <p:nvSpPr>
          <p:cNvPr id="35" name="Text 33"/>
          <p:cNvSpPr/>
          <p:nvPr/>
        </p:nvSpPr>
        <p:spPr>
          <a:xfrm>
            <a:off x="731520" y="2761488"/>
            <a:ext cx="1097280" cy="274320"/>
          </a:xfrm>
          <a:prstGeom prst="rect">
            <a:avLst/>
          </a:prstGeom>
          <a:noFill/>
          <a:ln/>
        </p:spPr>
        <p:txBody>
          <a:bodyPr wrap="square" lIns="0" tIns="0" rIns="0" bIns="0" rtlCol="0" anchor="ctr"/>
          <a:lstStyle/>
          <a:p>
            <a:pPr indent="0" marL="0">
              <a:buNone/>
            </a:pPr>
            <a:r>
              <a:rPr lang="en-US" sz="900" b="1" spc="200" kern="0" dirty="0">
                <a:solidFill>
                  <a:srgbClr val="6B6B6B"/>
                </a:solidFill>
                <a:latin typeface="Calibri" pitchFamily="34" charset="0"/>
                <a:ea typeface="Calibri" pitchFamily="34" charset="-122"/>
                <a:cs typeface="Calibri" pitchFamily="34" charset="-120"/>
              </a:rPr>
              <a:t>01</a:t>
            </a:r>
            <a:endParaRPr lang="en-US" sz="900" dirty="0"/>
          </a:p>
        </p:txBody>
      </p:sp>
      <p:sp>
        <p:nvSpPr>
          <p:cNvPr id="36" name="Text 34"/>
          <p:cNvSpPr/>
          <p:nvPr/>
        </p:nvSpPr>
        <p:spPr>
          <a:xfrm>
            <a:off x="731520" y="3017520"/>
            <a:ext cx="2384984" cy="640080"/>
          </a:xfrm>
          <a:prstGeom prst="rect">
            <a:avLst/>
          </a:prstGeom>
          <a:noFill/>
          <a:ln/>
        </p:spPr>
        <p:txBody>
          <a:bodyPr wrap="square" lIns="0" tIns="0" rIns="0" bIns="0" rtlCol="0" anchor="ctr"/>
          <a:lstStyle/>
          <a:p>
            <a:pPr indent="0" marL="0">
              <a:buNone/>
            </a:pPr>
            <a:r>
              <a:rPr lang="en-US" sz="1200" b="1" dirty="0">
                <a:solidFill>
                  <a:srgbClr val="111111"/>
                </a:solidFill>
                <a:latin typeface="Calibri" pitchFamily="34" charset="0"/>
                <a:ea typeface="Calibri" pitchFamily="34" charset="-122"/>
                <a:cs typeface="Calibri" pitchFamily="34" charset="-120"/>
              </a:rPr>
              <a:t>Large existing customer base</a:t>
            </a:r>
            <a:endParaRPr lang="en-US" sz="1200" dirty="0"/>
          </a:p>
        </p:txBody>
      </p:sp>
      <p:sp>
        <p:nvSpPr>
          <p:cNvPr id="37" name="Shape 35"/>
          <p:cNvSpPr/>
          <p:nvPr/>
        </p:nvSpPr>
        <p:spPr>
          <a:xfrm>
            <a:off x="3299384" y="2651760"/>
            <a:ext cx="2659304" cy="1051560"/>
          </a:xfrm>
          <a:prstGeom prst="rect">
            <a:avLst/>
          </a:prstGeom>
          <a:solidFill>
            <a:srgbClr val="FFFFFF"/>
          </a:solidFill>
          <a:ln w="9525">
            <a:solidFill>
              <a:srgbClr val="111111"/>
            </a:solidFill>
            <a:prstDash val="solid"/>
          </a:ln>
        </p:spPr>
      </p:sp>
      <p:sp>
        <p:nvSpPr>
          <p:cNvPr id="38" name="Shape 36"/>
          <p:cNvSpPr/>
          <p:nvPr/>
        </p:nvSpPr>
        <p:spPr>
          <a:xfrm>
            <a:off x="3299384" y="2651760"/>
            <a:ext cx="91440" cy="1051560"/>
          </a:xfrm>
          <a:prstGeom prst="rect">
            <a:avLst/>
          </a:prstGeom>
          <a:solidFill>
            <a:srgbClr val="111111"/>
          </a:solidFill>
          <a:ln w="12700">
            <a:solidFill>
              <a:srgbClr val="111111"/>
            </a:solidFill>
            <a:prstDash val="solid"/>
          </a:ln>
        </p:spPr>
      </p:sp>
      <p:sp>
        <p:nvSpPr>
          <p:cNvPr id="39" name="Text 37"/>
          <p:cNvSpPr/>
          <p:nvPr/>
        </p:nvSpPr>
        <p:spPr>
          <a:xfrm>
            <a:off x="3527984" y="2761488"/>
            <a:ext cx="1097280" cy="274320"/>
          </a:xfrm>
          <a:prstGeom prst="rect">
            <a:avLst/>
          </a:prstGeom>
          <a:noFill/>
          <a:ln/>
        </p:spPr>
        <p:txBody>
          <a:bodyPr wrap="square" lIns="0" tIns="0" rIns="0" bIns="0" rtlCol="0" anchor="ctr"/>
          <a:lstStyle/>
          <a:p>
            <a:pPr indent="0" marL="0">
              <a:buNone/>
            </a:pPr>
            <a:r>
              <a:rPr lang="en-US" sz="900" b="1" spc="200" kern="0" dirty="0">
                <a:solidFill>
                  <a:srgbClr val="6B6B6B"/>
                </a:solidFill>
                <a:latin typeface="Calibri" pitchFamily="34" charset="0"/>
                <a:ea typeface="Calibri" pitchFamily="34" charset="-122"/>
                <a:cs typeface="Calibri" pitchFamily="34" charset="-120"/>
              </a:rPr>
              <a:t>02</a:t>
            </a:r>
            <a:endParaRPr lang="en-US" sz="900" dirty="0"/>
          </a:p>
        </p:txBody>
      </p:sp>
      <p:sp>
        <p:nvSpPr>
          <p:cNvPr id="40" name="Text 38"/>
          <p:cNvSpPr/>
          <p:nvPr/>
        </p:nvSpPr>
        <p:spPr>
          <a:xfrm>
            <a:off x="3527984" y="3017520"/>
            <a:ext cx="2384984" cy="640080"/>
          </a:xfrm>
          <a:prstGeom prst="rect">
            <a:avLst/>
          </a:prstGeom>
          <a:noFill/>
          <a:ln/>
        </p:spPr>
        <p:txBody>
          <a:bodyPr wrap="square" lIns="0" tIns="0" rIns="0" bIns="0" rtlCol="0" anchor="ctr"/>
          <a:lstStyle/>
          <a:p>
            <a:pPr indent="0" marL="0">
              <a:buNone/>
            </a:pPr>
            <a:r>
              <a:rPr lang="en-US" sz="1200" b="1" dirty="0">
                <a:solidFill>
                  <a:srgbClr val="111111"/>
                </a:solidFill>
                <a:latin typeface="Calibri" pitchFamily="34" charset="0"/>
                <a:ea typeface="Calibri" pitchFamily="34" charset="-122"/>
                <a:cs typeface="Calibri" pitchFamily="34" charset="-120"/>
              </a:rPr>
              <a:t>Extensive B2B &amp; B2C distribution footprint</a:t>
            </a:r>
            <a:endParaRPr lang="en-US" sz="1200" dirty="0"/>
          </a:p>
        </p:txBody>
      </p:sp>
      <p:sp>
        <p:nvSpPr>
          <p:cNvPr id="41" name="Shape 39"/>
          <p:cNvSpPr/>
          <p:nvPr/>
        </p:nvSpPr>
        <p:spPr>
          <a:xfrm>
            <a:off x="6095848" y="2651760"/>
            <a:ext cx="2659304" cy="1051560"/>
          </a:xfrm>
          <a:prstGeom prst="rect">
            <a:avLst/>
          </a:prstGeom>
          <a:solidFill>
            <a:srgbClr val="FFFFFF"/>
          </a:solidFill>
          <a:ln w="9525">
            <a:solidFill>
              <a:srgbClr val="111111"/>
            </a:solidFill>
            <a:prstDash val="solid"/>
          </a:ln>
        </p:spPr>
      </p:sp>
      <p:sp>
        <p:nvSpPr>
          <p:cNvPr id="42" name="Shape 40"/>
          <p:cNvSpPr/>
          <p:nvPr/>
        </p:nvSpPr>
        <p:spPr>
          <a:xfrm>
            <a:off x="6095848" y="2651760"/>
            <a:ext cx="91440" cy="1051560"/>
          </a:xfrm>
          <a:prstGeom prst="rect">
            <a:avLst/>
          </a:prstGeom>
          <a:solidFill>
            <a:srgbClr val="111111"/>
          </a:solidFill>
          <a:ln w="12700">
            <a:solidFill>
              <a:srgbClr val="111111"/>
            </a:solidFill>
            <a:prstDash val="solid"/>
          </a:ln>
        </p:spPr>
      </p:sp>
      <p:sp>
        <p:nvSpPr>
          <p:cNvPr id="43" name="Text 41"/>
          <p:cNvSpPr/>
          <p:nvPr/>
        </p:nvSpPr>
        <p:spPr>
          <a:xfrm>
            <a:off x="6324448" y="2761488"/>
            <a:ext cx="1097280" cy="274320"/>
          </a:xfrm>
          <a:prstGeom prst="rect">
            <a:avLst/>
          </a:prstGeom>
          <a:noFill/>
          <a:ln/>
        </p:spPr>
        <p:txBody>
          <a:bodyPr wrap="square" lIns="0" tIns="0" rIns="0" bIns="0" rtlCol="0" anchor="ctr"/>
          <a:lstStyle/>
          <a:p>
            <a:pPr indent="0" marL="0">
              <a:buNone/>
            </a:pPr>
            <a:r>
              <a:rPr lang="en-US" sz="900" b="1" spc="200" kern="0" dirty="0">
                <a:solidFill>
                  <a:srgbClr val="6B6B6B"/>
                </a:solidFill>
                <a:latin typeface="Calibri" pitchFamily="34" charset="0"/>
                <a:ea typeface="Calibri" pitchFamily="34" charset="-122"/>
                <a:cs typeface="Calibri" pitchFamily="34" charset="-120"/>
              </a:rPr>
              <a:t>03</a:t>
            </a:r>
            <a:endParaRPr lang="en-US" sz="900" dirty="0"/>
          </a:p>
        </p:txBody>
      </p:sp>
      <p:sp>
        <p:nvSpPr>
          <p:cNvPr id="44" name="Text 42"/>
          <p:cNvSpPr/>
          <p:nvPr/>
        </p:nvSpPr>
        <p:spPr>
          <a:xfrm>
            <a:off x="6324448" y="3017520"/>
            <a:ext cx="2384984" cy="640080"/>
          </a:xfrm>
          <a:prstGeom prst="rect">
            <a:avLst/>
          </a:prstGeom>
          <a:noFill/>
          <a:ln/>
        </p:spPr>
        <p:txBody>
          <a:bodyPr wrap="square" lIns="0" tIns="0" rIns="0" bIns="0" rtlCol="0" anchor="ctr"/>
          <a:lstStyle/>
          <a:p>
            <a:pPr indent="0" marL="0">
              <a:buNone/>
            </a:pPr>
            <a:r>
              <a:rPr lang="en-US" sz="1200" b="1" dirty="0">
                <a:solidFill>
                  <a:srgbClr val="111111"/>
                </a:solidFill>
                <a:latin typeface="Calibri" pitchFamily="34" charset="0"/>
                <a:ea typeface="Calibri" pitchFamily="34" charset="-122"/>
                <a:cs typeface="Calibri" pitchFamily="34" charset="-120"/>
              </a:rPr>
              <a:t>Strong &amp; agile marketing capabilities</a:t>
            </a:r>
            <a:endParaRPr lang="en-US" sz="1200" dirty="0"/>
          </a:p>
        </p:txBody>
      </p:sp>
      <p:sp>
        <p:nvSpPr>
          <p:cNvPr id="45" name="Shape 43"/>
          <p:cNvSpPr/>
          <p:nvPr/>
        </p:nvSpPr>
        <p:spPr>
          <a:xfrm>
            <a:off x="8892311" y="2651760"/>
            <a:ext cx="2659304" cy="1051560"/>
          </a:xfrm>
          <a:prstGeom prst="rect">
            <a:avLst/>
          </a:prstGeom>
          <a:solidFill>
            <a:srgbClr val="FFFFFF"/>
          </a:solidFill>
          <a:ln w="9525">
            <a:solidFill>
              <a:srgbClr val="111111"/>
            </a:solidFill>
            <a:prstDash val="solid"/>
          </a:ln>
        </p:spPr>
      </p:sp>
      <p:sp>
        <p:nvSpPr>
          <p:cNvPr id="46" name="Shape 44"/>
          <p:cNvSpPr/>
          <p:nvPr/>
        </p:nvSpPr>
        <p:spPr>
          <a:xfrm>
            <a:off x="8892311" y="2651760"/>
            <a:ext cx="91440" cy="1051560"/>
          </a:xfrm>
          <a:prstGeom prst="rect">
            <a:avLst/>
          </a:prstGeom>
          <a:solidFill>
            <a:srgbClr val="111111"/>
          </a:solidFill>
          <a:ln w="12700">
            <a:solidFill>
              <a:srgbClr val="111111"/>
            </a:solidFill>
            <a:prstDash val="solid"/>
          </a:ln>
        </p:spPr>
      </p:sp>
      <p:sp>
        <p:nvSpPr>
          <p:cNvPr id="47" name="Text 45"/>
          <p:cNvSpPr/>
          <p:nvPr/>
        </p:nvSpPr>
        <p:spPr>
          <a:xfrm>
            <a:off x="9120911" y="2761488"/>
            <a:ext cx="1097280" cy="274320"/>
          </a:xfrm>
          <a:prstGeom prst="rect">
            <a:avLst/>
          </a:prstGeom>
          <a:noFill/>
          <a:ln/>
        </p:spPr>
        <p:txBody>
          <a:bodyPr wrap="square" lIns="0" tIns="0" rIns="0" bIns="0" rtlCol="0" anchor="ctr"/>
          <a:lstStyle/>
          <a:p>
            <a:pPr indent="0" marL="0">
              <a:buNone/>
            </a:pPr>
            <a:r>
              <a:rPr lang="en-US" sz="900" b="1" spc="200" kern="0" dirty="0">
                <a:solidFill>
                  <a:srgbClr val="6B6B6B"/>
                </a:solidFill>
                <a:latin typeface="Calibri" pitchFamily="34" charset="0"/>
                <a:ea typeface="Calibri" pitchFamily="34" charset="-122"/>
                <a:cs typeface="Calibri" pitchFamily="34" charset="-120"/>
              </a:rPr>
              <a:t>04</a:t>
            </a:r>
            <a:endParaRPr lang="en-US" sz="900" dirty="0"/>
          </a:p>
        </p:txBody>
      </p:sp>
      <p:sp>
        <p:nvSpPr>
          <p:cNvPr id="48" name="Text 46"/>
          <p:cNvSpPr/>
          <p:nvPr/>
        </p:nvSpPr>
        <p:spPr>
          <a:xfrm>
            <a:off x="9120911" y="3017520"/>
            <a:ext cx="2384984" cy="640080"/>
          </a:xfrm>
          <a:prstGeom prst="rect">
            <a:avLst/>
          </a:prstGeom>
          <a:noFill/>
          <a:ln/>
        </p:spPr>
        <p:txBody>
          <a:bodyPr wrap="square" lIns="0" tIns="0" rIns="0" bIns="0" rtlCol="0" anchor="ctr"/>
          <a:lstStyle/>
          <a:p>
            <a:pPr indent="0" marL="0">
              <a:buNone/>
            </a:pPr>
            <a:r>
              <a:rPr lang="en-US" sz="1200" b="1" dirty="0">
                <a:solidFill>
                  <a:srgbClr val="111111"/>
                </a:solidFill>
                <a:latin typeface="Calibri" pitchFamily="34" charset="0"/>
                <a:ea typeface="Calibri" pitchFamily="34" charset="-122"/>
                <a:cs typeface="Calibri" pitchFamily="34" charset="-120"/>
              </a:rPr>
              <a:t>Focus on digital and the market of the future</a:t>
            </a:r>
            <a:endParaRPr lang="en-US" sz="1200" dirty="0"/>
          </a:p>
        </p:txBody>
      </p:sp>
      <p:sp>
        <p:nvSpPr>
          <p:cNvPr id="49" name="Shape 47"/>
          <p:cNvSpPr/>
          <p:nvPr/>
        </p:nvSpPr>
        <p:spPr>
          <a:xfrm>
            <a:off x="502920" y="3886200"/>
            <a:ext cx="2659304" cy="1051560"/>
          </a:xfrm>
          <a:prstGeom prst="rect">
            <a:avLst/>
          </a:prstGeom>
          <a:solidFill>
            <a:srgbClr val="FFFFFF"/>
          </a:solidFill>
          <a:ln w="9525">
            <a:solidFill>
              <a:srgbClr val="111111"/>
            </a:solidFill>
            <a:prstDash val="solid"/>
          </a:ln>
        </p:spPr>
      </p:sp>
      <p:sp>
        <p:nvSpPr>
          <p:cNvPr id="50" name="Shape 48"/>
          <p:cNvSpPr/>
          <p:nvPr/>
        </p:nvSpPr>
        <p:spPr>
          <a:xfrm>
            <a:off x="502920" y="3886200"/>
            <a:ext cx="91440" cy="1051560"/>
          </a:xfrm>
          <a:prstGeom prst="rect">
            <a:avLst/>
          </a:prstGeom>
          <a:solidFill>
            <a:srgbClr val="111111"/>
          </a:solidFill>
          <a:ln w="12700">
            <a:solidFill>
              <a:srgbClr val="111111"/>
            </a:solidFill>
            <a:prstDash val="solid"/>
          </a:ln>
        </p:spPr>
      </p:sp>
      <p:sp>
        <p:nvSpPr>
          <p:cNvPr id="51" name="Text 49"/>
          <p:cNvSpPr/>
          <p:nvPr/>
        </p:nvSpPr>
        <p:spPr>
          <a:xfrm>
            <a:off x="731520" y="3995928"/>
            <a:ext cx="1097280" cy="274320"/>
          </a:xfrm>
          <a:prstGeom prst="rect">
            <a:avLst/>
          </a:prstGeom>
          <a:noFill/>
          <a:ln/>
        </p:spPr>
        <p:txBody>
          <a:bodyPr wrap="square" lIns="0" tIns="0" rIns="0" bIns="0" rtlCol="0" anchor="ctr"/>
          <a:lstStyle/>
          <a:p>
            <a:pPr indent="0" marL="0">
              <a:buNone/>
            </a:pPr>
            <a:r>
              <a:rPr lang="en-US" sz="900" b="1" spc="200" kern="0" dirty="0">
                <a:solidFill>
                  <a:srgbClr val="6B6B6B"/>
                </a:solidFill>
                <a:latin typeface="Calibri" pitchFamily="34" charset="0"/>
                <a:ea typeface="Calibri" pitchFamily="34" charset="-122"/>
                <a:cs typeface="Calibri" pitchFamily="34" charset="-120"/>
              </a:rPr>
              <a:t>05</a:t>
            </a:r>
            <a:endParaRPr lang="en-US" sz="900" dirty="0"/>
          </a:p>
        </p:txBody>
      </p:sp>
      <p:sp>
        <p:nvSpPr>
          <p:cNvPr id="52" name="Text 50"/>
          <p:cNvSpPr/>
          <p:nvPr/>
        </p:nvSpPr>
        <p:spPr>
          <a:xfrm>
            <a:off x="731520" y="4251960"/>
            <a:ext cx="2384984" cy="640080"/>
          </a:xfrm>
          <a:prstGeom prst="rect">
            <a:avLst/>
          </a:prstGeom>
          <a:noFill/>
          <a:ln/>
        </p:spPr>
        <p:txBody>
          <a:bodyPr wrap="square" lIns="0" tIns="0" rIns="0" bIns="0" rtlCol="0" anchor="ctr"/>
          <a:lstStyle/>
          <a:p>
            <a:pPr indent="0" marL="0">
              <a:buNone/>
            </a:pPr>
            <a:r>
              <a:rPr lang="en-US" sz="1200" b="1" dirty="0">
                <a:solidFill>
                  <a:srgbClr val="111111"/>
                </a:solidFill>
                <a:latin typeface="Calibri" pitchFamily="34" charset="0"/>
                <a:ea typeface="Calibri" pitchFamily="34" charset="-122"/>
                <a:cs typeface="Calibri" pitchFamily="34" charset="-120"/>
              </a:rPr>
              <a:t>A brand that naturally extends to telecoms</a:t>
            </a:r>
            <a:endParaRPr lang="en-US" sz="1200" dirty="0"/>
          </a:p>
        </p:txBody>
      </p:sp>
      <p:sp>
        <p:nvSpPr>
          <p:cNvPr id="53" name="Shape 51"/>
          <p:cNvSpPr/>
          <p:nvPr/>
        </p:nvSpPr>
        <p:spPr>
          <a:xfrm>
            <a:off x="3299384" y="3886200"/>
            <a:ext cx="2659304" cy="1051560"/>
          </a:xfrm>
          <a:prstGeom prst="rect">
            <a:avLst/>
          </a:prstGeom>
          <a:solidFill>
            <a:srgbClr val="FFFFFF"/>
          </a:solidFill>
          <a:ln w="9525">
            <a:solidFill>
              <a:srgbClr val="111111"/>
            </a:solidFill>
            <a:prstDash val="solid"/>
          </a:ln>
        </p:spPr>
      </p:sp>
      <p:sp>
        <p:nvSpPr>
          <p:cNvPr id="54" name="Shape 52"/>
          <p:cNvSpPr/>
          <p:nvPr/>
        </p:nvSpPr>
        <p:spPr>
          <a:xfrm>
            <a:off x="3299384" y="3886200"/>
            <a:ext cx="91440" cy="1051560"/>
          </a:xfrm>
          <a:prstGeom prst="rect">
            <a:avLst/>
          </a:prstGeom>
          <a:solidFill>
            <a:srgbClr val="111111"/>
          </a:solidFill>
          <a:ln w="12700">
            <a:solidFill>
              <a:srgbClr val="111111"/>
            </a:solidFill>
            <a:prstDash val="solid"/>
          </a:ln>
        </p:spPr>
      </p:sp>
      <p:sp>
        <p:nvSpPr>
          <p:cNvPr id="55" name="Text 53"/>
          <p:cNvSpPr/>
          <p:nvPr/>
        </p:nvSpPr>
        <p:spPr>
          <a:xfrm>
            <a:off x="3527984" y="3995928"/>
            <a:ext cx="1097280" cy="274320"/>
          </a:xfrm>
          <a:prstGeom prst="rect">
            <a:avLst/>
          </a:prstGeom>
          <a:noFill/>
          <a:ln/>
        </p:spPr>
        <p:txBody>
          <a:bodyPr wrap="square" lIns="0" tIns="0" rIns="0" bIns="0" rtlCol="0" anchor="ctr"/>
          <a:lstStyle/>
          <a:p>
            <a:pPr indent="0" marL="0">
              <a:buNone/>
            </a:pPr>
            <a:r>
              <a:rPr lang="en-US" sz="900" b="1" spc="200" kern="0" dirty="0">
                <a:solidFill>
                  <a:srgbClr val="6B6B6B"/>
                </a:solidFill>
                <a:latin typeface="Calibri" pitchFamily="34" charset="0"/>
                <a:ea typeface="Calibri" pitchFamily="34" charset="-122"/>
                <a:cs typeface="Calibri" pitchFamily="34" charset="-120"/>
              </a:rPr>
              <a:t>06</a:t>
            </a:r>
            <a:endParaRPr lang="en-US" sz="900" dirty="0"/>
          </a:p>
        </p:txBody>
      </p:sp>
      <p:sp>
        <p:nvSpPr>
          <p:cNvPr id="56" name="Text 54"/>
          <p:cNvSpPr/>
          <p:nvPr/>
        </p:nvSpPr>
        <p:spPr>
          <a:xfrm>
            <a:off x="3527984" y="4251960"/>
            <a:ext cx="2384984" cy="640080"/>
          </a:xfrm>
          <a:prstGeom prst="rect">
            <a:avLst/>
          </a:prstGeom>
          <a:noFill/>
          <a:ln/>
        </p:spPr>
        <p:txBody>
          <a:bodyPr wrap="square" lIns="0" tIns="0" rIns="0" bIns="0" rtlCol="0" anchor="ctr"/>
          <a:lstStyle/>
          <a:p>
            <a:pPr indent="0" marL="0">
              <a:buNone/>
            </a:pPr>
            <a:r>
              <a:rPr lang="en-US" sz="1200" b="1" dirty="0">
                <a:solidFill>
                  <a:srgbClr val="111111"/>
                </a:solidFill>
                <a:latin typeface="Calibri" pitchFamily="34" charset="0"/>
                <a:ea typeface="Calibri" pitchFamily="34" charset="-122"/>
                <a:cs typeface="Calibri" pitchFamily="34" charset="-120"/>
              </a:rPr>
              <a:t>Strong customer experience</a:t>
            </a:r>
            <a:endParaRPr lang="en-US" sz="1200" dirty="0"/>
          </a:p>
        </p:txBody>
      </p:sp>
      <p:sp>
        <p:nvSpPr>
          <p:cNvPr id="57" name="Shape 55"/>
          <p:cNvSpPr/>
          <p:nvPr/>
        </p:nvSpPr>
        <p:spPr>
          <a:xfrm>
            <a:off x="6095848" y="3886200"/>
            <a:ext cx="2659304" cy="1051560"/>
          </a:xfrm>
          <a:prstGeom prst="rect">
            <a:avLst/>
          </a:prstGeom>
          <a:solidFill>
            <a:srgbClr val="FFFFFF"/>
          </a:solidFill>
          <a:ln w="9525">
            <a:solidFill>
              <a:srgbClr val="111111"/>
            </a:solidFill>
            <a:prstDash val="solid"/>
          </a:ln>
        </p:spPr>
      </p:sp>
      <p:sp>
        <p:nvSpPr>
          <p:cNvPr id="58" name="Shape 56"/>
          <p:cNvSpPr/>
          <p:nvPr/>
        </p:nvSpPr>
        <p:spPr>
          <a:xfrm>
            <a:off x="6095848" y="3886200"/>
            <a:ext cx="91440" cy="1051560"/>
          </a:xfrm>
          <a:prstGeom prst="rect">
            <a:avLst/>
          </a:prstGeom>
          <a:solidFill>
            <a:srgbClr val="111111"/>
          </a:solidFill>
          <a:ln w="12700">
            <a:solidFill>
              <a:srgbClr val="111111"/>
            </a:solidFill>
            <a:prstDash val="solid"/>
          </a:ln>
        </p:spPr>
      </p:sp>
      <p:sp>
        <p:nvSpPr>
          <p:cNvPr id="59" name="Text 57"/>
          <p:cNvSpPr/>
          <p:nvPr/>
        </p:nvSpPr>
        <p:spPr>
          <a:xfrm>
            <a:off x="6324448" y="3995928"/>
            <a:ext cx="1097280" cy="274320"/>
          </a:xfrm>
          <a:prstGeom prst="rect">
            <a:avLst/>
          </a:prstGeom>
          <a:noFill/>
          <a:ln/>
        </p:spPr>
        <p:txBody>
          <a:bodyPr wrap="square" lIns="0" tIns="0" rIns="0" bIns="0" rtlCol="0" anchor="ctr"/>
          <a:lstStyle/>
          <a:p>
            <a:pPr indent="0" marL="0">
              <a:buNone/>
            </a:pPr>
            <a:r>
              <a:rPr lang="en-US" sz="900" b="1" spc="200" kern="0" dirty="0">
                <a:solidFill>
                  <a:srgbClr val="6B6B6B"/>
                </a:solidFill>
                <a:latin typeface="Calibri" pitchFamily="34" charset="0"/>
                <a:ea typeface="Calibri" pitchFamily="34" charset="-122"/>
                <a:cs typeface="Calibri" pitchFamily="34" charset="-120"/>
              </a:rPr>
              <a:t>07</a:t>
            </a:r>
            <a:endParaRPr lang="en-US" sz="900" dirty="0"/>
          </a:p>
        </p:txBody>
      </p:sp>
      <p:sp>
        <p:nvSpPr>
          <p:cNvPr id="60" name="Text 58"/>
          <p:cNvSpPr/>
          <p:nvPr/>
        </p:nvSpPr>
        <p:spPr>
          <a:xfrm>
            <a:off x="6324448" y="4251960"/>
            <a:ext cx="2384984" cy="640080"/>
          </a:xfrm>
          <a:prstGeom prst="rect">
            <a:avLst/>
          </a:prstGeom>
          <a:noFill/>
          <a:ln/>
        </p:spPr>
        <p:txBody>
          <a:bodyPr wrap="square" lIns="0" tIns="0" rIns="0" bIns="0" rtlCol="0" anchor="ctr"/>
          <a:lstStyle/>
          <a:p>
            <a:pPr indent="0" marL="0">
              <a:buNone/>
            </a:pPr>
            <a:r>
              <a:rPr lang="en-US" sz="1200" b="1" dirty="0">
                <a:solidFill>
                  <a:srgbClr val="111111"/>
                </a:solidFill>
                <a:latin typeface="Calibri" pitchFamily="34" charset="0"/>
                <a:ea typeface="Calibri" pitchFamily="34" charset="-122"/>
                <a:cs typeface="Calibri" pitchFamily="34" charset="-120"/>
              </a:rPr>
              <a:t>Large employee base</a:t>
            </a:r>
            <a:endParaRPr lang="en-US" sz="1200" dirty="0"/>
          </a:p>
        </p:txBody>
      </p:sp>
      <p:sp>
        <p:nvSpPr>
          <p:cNvPr id="61" name="Shape 59"/>
          <p:cNvSpPr/>
          <p:nvPr/>
        </p:nvSpPr>
        <p:spPr>
          <a:xfrm>
            <a:off x="8892311" y="3886200"/>
            <a:ext cx="2659304" cy="1051560"/>
          </a:xfrm>
          <a:prstGeom prst="rect">
            <a:avLst/>
          </a:prstGeom>
          <a:solidFill>
            <a:srgbClr val="FFFFFF"/>
          </a:solidFill>
          <a:ln w="9525">
            <a:solidFill>
              <a:srgbClr val="111111"/>
            </a:solidFill>
            <a:prstDash val="solid"/>
          </a:ln>
        </p:spPr>
      </p:sp>
      <p:sp>
        <p:nvSpPr>
          <p:cNvPr id="62" name="Shape 60"/>
          <p:cNvSpPr/>
          <p:nvPr/>
        </p:nvSpPr>
        <p:spPr>
          <a:xfrm>
            <a:off x="8892311" y="3886200"/>
            <a:ext cx="91440" cy="1051560"/>
          </a:xfrm>
          <a:prstGeom prst="rect">
            <a:avLst/>
          </a:prstGeom>
          <a:solidFill>
            <a:srgbClr val="111111"/>
          </a:solidFill>
          <a:ln w="12700">
            <a:solidFill>
              <a:srgbClr val="111111"/>
            </a:solidFill>
            <a:prstDash val="solid"/>
          </a:ln>
        </p:spPr>
      </p:sp>
      <p:sp>
        <p:nvSpPr>
          <p:cNvPr id="63" name="Text 61"/>
          <p:cNvSpPr/>
          <p:nvPr/>
        </p:nvSpPr>
        <p:spPr>
          <a:xfrm>
            <a:off x="9120911" y="3995928"/>
            <a:ext cx="1097280" cy="274320"/>
          </a:xfrm>
          <a:prstGeom prst="rect">
            <a:avLst/>
          </a:prstGeom>
          <a:noFill/>
          <a:ln/>
        </p:spPr>
        <p:txBody>
          <a:bodyPr wrap="square" lIns="0" tIns="0" rIns="0" bIns="0" rtlCol="0" anchor="ctr"/>
          <a:lstStyle/>
          <a:p>
            <a:pPr indent="0" marL="0">
              <a:buNone/>
            </a:pPr>
            <a:r>
              <a:rPr lang="en-US" sz="900" b="1" spc="200" kern="0" dirty="0">
                <a:solidFill>
                  <a:srgbClr val="6B6B6B"/>
                </a:solidFill>
                <a:latin typeface="Calibri" pitchFamily="34" charset="0"/>
                <a:ea typeface="Calibri" pitchFamily="34" charset="-122"/>
                <a:cs typeface="Calibri" pitchFamily="34" charset="-120"/>
              </a:rPr>
              <a:t>08</a:t>
            </a:r>
            <a:endParaRPr lang="en-US" sz="900" dirty="0"/>
          </a:p>
        </p:txBody>
      </p:sp>
      <p:sp>
        <p:nvSpPr>
          <p:cNvPr id="64" name="Text 62"/>
          <p:cNvSpPr/>
          <p:nvPr/>
        </p:nvSpPr>
        <p:spPr>
          <a:xfrm>
            <a:off x="9120911" y="4251960"/>
            <a:ext cx="2384984" cy="640080"/>
          </a:xfrm>
          <a:prstGeom prst="rect">
            <a:avLst/>
          </a:prstGeom>
          <a:noFill/>
          <a:ln/>
        </p:spPr>
        <p:txBody>
          <a:bodyPr wrap="square" lIns="0" tIns="0" rIns="0" bIns="0" rtlCol="0" anchor="ctr"/>
          <a:lstStyle/>
          <a:p>
            <a:pPr indent="0" marL="0">
              <a:buNone/>
            </a:pPr>
            <a:r>
              <a:rPr lang="en-US" sz="1200" b="1" dirty="0">
                <a:solidFill>
                  <a:srgbClr val="111111"/>
                </a:solidFill>
                <a:latin typeface="Calibri" pitchFamily="34" charset="0"/>
                <a:ea typeface="Calibri" pitchFamily="34" charset="-122"/>
                <a:cs typeface="Calibri" pitchFamily="34" charset="-120"/>
              </a:rPr>
              <a:t>Extensive loyalty program</a:t>
            </a:r>
            <a:endParaRPr lang="en-US" sz="1200" dirty="0"/>
          </a:p>
        </p:txBody>
      </p:sp>
      <p:sp>
        <p:nvSpPr>
          <p:cNvPr id="65" name="Text 63"/>
          <p:cNvSpPr/>
          <p:nvPr/>
        </p:nvSpPr>
        <p:spPr>
          <a:xfrm>
            <a:off x="502920" y="5669280"/>
            <a:ext cx="11247120" cy="457200"/>
          </a:xfrm>
          <a:prstGeom prst="rect">
            <a:avLst/>
          </a:prstGeom>
          <a:noFill/>
          <a:ln/>
        </p:spPr>
        <p:txBody>
          <a:bodyPr wrap="square" lIns="0" tIns="0" rIns="0" bIns="0" rtlCol="0" anchor="ctr"/>
          <a:lstStyle/>
          <a:p>
            <a:pPr indent="0" marL="0">
              <a:buNone/>
            </a:pPr>
            <a:r>
              <a:rPr lang="en-US" sz="1200" i="1" dirty="0">
                <a:solidFill>
                  <a:srgbClr val="111111"/>
                </a:solidFill>
                <a:latin typeface="Georgia" pitchFamily="34" charset="0"/>
                <a:ea typeface="Georgia" pitchFamily="34" charset="-122"/>
                <a:cs typeface="Georgia" pitchFamily="34" charset="-120"/>
              </a:rPr>
              <a:t>Arena checks every box — 15M+ monthly digital users, six flagship titles, a national distribution footprint, Gallo's heritage catalogue, and a loyalty story through Arena Events.</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20040" y="182880"/>
            <a:ext cx="1417320" cy="438912"/>
          </a:xfrm>
          <a:prstGeom prst="rect">
            <a:avLst/>
          </a:prstGeom>
          <a:solidFill>
            <a:srgbClr val="111111"/>
          </a:solidFill>
          <a:ln w="12700">
            <a:solidFill>
              <a:srgbClr val="111111"/>
            </a:solidFill>
            <a:prstDash val="solid"/>
          </a:ln>
        </p:spPr>
      </p:sp>
      <p:sp>
        <p:nvSpPr>
          <p:cNvPr id="3" name="Text 1"/>
          <p:cNvSpPr/>
          <p:nvPr/>
        </p:nvSpPr>
        <p:spPr>
          <a:xfrm>
            <a:off x="320040" y="182880"/>
            <a:ext cx="1417320" cy="438912"/>
          </a:xfrm>
          <a:prstGeom prst="rect">
            <a:avLst/>
          </a:prstGeom>
          <a:noFill/>
          <a:ln/>
        </p:spPr>
        <p:txBody>
          <a:bodyPr wrap="square" lIns="0" tIns="0" rIns="0" bIns="0" rtlCol="0" anchor="ctr"/>
          <a:lstStyle/>
          <a:p>
            <a:pPr algn="ctr" indent="0" marL="0">
              <a:buNone/>
            </a:pPr>
            <a:r>
              <a:rPr lang="en-US" sz="1500" b="1" spc="400" kern="0" dirty="0">
                <a:solidFill>
                  <a:srgbClr val="FFFFFF"/>
                </a:solidFill>
                <a:latin typeface="Calibri" pitchFamily="34" charset="0"/>
                <a:ea typeface="Calibri" pitchFamily="34" charset="-122"/>
                <a:cs typeface="Calibri" pitchFamily="34" charset="-120"/>
              </a:rPr>
              <a:t>ARENA
</a:t>
            </a:r>
            <a:pPr algn="ctr" indent="0" marL="0">
              <a:buNone/>
            </a:pPr>
            <a:r>
              <a:rPr lang="en-US" sz="600" spc="400" kern="0" dirty="0">
                <a:solidFill>
                  <a:srgbClr val="FFFFFF"/>
                </a:solidFill>
                <a:latin typeface="Calibri" pitchFamily="34" charset="0"/>
                <a:ea typeface="Calibri" pitchFamily="34" charset="-122"/>
                <a:cs typeface="Calibri" pitchFamily="34" charset="-120"/>
              </a:rPr>
              <a:t>H O L D I N G S</a:t>
            </a:r>
            <a:endParaRPr lang="en-US" sz="1500" dirty="0"/>
          </a:p>
        </p:txBody>
      </p:sp>
      <p:sp>
        <p:nvSpPr>
          <p:cNvPr id="4" name="Shape 2"/>
          <p:cNvSpPr/>
          <p:nvPr/>
        </p:nvSpPr>
        <p:spPr>
          <a:xfrm>
            <a:off x="9677095" y="246888"/>
            <a:ext cx="201168" cy="201168"/>
          </a:xfrm>
          <a:prstGeom prst="ellipse">
            <a:avLst/>
          </a:prstGeom>
          <a:solidFill>
            <a:srgbClr val="111111"/>
          </a:solidFill>
          <a:ln w="12700">
            <a:solidFill>
              <a:srgbClr val="111111"/>
            </a:solidFill>
            <a:prstDash val="solid"/>
          </a:ln>
        </p:spPr>
      </p:sp>
      <p:sp>
        <p:nvSpPr>
          <p:cNvPr id="5" name="Text 3"/>
          <p:cNvSpPr/>
          <p:nvPr/>
        </p:nvSpPr>
        <p:spPr>
          <a:xfrm>
            <a:off x="9923983" y="210312"/>
            <a:ext cx="2011680" cy="274320"/>
          </a:xfrm>
          <a:prstGeom prst="rect">
            <a:avLst/>
          </a:prstGeom>
          <a:noFill/>
          <a:ln/>
        </p:spPr>
        <p:txBody>
          <a:bodyPr wrap="square" lIns="0" tIns="0" rIns="0" bIns="0" rtlCol="0" anchor="ctr"/>
          <a:lstStyle/>
          <a:p>
            <a:pPr algn="l" indent="0" marL="0">
              <a:buNone/>
            </a:pPr>
            <a:r>
              <a:rPr lang="en-US" sz="1000" b="1" i="1" dirty="0">
                <a:solidFill>
                  <a:srgbClr val="111111"/>
                </a:solidFill>
                <a:latin typeface="Calibri" pitchFamily="34" charset="0"/>
                <a:ea typeface="Calibri" pitchFamily="34" charset="-122"/>
                <a:cs typeface="Calibri" pitchFamily="34" charset="-120"/>
              </a:rPr>
              <a:t>#DoingSomethingGreat</a:t>
            </a:r>
            <a:endParaRPr lang="en-US" sz="1000" dirty="0"/>
          </a:p>
        </p:txBody>
      </p:sp>
      <p:sp>
        <p:nvSpPr>
          <p:cNvPr id="6" name="Shape 4"/>
          <p:cNvSpPr/>
          <p:nvPr/>
        </p:nvSpPr>
        <p:spPr>
          <a:xfrm>
            <a:off x="5973775" y="0"/>
            <a:ext cx="6217920" cy="1463040"/>
          </a:xfrm>
          <a:prstGeom prst="rect">
            <a:avLst/>
          </a:prstGeom>
          <a:solidFill>
            <a:srgbClr val="F5F5F5"/>
          </a:solidFill>
          <a:ln w="12700">
            <a:solidFill>
              <a:srgbClr val="F5F5F5"/>
            </a:solidFill>
            <a:prstDash val="solid"/>
          </a:ln>
        </p:spPr>
      </p:sp>
      <p:sp>
        <p:nvSpPr>
          <p:cNvPr id="7" name="Shape 5"/>
          <p:cNvSpPr/>
          <p:nvPr/>
        </p:nvSpPr>
        <p:spPr>
          <a:xfrm>
            <a:off x="6248095" y="0"/>
            <a:ext cx="-1280160" cy="1280160"/>
          </a:xfrm>
          <a:prstGeom prst="line">
            <a:avLst/>
          </a:prstGeom>
          <a:noFill/>
          <a:ln w="9525">
            <a:solidFill>
              <a:srgbClr val="EDEDED"/>
            </a:solidFill>
            <a:prstDash val="solid"/>
          </a:ln>
        </p:spPr>
      </p:sp>
      <p:sp>
        <p:nvSpPr>
          <p:cNvPr id="8" name="Shape 6"/>
          <p:cNvSpPr/>
          <p:nvPr/>
        </p:nvSpPr>
        <p:spPr>
          <a:xfrm>
            <a:off x="6659575" y="0"/>
            <a:ext cx="-1280160" cy="1280160"/>
          </a:xfrm>
          <a:prstGeom prst="line">
            <a:avLst/>
          </a:prstGeom>
          <a:noFill/>
          <a:ln w="9525">
            <a:solidFill>
              <a:srgbClr val="EDEDED"/>
            </a:solidFill>
            <a:prstDash val="solid"/>
          </a:ln>
        </p:spPr>
      </p:sp>
      <p:sp>
        <p:nvSpPr>
          <p:cNvPr id="9" name="Shape 7"/>
          <p:cNvSpPr/>
          <p:nvPr/>
        </p:nvSpPr>
        <p:spPr>
          <a:xfrm>
            <a:off x="7071055" y="0"/>
            <a:ext cx="-1280160" cy="1280160"/>
          </a:xfrm>
          <a:prstGeom prst="line">
            <a:avLst/>
          </a:prstGeom>
          <a:noFill/>
          <a:ln w="9525">
            <a:solidFill>
              <a:srgbClr val="EDEDED"/>
            </a:solidFill>
            <a:prstDash val="solid"/>
          </a:ln>
        </p:spPr>
      </p:sp>
      <p:sp>
        <p:nvSpPr>
          <p:cNvPr id="10" name="Shape 8"/>
          <p:cNvSpPr/>
          <p:nvPr/>
        </p:nvSpPr>
        <p:spPr>
          <a:xfrm>
            <a:off x="7482535" y="0"/>
            <a:ext cx="-1280160" cy="1280160"/>
          </a:xfrm>
          <a:prstGeom prst="line">
            <a:avLst/>
          </a:prstGeom>
          <a:noFill/>
          <a:ln w="9525">
            <a:solidFill>
              <a:srgbClr val="EDEDED"/>
            </a:solidFill>
            <a:prstDash val="solid"/>
          </a:ln>
        </p:spPr>
      </p:sp>
      <p:sp>
        <p:nvSpPr>
          <p:cNvPr id="11" name="Shape 9"/>
          <p:cNvSpPr/>
          <p:nvPr/>
        </p:nvSpPr>
        <p:spPr>
          <a:xfrm>
            <a:off x="7894015" y="0"/>
            <a:ext cx="-1280160" cy="1280160"/>
          </a:xfrm>
          <a:prstGeom prst="line">
            <a:avLst/>
          </a:prstGeom>
          <a:noFill/>
          <a:ln w="9525">
            <a:solidFill>
              <a:srgbClr val="EDEDED"/>
            </a:solidFill>
            <a:prstDash val="solid"/>
          </a:ln>
        </p:spPr>
      </p:sp>
      <p:sp>
        <p:nvSpPr>
          <p:cNvPr id="12" name="Shape 10"/>
          <p:cNvSpPr/>
          <p:nvPr/>
        </p:nvSpPr>
        <p:spPr>
          <a:xfrm>
            <a:off x="8305495" y="0"/>
            <a:ext cx="-1280160" cy="1280160"/>
          </a:xfrm>
          <a:prstGeom prst="line">
            <a:avLst/>
          </a:prstGeom>
          <a:noFill/>
          <a:ln w="9525">
            <a:solidFill>
              <a:srgbClr val="EDEDED"/>
            </a:solidFill>
            <a:prstDash val="solid"/>
          </a:ln>
        </p:spPr>
      </p:sp>
      <p:sp>
        <p:nvSpPr>
          <p:cNvPr id="13" name="Shape 11"/>
          <p:cNvSpPr/>
          <p:nvPr/>
        </p:nvSpPr>
        <p:spPr>
          <a:xfrm>
            <a:off x="8716975" y="0"/>
            <a:ext cx="-1280160" cy="1280160"/>
          </a:xfrm>
          <a:prstGeom prst="line">
            <a:avLst/>
          </a:prstGeom>
          <a:noFill/>
          <a:ln w="9525">
            <a:solidFill>
              <a:srgbClr val="EDEDED"/>
            </a:solidFill>
            <a:prstDash val="solid"/>
          </a:ln>
        </p:spPr>
      </p:sp>
      <p:sp>
        <p:nvSpPr>
          <p:cNvPr id="14" name="Shape 12"/>
          <p:cNvSpPr/>
          <p:nvPr/>
        </p:nvSpPr>
        <p:spPr>
          <a:xfrm>
            <a:off x="9128455" y="0"/>
            <a:ext cx="-1280160" cy="1280160"/>
          </a:xfrm>
          <a:prstGeom prst="line">
            <a:avLst/>
          </a:prstGeom>
          <a:noFill/>
          <a:ln w="9525">
            <a:solidFill>
              <a:srgbClr val="EDEDED"/>
            </a:solidFill>
            <a:prstDash val="solid"/>
          </a:ln>
        </p:spPr>
      </p:sp>
      <p:sp>
        <p:nvSpPr>
          <p:cNvPr id="15" name="Shape 13"/>
          <p:cNvSpPr/>
          <p:nvPr/>
        </p:nvSpPr>
        <p:spPr>
          <a:xfrm>
            <a:off x="9539935" y="0"/>
            <a:ext cx="-1280160" cy="1280160"/>
          </a:xfrm>
          <a:prstGeom prst="line">
            <a:avLst/>
          </a:prstGeom>
          <a:noFill/>
          <a:ln w="9525">
            <a:solidFill>
              <a:srgbClr val="EDEDED"/>
            </a:solidFill>
            <a:prstDash val="solid"/>
          </a:ln>
        </p:spPr>
      </p:sp>
      <p:sp>
        <p:nvSpPr>
          <p:cNvPr id="16" name="Shape 14"/>
          <p:cNvSpPr/>
          <p:nvPr/>
        </p:nvSpPr>
        <p:spPr>
          <a:xfrm>
            <a:off x="9951415" y="0"/>
            <a:ext cx="-1280160" cy="1280160"/>
          </a:xfrm>
          <a:prstGeom prst="line">
            <a:avLst/>
          </a:prstGeom>
          <a:noFill/>
          <a:ln w="9525">
            <a:solidFill>
              <a:srgbClr val="EDEDED"/>
            </a:solidFill>
            <a:prstDash val="solid"/>
          </a:ln>
        </p:spPr>
      </p:sp>
      <p:sp>
        <p:nvSpPr>
          <p:cNvPr id="17" name="Shape 15"/>
          <p:cNvSpPr/>
          <p:nvPr/>
        </p:nvSpPr>
        <p:spPr>
          <a:xfrm>
            <a:off x="10362895" y="0"/>
            <a:ext cx="-1280160" cy="1280160"/>
          </a:xfrm>
          <a:prstGeom prst="line">
            <a:avLst/>
          </a:prstGeom>
          <a:noFill/>
          <a:ln w="9525">
            <a:solidFill>
              <a:srgbClr val="EDEDED"/>
            </a:solidFill>
            <a:prstDash val="solid"/>
          </a:ln>
        </p:spPr>
      </p:sp>
      <p:sp>
        <p:nvSpPr>
          <p:cNvPr id="18" name="Shape 16"/>
          <p:cNvSpPr/>
          <p:nvPr/>
        </p:nvSpPr>
        <p:spPr>
          <a:xfrm>
            <a:off x="10774375" y="0"/>
            <a:ext cx="-1280160" cy="1280160"/>
          </a:xfrm>
          <a:prstGeom prst="line">
            <a:avLst/>
          </a:prstGeom>
          <a:noFill/>
          <a:ln w="9525">
            <a:solidFill>
              <a:srgbClr val="EDEDED"/>
            </a:solidFill>
            <a:prstDash val="solid"/>
          </a:ln>
        </p:spPr>
      </p:sp>
      <p:sp>
        <p:nvSpPr>
          <p:cNvPr id="19" name="Shape 17"/>
          <p:cNvSpPr/>
          <p:nvPr/>
        </p:nvSpPr>
        <p:spPr>
          <a:xfrm>
            <a:off x="11185855" y="0"/>
            <a:ext cx="-1280160" cy="1280160"/>
          </a:xfrm>
          <a:prstGeom prst="line">
            <a:avLst/>
          </a:prstGeom>
          <a:noFill/>
          <a:ln w="9525">
            <a:solidFill>
              <a:srgbClr val="EDEDED"/>
            </a:solidFill>
            <a:prstDash val="solid"/>
          </a:ln>
        </p:spPr>
      </p:sp>
      <p:sp>
        <p:nvSpPr>
          <p:cNvPr id="20" name="Shape 18"/>
          <p:cNvSpPr/>
          <p:nvPr/>
        </p:nvSpPr>
        <p:spPr>
          <a:xfrm>
            <a:off x="11597335" y="0"/>
            <a:ext cx="-1280160" cy="1280160"/>
          </a:xfrm>
          <a:prstGeom prst="line">
            <a:avLst/>
          </a:prstGeom>
          <a:noFill/>
          <a:ln w="9525">
            <a:solidFill>
              <a:srgbClr val="EDEDED"/>
            </a:solidFill>
            <a:prstDash val="solid"/>
          </a:ln>
        </p:spPr>
      </p:sp>
      <p:sp>
        <p:nvSpPr>
          <p:cNvPr id="21" name="Shape 19"/>
          <p:cNvSpPr/>
          <p:nvPr/>
        </p:nvSpPr>
        <p:spPr>
          <a:xfrm>
            <a:off x="320040" y="1481328"/>
            <a:ext cx="11551615" cy="0"/>
          </a:xfrm>
          <a:prstGeom prst="line">
            <a:avLst/>
          </a:prstGeom>
          <a:noFill/>
          <a:ln w="15875">
            <a:solidFill>
              <a:srgbClr val="111111"/>
            </a:solidFill>
            <a:prstDash val="solid"/>
          </a:ln>
        </p:spPr>
      </p:sp>
      <p:sp>
        <p:nvSpPr>
          <p:cNvPr id="22" name="Text 20"/>
          <p:cNvSpPr/>
          <p:nvPr/>
        </p:nvSpPr>
        <p:spPr>
          <a:xfrm>
            <a:off x="5486400" y="292608"/>
            <a:ext cx="6309360" cy="685800"/>
          </a:xfrm>
          <a:prstGeom prst="rect">
            <a:avLst/>
          </a:prstGeom>
          <a:noFill/>
          <a:ln/>
        </p:spPr>
        <p:txBody>
          <a:bodyPr wrap="square" lIns="0" tIns="0" rIns="0" bIns="0" rtlCol="0" anchor="ctr"/>
          <a:lstStyle/>
          <a:p>
            <a:pPr algn="r" indent="0" marL="0">
              <a:buNone/>
            </a:pPr>
            <a:r>
              <a:rPr lang="en-US" sz="2600" b="1" dirty="0">
                <a:solidFill>
                  <a:srgbClr val="111111"/>
                </a:solidFill>
                <a:latin typeface="Calibri" pitchFamily="34" charset="0"/>
                <a:ea typeface="Calibri" pitchFamily="34" charset="-122"/>
                <a:cs typeface="Calibri" pitchFamily="34" charset="-120"/>
              </a:rPr>
              <a:t>Engagement Models</a:t>
            </a:r>
            <a:endParaRPr lang="en-US" sz="2600" dirty="0"/>
          </a:p>
        </p:txBody>
      </p:sp>
      <p:sp>
        <p:nvSpPr>
          <p:cNvPr id="23" name="Text 21"/>
          <p:cNvSpPr/>
          <p:nvPr/>
        </p:nvSpPr>
        <p:spPr>
          <a:xfrm>
            <a:off x="5486400" y="960120"/>
            <a:ext cx="6309360" cy="365760"/>
          </a:xfrm>
          <a:prstGeom prst="rect">
            <a:avLst/>
          </a:prstGeom>
          <a:noFill/>
          <a:ln/>
        </p:spPr>
        <p:txBody>
          <a:bodyPr wrap="square" lIns="0" tIns="0" rIns="0" bIns="0" rtlCol="0" anchor="ctr"/>
          <a:lstStyle/>
          <a:p>
            <a:pPr algn="r" indent="0" marL="0">
              <a:buNone/>
            </a:pPr>
            <a:r>
              <a:rPr lang="en-US" sz="1200" i="1" dirty="0">
                <a:solidFill>
                  <a:srgbClr val="6B6B6B"/>
                </a:solidFill>
                <a:latin typeface="Calibri" pitchFamily="34" charset="0"/>
                <a:ea typeface="Calibri" pitchFamily="34" charset="-122"/>
                <a:cs typeface="Calibri" pitchFamily="34" charset="-120"/>
              </a:rPr>
              <a:t>Three ways Arena could engage</a:t>
            </a:r>
            <a:endParaRPr lang="en-US" sz="1200" dirty="0"/>
          </a:p>
        </p:txBody>
      </p:sp>
      <p:sp>
        <p:nvSpPr>
          <p:cNvPr id="24" name="Shape 22"/>
          <p:cNvSpPr/>
          <p:nvPr/>
        </p:nvSpPr>
        <p:spPr>
          <a:xfrm>
            <a:off x="320040" y="6355080"/>
            <a:ext cx="11551615" cy="0"/>
          </a:xfrm>
          <a:prstGeom prst="line">
            <a:avLst/>
          </a:prstGeom>
          <a:noFill/>
          <a:ln w="6350">
            <a:solidFill>
              <a:srgbClr val="BFBFBF"/>
            </a:solidFill>
            <a:prstDash val="solid"/>
          </a:ln>
        </p:spPr>
      </p:sp>
      <p:sp>
        <p:nvSpPr>
          <p:cNvPr id="25" name="Shape 23"/>
          <p:cNvSpPr/>
          <p:nvPr/>
        </p:nvSpPr>
        <p:spPr>
          <a:xfrm>
            <a:off x="320040" y="6473952"/>
            <a:ext cx="502920" cy="237744"/>
          </a:xfrm>
          <a:prstGeom prst="rect">
            <a:avLst/>
          </a:prstGeom>
          <a:solidFill>
            <a:srgbClr val="111111"/>
          </a:solidFill>
          <a:ln w="12700">
            <a:solidFill>
              <a:srgbClr val="111111"/>
            </a:solidFill>
            <a:prstDash val="solid"/>
          </a:ln>
        </p:spPr>
      </p:sp>
      <p:sp>
        <p:nvSpPr>
          <p:cNvPr id="26" name="Text 24"/>
          <p:cNvSpPr/>
          <p:nvPr/>
        </p:nvSpPr>
        <p:spPr>
          <a:xfrm>
            <a:off x="320040" y="6473952"/>
            <a:ext cx="502920" cy="237744"/>
          </a:xfrm>
          <a:prstGeom prst="rect">
            <a:avLst/>
          </a:prstGeom>
          <a:noFill/>
          <a:ln/>
        </p:spPr>
        <p:txBody>
          <a:bodyPr wrap="square" lIns="0" tIns="0" rIns="0" bIns="0" rtlCol="0" anchor="ctr"/>
          <a:lstStyle/>
          <a:p>
            <a:pPr algn="ctr" indent="0" marL="0">
              <a:buNone/>
            </a:pPr>
            <a:r>
              <a:rPr lang="en-US" sz="900" b="1" spc="200" kern="0" dirty="0">
                <a:solidFill>
                  <a:srgbClr val="FFFFFF"/>
                </a:solidFill>
                <a:latin typeface="Calibri" pitchFamily="34" charset="0"/>
                <a:ea typeface="Calibri" pitchFamily="34" charset="-122"/>
                <a:cs typeface="Calibri" pitchFamily="34" charset="-120"/>
              </a:rPr>
              <a:t>DSG</a:t>
            </a:r>
            <a:endParaRPr lang="en-US" sz="900" dirty="0"/>
          </a:p>
        </p:txBody>
      </p:sp>
      <p:sp>
        <p:nvSpPr>
          <p:cNvPr id="27" name="Text 25"/>
          <p:cNvSpPr/>
          <p:nvPr/>
        </p:nvSpPr>
        <p:spPr>
          <a:xfrm>
            <a:off x="868680" y="6473952"/>
            <a:ext cx="2194560" cy="237744"/>
          </a:xfrm>
          <a:prstGeom prst="rect">
            <a:avLst/>
          </a:prstGeom>
          <a:noFill/>
          <a:ln/>
        </p:spPr>
        <p:txBody>
          <a:bodyPr wrap="square" lIns="0" tIns="0" rIns="0" bIns="0" rtlCol="0" anchor="ctr"/>
          <a:lstStyle/>
          <a:p>
            <a:pPr indent="0" marL="0">
              <a:buNone/>
            </a:pPr>
            <a:r>
              <a:rPr lang="en-US" sz="650" spc="200" kern="0" dirty="0">
                <a:solidFill>
                  <a:srgbClr val="6B6B6B"/>
                </a:solidFill>
                <a:latin typeface="Calibri" pitchFamily="34" charset="0"/>
                <a:ea typeface="Calibri" pitchFamily="34" charset="-122"/>
                <a:cs typeface="Calibri" pitchFamily="34" charset="-120"/>
              </a:rPr>
              <a:t>DIGITAL SOLUTIONS GROUP</a:t>
            </a:r>
            <a:endParaRPr lang="en-US" sz="650" dirty="0"/>
          </a:p>
        </p:txBody>
      </p:sp>
      <p:sp>
        <p:nvSpPr>
          <p:cNvPr id="28" name="Text 26"/>
          <p:cNvSpPr/>
          <p:nvPr/>
        </p:nvSpPr>
        <p:spPr>
          <a:xfrm>
            <a:off x="4754880" y="6473952"/>
            <a:ext cx="2743200" cy="237744"/>
          </a:xfrm>
          <a:prstGeom prst="rect">
            <a:avLst/>
          </a:prstGeom>
          <a:noFill/>
          <a:ln/>
        </p:spPr>
        <p:txBody>
          <a:bodyPr wrap="square" lIns="0" tIns="0" rIns="0" bIns="0" rtlCol="0" anchor="ctr"/>
          <a:lstStyle/>
          <a:p>
            <a:pPr algn="ctr" indent="0" marL="0">
              <a:buNone/>
            </a:pPr>
            <a:r>
              <a:rPr lang="en-US" sz="1100" b="1" dirty="0">
                <a:solidFill>
                  <a:srgbClr val="111111"/>
                </a:solidFill>
                <a:latin typeface="Calibri" pitchFamily="34" charset="0"/>
                <a:ea typeface="Calibri" pitchFamily="34" charset="-122"/>
                <a:cs typeface="Calibri" pitchFamily="34" charset="-120"/>
              </a:rPr>
              <a:t>digital</a:t>
            </a:r>
            <a:pPr algn="ctr" indent="0" marL="0">
              <a:buNone/>
            </a:pPr>
            <a:r>
              <a:rPr lang="en-US" sz="1100" b="1" dirty="0">
                <a:solidFill>
                  <a:srgbClr val="6B6B6B"/>
                </a:solidFill>
                <a:latin typeface="Calibri" pitchFamily="34" charset="0"/>
                <a:ea typeface="Calibri" pitchFamily="34" charset="-122"/>
                <a:cs typeface="Calibri" pitchFamily="34" charset="-120"/>
              </a:rPr>
              <a:t>mobile</a:t>
            </a:r>
            <a:endParaRPr lang="en-US" sz="1100" dirty="0"/>
          </a:p>
        </p:txBody>
      </p:sp>
      <p:sp>
        <p:nvSpPr>
          <p:cNvPr id="29" name="Shape 27"/>
          <p:cNvSpPr/>
          <p:nvPr/>
        </p:nvSpPr>
        <p:spPr>
          <a:xfrm>
            <a:off x="8595360" y="6519672"/>
            <a:ext cx="146304" cy="146304"/>
          </a:xfrm>
          <a:prstGeom prst="ellipse">
            <a:avLst/>
          </a:prstGeom>
          <a:solidFill>
            <a:srgbClr val="111111"/>
          </a:solidFill>
          <a:ln w="12700">
            <a:solidFill>
              <a:srgbClr val="111111"/>
            </a:solidFill>
            <a:prstDash val="solid"/>
          </a:ln>
        </p:spPr>
      </p:sp>
      <p:sp>
        <p:nvSpPr>
          <p:cNvPr id="30" name="Text 28"/>
          <p:cNvSpPr/>
          <p:nvPr/>
        </p:nvSpPr>
        <p:spPr>
          <a:xfrm>
            <a:off x="8778240" y="6473952"/>
            <a:ext cx="2194560" cy="237744"/>
          </a:xfrm>
          <a:prstGeom prst="rect">
            <a:avLst/>
          </a:prstGeom>
          <a:noFill/>
          <a:ln/>
        </p:spPr>
        <p:txBody>
          <a:bodyPr wrap="square" lIns="0" tIns="0" rIns="0" bIns="0" rtlCol="0" anchor="ctr"/>
          <a:lstStyle/>
          <a:p>
            <a:pPr indent="0" marL="0">
              <a:buNone/>
            </a:pPr>
            <a:r>
              <a:rPr lang="en-US" sz="900" i="1" dirty="0">
                <a:solidFill>
                  <a:srgbClr val="111111"/>
                </a:solidFill>
                <a:latin typeface="Calibri" pitchFamily="34" charset="0"/>
                <a:ea typeface="Calibri" pitchFamily="34" charset="-122"/>
                <a:cs typeface="Calibri" pitchFamily="34" charset="-120"/>
              </a:rPr>
              <a:t>#DoingSomethingGreat</a:t>
            </a:r>
            <a:endParaRPr lang="en-US" sz="900" dirty="0"/>
          </a:p>
        </p:txBody>
      </p:sp>
      <p:sp>
        <p:nvSpPr>
          <p:cNvPr id="31" name="Text 29"/>
          <p:cNvSpPr/>
          <p:nvPr/>
        </p:nvSpPr>
        <p:spPr>
          <a:xfrm>
            <a:off x="11002975" y="6473952"/>
            <a:ext cx="914400" cy="237744"/>
          </a:xfrm>
          <a:prstGeom prst="rect">
            <a:avLst/>
          </a:prstGeom>
          <a:noFill/>
          <a:ln/>
        </p:spPr>
        <p:txBody>
          <a:bodyPr wrap="square" lIns="0" tIns="0" rIns="0" bIns="0" rtlCol="0" anchor="ctr"/>
          <a:lstStyle/>
          <a:p>
            <a:pPr algn="r" indent="0" marL="0">
              <a:buNone/>
            </a:pPr>
            <a:r>
              <a:rPr lang="en-US" sz="800" dirty="0">
                <a:solidFill>
                  <a:srgbClr val="6B6B6B"/>
                </a:solidFill>
                <a:latin typeface="Calibri" pitchFamily="34" charset="0"/>
                <a:ea typeface="Calibri" pitchFamily="34" charset="-122"/>
                <a:cs typeface="Calibri" pitchFamily="34" charset="-120"/>
              </a:rPr>
              <a:t>06 / 20</a:t>
            </a:r>
            <a:endParaRPr lang="en-US" sz="8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02920" y="1828800"/>
          <a:ext cx="11155680" cy="914400"/>
        </p:xfrm>
        <a:graphic>
          <a:graphicData uri="http://schemas.openxmlformats.org/drawingml/2006/table">
            <a:tbl>
              <a:tblPr/>
              <a:tblGrid>
                <a:gridCol w="3474720"/>
                <a:gridCol w="2560320"/>
                <a:gridCol w="2560320"/>
                <a:gridCol w="2560320"/>
              </a:tblGrid>
              <a:tr h="292608">
                <a:tc>
                  <a:txBody>
                    <a:bodyPr/>
                    <a:lstStyle/>
                    <a:p>
                      <a:pPr indent="0" marL="0">
                        <a:buNone/>
                      </a:pPr>
                      <a:endParaRPr lang="en-US" sz="1200" dirty="0">
                        <a:latin typeface="Calibri" charset="0"/>
                        <a:ea typeface="Calibri" charset="0"/>
                        <a:cs typeface="Calibri"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Brand new MVNO</a:t>
                      </a:r>
                      <a:endParaRPr lang="en-US" sz="1100" dirty="0">
                        <a:latin typeface="Calibri" charset="0"/>
                        <a:ea typeface="Calibri" charset="0"/>
                        <a:cs typeface="Calibri" charset="0"/>
                      </a:endParaRPr>
                    </a:p>
                  </a:txBody>
                  <a:tcPr marL="76200" marR="76200" marT="76200" marB="762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11111"/>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Partnering with Digital Mobile</a:t>
                      </a:r>
                      <a:endParaRPr lang="en-US" sz="1100" dirty="0">
                        <a:latin typeface="Calibri" charset="0"/>
                        <a:ea typeface="Calibri" charset="0"/>
                        <a:cs typeface="Calibri" charset="0"/>
                      </a:endParaRPr>
                    </a:p>
                  </a:txBody>
                  <a:tcPr marL="76200" marR="76200" marT="76200" marB="762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11111"/>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Technology only</a:t>
                      </a:r>
                      <a:endParaRPr lang="en-US" sz="1100" dirty="0">
                        <a:latin typeface="Calibri" charset="0"/>
                        <a:ea typeface="Calibri" charset="0"/>
                        <a:cs typeface="Calibri" charset="0"/>
                      </a:endParaRPr>
                    </a:p>
                  </a:txBody>
                  <a:tcPr marL="76200" marR="76200" marT="76200" marB="762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11111"/>
                    </a:solidFill>
                  </a:tcPr>
                </a:tc>
              </a:tr>
              <a:tr h="292608">
                <a:tc>
                  <a:txBody>
                    <a:bodyPr/>
                    <a:lstStyle/>
                    <a:p>
                      <a:pPr indent="0" marL="0">
                        <a:buNone/>
                      </a:pPr>
                      <a:r>
                        <a:rPr lang="en-US" sz="1000" b="1" dirty="0">
                          <a:solidFill>
                            <a:srgbClr val="111111"/>
                          </a:solidFill>
                          <a:latin typeface="Calibri" pitchFamily="34" charset="0"/>
                          <a:ea typeface="Calibri" pitchFamily="34" charset="-122"/>
                          <a:cs typeface="Calibri" pitchFamily="34" charset="-120"/>
                        </a:rPr>
                        <a:t>Estimated build cost</a:t>
                      </a:r>
                      <a:endParaRPr lang="en-US" sz="1000" dirty="0">
                        <a:latin typeface="Calibri" charset="0"/>
                        <a:ea typeface="Calibri" charset="0"/>
                        <a:cs typeface="Calibri" charset="0"/>
                      </a:endParaRPr>
                    </a:p>
                  </a:txBody>
                  <a:tcPr marL="63500" marR="63500" marT="63500" marB="635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444444"/>
                          </a:solidFill>
                          <a:latin typeface="Calibri" pitchFamily="34" charset="0"/>
                          <a:ea typeface="Calibri" pitchFamily="34" charset="-122"/>
                          <a:cs typeface="Calibri" pitchFamily="34" charset="-120"/>
                        </a:rPr>
                        <a:t>R2 700 000</a:t>
                      </a:r>
                      <a:endParaRPr lang="en-US" sz="1000" dirty="0">
                        <a:latin typeface="Calibri" charset="0"/>
                        <a:ea typeface="Calibri" charset="0"/>
                        <a:cs typeface="Calibri" charset="0"/>
                      </a:endParaRPr>
                    </a:p>
                  </a:txBody>
                  <a:tcPr marL="63500" marR="63500" marT="63500" marB="635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R500 000</a:t>
                      </a:r>
                      <a:endParaRPr lang="en-US" sz="1000" dirty="0">
                        <a:latin typeface="Calibri" charset="0"/>
                        <a:ea typeface="Calibri" charset="0"/>
                        <a:cs typeface="Calibri" charset="0"/>
                      </a:endParaRPr>
                    </a:p>
                  </a:txBody>
                  <a:tcPr marL="63500" marR="63500" marT="63500" marB="635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222222"/>
                    </a:solidFill>
                  </a:tcPr>
                </a:tc>
                <a:tc>
                  <a:txBody>
                    <a:bodyPr/>
                    <a:lstStyle/>
                    <a:p>
                      <a:pPr algn="ctr" indent="0" marL="0">
                        <a:buNone/>
                      </a:pPr>
                      <a:r>
                        <a:rPr lang="en-US" sz="1000" dirty="0">
                          <a:solidFill>
                            <a:srgbClr val="444444"/>
                          </a:solidFill>
                          <a:latin typeface="Calibri" pitchFamily="34" charset="0"/>
                          <a:ea typeface="Calibri" pitchFamily="34" charset="-122"/>
                          <a:cs typeface="Calibri" pitchFamily="34" charset="-120"/>
                        </a:rPr>
                        <a:t>Solution dependent</a:t>
                      </a:r>
                      <a:endParaRPr lang="en-US" sz="1000" dirty="0">
                        <a:latin typeface="Calibri" charset="0"/>
                        <a:ea typeface="Calibri" charset="0"/>
                        <a:cs typeface="Calibri" charset="0"/>
                      </a:endParaRPr>
                    </a:p>
                  </a:txBody>
                  <a:tcPr marL="63500" marR="63500" marT="63500" marB="635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r>
              <a:tr h="292608">
                <a:tc>
                  <a:txBody>
                    <a:bodyPr/>
                    <a:lstStyle/>
                    <a:p>
                      <a:pPr indent="0" marL="0">
                        <a:buNone/>
                      </a:pPr>
                      <a:r>
                        <a:rPr lang="en-US" sz="1000" b="1" dirty="0">
                          <a:solidFill>
                            <a:srgbClr val="111111"/>
                          </a:solidFill>
                          <a:latin typeface="Calibri" pitchFamily="34" charset="0"/>
                          <a:ea typeface="Calibri" pitchFamily="34" charset="-122"/>
                          <a:cs typeface="Calibri" pitchFamily="34" charset="-120"/>
                        </a:rPr>
                        <a:t>Estimated build timeline</a:t>
                      </a:r>
                      <a:endParaRPr lang="en-US" sz="1000" dirty="0">
                        <a:latin typeface="Calibri" charset="0"/>
                        <a:ea typeface="Calibri" charset="0"/>
                        <a:cs typeface="Calibri" charset="0"/>
                      </a:endParaRPr>
                    </a:p>
                  </a:txBody>
                  <a:tcPr marL="63500" marR="63500" marT="63500" marB="635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5F5F5"/>
                    </a:solidFill>
                  </a:tcPr>
                </a:tc>
                <a:tc>
                  <a:txBody>
                    <a:bodyPr/>
                    <a:lstStyle/>
                    <a:p>
                      <a:pPr algn="ctr" indent="0" marL="0">
                        <a:buNone/>
                      </a:pPr>
                      <a:r>
                        <a:rPr lang="en-US" sz="1000" dirty="0">
                          <a:solidFill>
                            <a:srgbClr val="444444"/>
                          </a:solidFill>
                          <a:latin typeface="Calibri" pitchFamily="34" charset="0"/>
                          <a:ea typeface="Calibri" pitchFamily="34" charset="-122"/>
                          <a:cs typeface="Calibri" pitchFamily="34" charset="-120"/>
                        </a:rPr>
                        <a:t>6 months</a:t>
                      </a:r>
                      <a:endParaRPr lang="en-US" sz="1000" dirty="0">
                        <a:latin typeface="Calibri" charset="0"/>
                        <a:ea typeface="Calibri" charset="0"/>
                        <a:cs typeface="Calibri" charset="0"/>
                      </a:endParaRPr>
                    </a:p>
                  </a:txBody>
                  <a:tcPr marL="63500" marR="63500" marT="63500" marB="635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5F5F5"/>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2 months</a:t>
                      </a:r>
                      <a:endParaRPr lang="en-US" sz="1000" dirty="0">
                        <a:latin typeface="Calibri" charset="0"/>
                        <a:ea typeface="Calibri" charset="0"/>
                        <a:cs typeface="Calibri" charset="0"/>
                      </a:endParaRPr>
                    </a:p>
                  </a:txBody>
                  <a:tcPr marL="63500" marR="63500" marT="63500" marB="635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222222"/>
                    </a:solidFill>
                  </a:tcPr>
                </a:tc>
                <a:tc>
                  <a:txBody>
                    <a:bodyPr/>
                    <a:lstStyle/>
                    <a:p>
                      <a:pPr algn="ctr" indent="0" marL="0">
                        <a:buNone/>
                      </a:pPr>
                      <a:r>
                        <a:rPr lang="en-US" sz="1000" dirty="0">
                          <a:solidFill>
                            <a:srgbClr val="444444"/>
                          </a:solidFill>
                          <a:latin typeface="Calibri" pitchFamily="34" charset="0"/>
                          <a:ea typeface="Calibri" pitchFamily="34" charset="-122"/>
                          <a:cs typeface="Calibri" pitchFamily="34" charset="-120"/>
                        </a:rPr>
                        <a:t>6 months</a:t>
                      </a:r>
                      <a:endParaRPr lang="en-US" sz="1000" dirty="0">
                        <a:latin typeface="Calibri" charset="0"/>
                        <a:ea typeface="Calibri" charset="0"/>
                        <a:cs typeface="Calibri" charset="0"/>
                      </a:endParaRPr>
                    </a:p>
                  </a:txBody>
                  <a:tcPr marL="63500" marR="63500" marT="63500" marB="635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5F5F5"/>
                    </a:solidFill>
                  </a:tcPr>
                </a:tc>
              </a:tr>
              <a:tr h="292608">
                <a:tc>
                  <a:txBody>
                    <a:bodyPr/>
                    <a:lstStyle/>
                    <a:p>
                      <a:pPr indent="0" marL="0">
                        <a:buNone/>
                      </a:pPr>
                      <a:r>
                        <a:rPr lang="en-US" sz="1000" b="1" dirty="0">
                          <a:solidFill>
                            <a:srgbClr val="111111"/>
                          </a:solidFill>
                          <a:latin typeface="Calibri" pitchFamily="34" charset="0"/>
                          <a:ea typeface="Calibri" pitchFamily="34" charset="-122"/>
                          <a:cs typeface="Calibri" pitchFamily="34" charset="-120"/>
                        </a:rPr>
                        <a:t>Monthly minimum cost</a:t>
                      </a:r>
                      <a:endParaRPr lang="en-US" sz="1000" dirty="0">
                        <a:latin typeface="Calibri" charset="0"/>
                        <a:ea typeface="Calibri" charset="0"/>
                        <a:cs typeface="Calibri" charset="0"/>
                      </a:endParaRPr>
                    </a:p>
                  </a:txBody>
                  <a:tcPr marL="63500" marR="63500" marT="63500" marB="635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444444"/>
                          </a:solidFill>
                          <a:latin typeface="Calibri" pitchFamily="34" charset="0"/>
                          <a:ea typeface="Calibri" pitchFamily="34" charset="-122"/>
                          <a:cs typeface="Calibri" pitchFamily="34" charset="-120"/>
                        </a:rPr>
                        <a:t>R400 000</a:t>
                      </a:r>
                      <a:endParaRPr lang="en-US" sz="1000" dirty="0">
                        <a:latin typeface="Calibri" charset="0"/>
                        <a:ea typeface="Calibri" charset="0"/>
                        <a:cs typeface="Calibri" charset="0"/>
                      </a:endParaRPr>
                    </a:p>
                  </a:txBody>
                  <a:tcPr marL="63500" marR="63500" marT="63500" marB="635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R75 000</a:t>
                      </a:r>
                      <a:endParaRPr lang="en-US" sz="1000" dirty="0">
                        <a:latin typeface="Calibri" charset="0"/>
                        <a:ea typeface="Calibri" charset="0"/>
                        <a:cs typeface="Calibri" charset="0"/>
                      </a:endParaRPr>
                    </a:p>
                  </a:txBody>
                  <a:tcPr marL="63500" marR="63500" marT="63500" marB="635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222222"/>
                    </a:solidFill>
                  </a:tcPr>
                </a:tc>
                <a:tc>
                  <a:txBody>
                    <a:bodyPr/>
                    <a:lstStyle/>
                    <a:p>
                      <a:pPr algn="ctr" indent="0" marL="0">
                        <a:buNone/>
                      </a:pPr>
                      <a:r>
                        <a:rPr lang="en-US" sz="1000" dirty="0">
                          <a:solidFill>
                            <a:srgbClr val="444444"/>
                          </a:solidFill>
                          <a:latin typeface="Calibri" pitchFamily="34" charset="0"/>
                          <a:ea typeface="Calibri" pitchFamily="34" charset="-122"/>
                          <a:cs typeface="Calibri" pitchFamily="34" charset="-120"/>
                        </a:rPr>
                        <a:t>R200 000 – R400 000</a:t>
                      </a:r>
                      <a:endParaRPr lang="en-US" sz="1000" dirty="0">
                        <a:latin typeface="Calibri" charset="0"/>
                        <a:ea typeface="Calibri" charset="0"/>
                        <a:cs typeface="Calibri" charset="0"/>
                      </a:endParaRPr>
                    </a:p>
                  </a:txBody>
                  <a:tcPr marL="63500" marR="63500" marT="63500" marB="635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r>
              <a:tr h="292608">
                <a:tc>
                  <a:txBody>
                    <a:bodyPr/>
                    <a:lstStyle/>
                    <a:p>
                      <a:pPr indent="0" marL="0">
                        <a:buNone/>
                      </a:pPr>
                      <a:r>
                        <a:rPr lang="en-US" sz="1000" b="1" dirty="0">
                          <a:solidFill>
                            <a:srgbClr val="111111"/>
                          </a:solidFill>
                          <a:latin typeface="Calibri" pitchFamily="34" charset="0"/>
                          <a:ea typeface="Calibri" pitchFamily="34" charset="-122"/>
                          <a:cs typeface="Calibri" pitchFamily="34" charset="-120"/>
                        </a:rPr>
                        <a:t>Per-subscriber monthly cost</a:t>
                      </a:r>
                      <a:endParaRPr lang="en-US" sz="1000" dirty="0">
                        <a:latin typeface="Calibri" charset="0"/>
                        <a:ea typeface="Calibri" charset="0"/>
                        <a:cs typeface="Calibri" charset="0"/>
                      </a:endParaRPr>
                    </a:p>
                  </a:txBody>
                  <a:tcPr marL="63500" marR="63500" marT="63500" marB="635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5F5F5"/>
                    </a:solidFill>
                  </a:tcPr>
                </a:tc>
                <a:tc>
                  <a:txBody>
                    <a:bodyPr/>
                    <a:lstStyle/>
                    <a:p>
                      <a:pPr algn="ctr" indent="0" marL="0">
                        <a:buNone/>
                      </a:pPr>
                      <a:r>
                        <a:rPr lang="en-US" sz="1000" dirty="0">
                          <a:solidFill>
                            <a:srgbClr val="444444"/>
                          </a:solidFill>
                          <a:latin typeface="Calibri" pitchFamily="34" charset="0"/>
                          <a:ea typeface="Calibri" pitchFamily="34" charset="-122"/>
                          <a:cs typeface="Calibri" pitchFamily="34" charset="-120"/>
                        </a:rPr>
                        <a:t>R12</a:t>
                      </a:r>
                      <a:endParaRPr lang="en-US" sz="1000" dirty="0">
                        <a:latin typeface="Calibri" charset="0"/>
                        <a:ea typeface="Calibri" charset="0"/>
                        <a:cs typeface="Calibri" charset="0"/>
                      </a:endParaRPr>
                    </a:p>
                  </a:txBody>
                  <a:tcPr marL="63500" marR="63500" marT="63500" marB="635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5F5F5"/>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R7.50</a:t>
                      </a:r>
                      <a:endParaRPr lang="en-US" sz="1000" dirty="0">
                        <a:latin typeface="Calibri" charset="0"/>
                        <a:ea typeface="Calibri" charset="0"/>
                        <a:cs typeface="Calibri" charset="0"/>
                      </a:endParaRPr>
                    </a:p>
                  </a:txBody>
                  <a:tcPr marL="63500" marR="63500" marT="63500" marB="635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222222"/>
                    </a:solidFill>
                  </a:tcPr>
                </a:tc>
                <a:tc>
                  <a:txBody>
                    <a:bodyPr/>
                    <a:lstStyle/>
                    <a:p>
                      <a:pPr algn="ctr" indent="0" marL="0">
                        <a:buNone/>
                      </a:pPr>
                      <a:r>
                        <a:rPr lang="en-US" sz="1000" dirty="0">
                          <a:solidFill>
                            <a:srgbClr val="444444"/>
                          </a:solidFill>
                          <a:latin typeface="Calibri" pitchFamily="34" charset="0"/>
                          <a:ea typeface="Calibri" pitchFamily="34" charset="-122"/>
                          <a:cs typeface="Calibri" pitchFamily="34" charset="-120"/>
                        </a:rPr>
                        <a:t>R4.50 – R12</a:t>
                      </a:r>
                      <a:endParaRPr lang="en-US" sz="1000" dirty="0">
                        <a:latin typeface="Calibri" charset="0"/>
                        <a:ea typeface="Calibri" charset="0"/>
                        <a:cs typeface="Calibri" charset="0"/>
                      </a:endParaRPr>
                    </a:p>
                  </a:txBody>
                  <a:tcPr marL="63500" marR="63500" marT="63500" marB="635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5F5F5"/>
                    </a:solidFill>
                  </a:tcPr>
                </a:tc>
              </a:tr>
              <a:tr h="292608">
                <a:tc>
                  <a:txBody>
                    <a:bodyPr/>
                    <a:lstStyle/>
                    <a:p>
                      <a:pPr indent="0" marL="0">
                        <a:buNone/>
                      </a:pPr>
                      <a:r>
                        <a:rPr lang="en-US" sz="1000" b="1" dirty="0">
                          <a:solidFill>
                            <a:srgbClr val="111111"/>
                          </a:solidFill>
                          <a:latin typeface="Calibri" pitchFamily="34" charset="0"/>
                          <a:ea typeface="Calibri" pitchFamily="34" charset="-122"/>
                          <a:cs typeface="Calibri" pitchFamily="34" charset="-120"/>
                        </a:rPr>
                        <a:t>Network name</a:t>
                      </a:r>
                      <a:endParaRPr lang="en-US" sz="1000" dirty="0">
                        <a:latin typeface="Calibri" charset="0"/>
                        <a:ea typeface="Calibri" charset="0"/>
                        <a:cs typeface="Calibri" charset="0"/>
                      </a:endParaRPr>
                    </a:p>
                  </a:txBody>
                  <a:tcPr marL="63500" marR="63500" marT="63500" marB="635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444444"/>
                          </a:solidFill>
                          <a:latin typeface="Calibri" pitchFamily="34" charset="0"/>
                          <a:ea typeface="Calibri" pitchFamily="34" charset="-122"/>
                          <a:cs typeface="Calibri" pitchFamily="34" charset="-120"/>
                        </a:rPr>
                        <a:t>You can pick</a:t>
                      </a:r>
                      <a:endParaRPr lang="en-US" sz="1000" dirty="0">
                        <a:latin typeface="Calibri" charset="0"/>
                        <a:ea typeface="Calibri" charset="0"/>
                        <a:cs typeface="Calibri" charset="0"/>
                      </a:endParaRPr>
                    </a:p>
                  </a:txBody>
                  <a:tcPr marL="63500" marR="63500" marT="63500" marB="635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Digital Mobile</a:t>
                      </a:r>
                      <a:endParaRPr lang="en-US" sz="1000" dirty="0">
                        <a:latin typeface="Calibri" charset="0"/>
                        <a:ea typeface="Calibri" charset="0"/>
                        <a:cs typeface="Calibri" charset="0"/>
                      </a:endParaRPr>
                    </a:p>
                  </a:txBody>
                  <a:tcPr marL="63500" marR="63500" marT="63500" marB="635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222222"/>
                    </a:solidFill>
                  </a:tcPr>
                </a:tc>
                <a:tc>
                  <a:txBody>
                    <a:bodyPr/>
                    <a:lstStyle/>
                    <a:p>
                      <a:pPr algn="ctr" indent="0" marL="0">
                        <a:buNone/>
                      </a:pPr>
                      <a:r>
                        <a:rPr lang="en-US" sz="1000" dirty="0">
                          <a:solidFill>
                            <a:srgbClr val="444444"/>
                          </a:solidFill>
                          <a:latin typeface="Calibri" pitchFamily="34" charset="0"/>
                          <a:ea typeface="Calibri" pitchFamily="34" charset="-122"/>
                          <a:cs typeface="Calibri" pitchFamily="34" charset="-120"/>
                        </a:rPr>
                        <a:t>Solution dependent</a:t>
                      </a:r>
                      <a:endParaRPr lang="en-US" sz="1000" dirty="0">
                        <a:latin typeface="Calibri" charset="0"/>
                        <a:ea typeface="Calibri" charset="0"/>
                        <a:cs typeface="Calibri" charset="0"/>
                      </a:endParaRPr>
                    </a:p>
                  </a:txBody>
                  <a:tcPr marL="63500" marR="63500" marT="63500" marB="635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r>
              <a:tr h="292608">
                <a:tc>
                  <a:txBody>
                    <a:bodyPr/>
                    <a:lstStyle/>
                    <a:p>
                      <a:pPr indent="0" marL="0">
                        <a:buNone/>
                      </a:pPr>
                      <a:r>
                        <a:rPr lang="en-US" sz="1000" b="1" dirty="0">
                          <a:solidFill>
                            <a:srgbClr val="111111"/>
                          </a:solidFill>
                          <a:latin typeface="Calibri" pitchFamily="34" charset="0"/>
                          <a:ea typeface="Calibri" pitchFamily="34" charset="-122"/>
                          <a:cs typeface="Calibri" pitchFamily="34" charset="-120"/>
                        </a:rPr>
                        <a:t>Branded SIM card</a:t>
                      </a:r>
                      <a:endParaRPr lang="en-US" sz="1000" dirty="0">
                        <a:latin typeface="Calibri" charset="0"/>
                        <a:ea typeface="Calibri" charset="0"/>
                        <a:cs typeface="Calibri" charset="0"/>
                      </a:endParaRPr>
                    </a:p>
                  </a:txBody>
                  <a:tcPr marL="63500" marR="63500" marT="63500" marB="635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5F5F5"/>
                    </a:solidFill>
                  </a:tcPr>
                </a:tc>
                <a:tc>
                  <a:txBody>
                    <a:bodyPr/>
                    <a:lstStyle/>
                    <a:p>
                      <a:pPr algn="ctr" indent="0" marL="0">
                        <a:buNone/>
                      </a:pPr>
                      <a:r>
                        <a:rPr lang="en-US" sz="1000" dirty="0">
                          <a:solidFill>
                            <a:srgbClr val="444444"/>
                          </a:solidFill>
                          <a:latin typeface="Calibri" pitchFamily="34" charset="0"/>
                          <a:ea typeface="Calibri" pitchFamily="34" charset="-122"/>
                          <a:cs typeface="Calibri" pitchFamily="34" charset="-120"/>
                        </a:rPr>
                        <a:t>Yes</a:t>
                      </a:r>
                      <a:endParaRPr lang="en-US" sz="1000" dirty="0">
                        <a:latin typeface="Calibri" charset="0"/>
                        <a:ea typeface="Calibri" charset="0"/>
                        <a:cs typeface="Calibri" charset="0"/>
                      </a:endParaRPr>
                    </a:p>
                  </a:txBody>
                  <a:tcPr marL="63500" marR="63500" marT="63500" marB="635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5F5F5"/>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Yes / DM SIM</a:t>
                      </a:r>
                      <a:endParaRPr lang="en-US" sz="1000" dirty="0">
                        <a:latin typeface="Calibri" charset="0"/>
                        <a:ea typeface="Calibri" charset="0"/>
                        <a:cs typeface="Calibri" charset="0"/>
                      </a:endParaRPr>
                    </a:p>
                  </a:txBody>
                  <a:tcPr marL="63500" marR="63500" marT="63500" marB="635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222222"/>
                    </a:solidFill>
                  </a:tcPr>
                </a:tc>
                <a:tc>
                  <a:txBody>
                    <a:bodyPr/>
                    <a:lstStyle/>
                    <a:p>
                      <a:pPr algn="ctr" indent="0" marL="0">
                        <a:buNone/>
                      </a:pPr>
                      <a:r>
                        <a:rPr lang="en-US" sz="1000" dirty="0">
                          <a:solidFill>
                            <a:srgbClr val="444444"/>
                          </a:solidFill>
                          <a:latin typeface="Calibri" pitchFamily="34" charset="0"/>
                          <a:ea typeface="Calibri" pitchFamily="34" charset="-122"/>
                          <a:cs typeface="Calibri" pitchFamily="34" charset="-120"/>
                        </a:rPr>
                        <a:t>Solution dependent</a:t>
                      </a:r>
                      <a:endParaRPr lang="en-US" sz="1000" dirty="0">
                        <a:latin typeface="Calibri" charset="0"/>
                        <a:ea typeface="Calibri" charset="0"/>
                        <a:cs typeface="Calibri" charset="0"/>
                      </a:endParaRPr>
                    </a:p>
                  </a:txBody>
                  <a:tcPr marL="63500" marR="63500" marT="63500" marB="635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5F5F5"/>
                    </a:solidFill>
                  </a:tcPr>
                </a:tc>
              </a:tr>
              <a:tr h="292608">
                <a:tc>
                  <a:txBody>
                    <a:bodyPr/>
                    <a:lstStyle/>
                    <a:p>
                      <a:pPr indent="0" marL="0">
                        <a:buNone/>
                      </a:pPr>
                      <a:r>
                        <a:rPr lang="en-US" sz="1000" b="1" dirty="0">
                          <a:solidFill>
                            <a:srgbClr val="111111"/>
                          </a:solidFill>
                          <a:latin typeface="Calibri" pitchFamily="34" charset="0"/>
                          <a:ea typeface="Calibri" pitchFamily="34" charset="-122"/>
                          <a:cs typeface="Calibri" pitchFamily="34" charset="-120"/>
                        </a:rPr>
                        <a:t>OSS</a:t>
                      </a:r>
                      <a:endParaRPr lang="en-US" sz="1000" dirty="0">
                        <a:latin typeface="Calibri" charset="0"/>
                        <a:ea typeface="Calibri" charset="0"/>
                        <a:cs typeface="Calibri" charset="0"/>
                      </a:endParaRPr>
                    </a:p>
                  </a:txBody>
                  <a:tcPr marL="63500" marR="63500" marT="63500" marB="635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444444"/>
                          </a:solidFill>
                          <a:latin typeface="Calibri" pitchFamily="34" charset="0"/>
                          <a:ea typeface="Calibri" pitchFamily="34" charset="-122"/>
                          <a:cs typeface="Calibri" pitchFamily="34" charset="-120"/>
                        </a:rPr>
                        <a:t>Yes</a:t>
                      </a:r>
                      <a:endParaRPr lang="en-US" sz="1000" dirty="0">
                        <a:latin typeface="Calibri" charset="0"/>
                        <a:ea typeface="Calibri" charset="0"/>
                        <a:cs typeface="Calibri" charset="0"/>
                      </a:endParaRPr>
                    </a:p>
                  </a:txBody>
                  <a:tcPr marL="63500" marR="63500" marT="63500" marB="635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Yes</a:t>
                      </a:r>
                      <a:endParaRPr lang="en-US" sz="1000" dirty="0">
                        <a:latin typeface="Calibri" charset="0"/>
                        <a:ea typeface="Calibri" charset="0"/>
                        <a:cs typeface="Calibri" charset="0"/>
                      </a:endParaRPr>
                    </a:p>
                  </a:txBody>
                  <a:tcPr marL="63500" marR="63500" marT="63500" marB="635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222222"/>
                    </a:solidFill>
                  </a:tcPr>
                </a:tc>
                <a:tc>
                  <a:txBody>
                    <a:bodyPr/>
                    <a:lstStyle/>
                    <a:p>
                      <a:pPr algn="ctr" indent="0" marL="0">
                        <a:buNone/>
                      </a:pPr>
                      <a:r>
                        <a:rPr lang="en-US" sz="1000" dirty="0">
                          <a:solidFill>
                            <a:srgbClr val="444444"/>
                          </a:solidFill>
                          <a:latin typeface="Calibri" pitchFamily="34" charset="0"/>
                          <a:ea typeface="Calibri" pitchFamily="34" charset="-122"/>
                          <a:cs typeface="Calibri" pitchFamily="34" charset="-120"/>
                        </a:rPr>
                        <a:t>Optional</a:t>
                      </a:r>
                      <a:endParaRPr lang="en-US" sz="1000" dirty="0">
                        <a:latin typeface="Calibri" charset="0"/>
                        <a:ea typeface="Calibri" charset="0"/>
                        <a:cs typeface="Calibri" charset="0"/>
                      </a:endParaRPr>
                    </a:p>
                  </a:txBody>
                  <a:tcPr marL="63500" marR="63500" marT="63500" marB="635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r>
              <a:tr h="292608">
                <a:tc>
                  <a:txBody>
                    <a:bodyPr/>
                    <a:lstStyle/>
                    <a:p>
                      <a:pPr indent="0" marL="0">
                        <a:buNone/>
                      </a:pPr>
                      <a:r>
                        <a:rPr lang="en-US" sz="1000" b="1" dirty="0">
                          <a:solidFill>
                            <a:srgbClr val="111111"/>
                          </a:solidFill>
                          <a:latin typeface="Calibri" pitchFamily="34" charset="0"/>
                          <a:ea typeface="Calibri" pitchFamily="34" charset="-122"/>
                          <a:cs typeface="Calibri" pitchFamily="34" charset="-120"/>
                        </a:rPr>
                        <a:t>BSS</a:t>
                      </a:r>
                      <a:endParaRPr lang="en-US" sz="1000" dirty="0">
                        <a:latin typeface="Calibri" charset="0"/>
                        <a:ea typeface="Calibri" charset="0"/>
                        <a:cs typeface="Calibri" charset="0"/>
                      </a:endParaRPr>
                    </a:p>
                  </a:txBody>
                  <a:tcPr marL="63500" marR="63500" marT="63500" marB="635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5F5F5"/>
                    </a:solidFill>
                  </a:tcPr>
                </a:tc>
                <a:tc>
                  <a:txBody>
                    <a:bodyPr/>
                    <a:lstStyle/>
                    <a:p>
                      <a:pPr algn="ctr" indent="0" marL="0">
                        <a:buNone/>
                      </a:pPr>
                      <a:r>
                        <a:rPr lang="en-US" sz="1000" dirty="0">
                          <a:solidFill>
                            <a:srgbClr val="444444"/>
                          </a:solidFill>
                          <a:latin typeface="Calibri" pitchFamily="34" charset="0"/>
                          <a:ea typeface="Calibri" pitchFamily="34" charset="-122"/>
                          <a:cs typeface="Calibri" pitchFamily="34" charset="-120"/>
                        </a:rPr>
                        <a:t>Yes</a:t>
                      </a:r>
                      <a:endParaRPr lang="en-US" sz="1000" dirty="0">
                        <a:latin typeface="Calibri" charset="0"/>
                        <a:ea typeface="Calibri" charset="0"/>
                        <a:cs typeface="Calibri" charset="0"/>
                      </a:endParaRPr>
                    </a:p>
                  </a:txBody>
                  <a:tcPr marL="63500" marR="63500" marT="63500" marB="635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5F5F5"/>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Yes</a:t>
                      </a:r>
                      <a:endParaRPr lang="en-US" sz="1000" dirty="0">
                        <a:latin typeface="Calibri" charset="0"/>
                        <a:ea typeface="Calibri" charset="0"/>
                        <a:cs typeface="Calibri" charset="0"/>
                      </a:endParaRPr>
                    </a:p>
                  </a:txBody>
                  <a:tcPr marL="63500" marR="63500" marT="63500" marB="635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222222"/>
                    </a:solidFill>
                  </a:tcPr>
                </a:tc>
                <a:tc>
                  <a:txBody>
                    <a:bodyPr/>
                    <a:lstStyle/>
                    <a:p>
                      <a:pPr algn="ctr" indent="0" marL="0">
                        <a:buNone/>
                      </a:pPr>
                      <a:r>
                        <a:rPr lang="en-US" sz="1000" dirty="0">
                          <a:solidFill>
                            <a:srgbClr val="444444"/>
                          </a:solidFill>
                          <a:latin typeface="Calibri" pitchFamily="34" charset="0"/>
                          <a:ea typeface="Calibri" pitchFamily="34" charset="-122"/>
                          <a:cs typeface="Calibri" pitchFamily="34" charset="-120"/>
                        </a:rPr>
                        <a:t>Optional</a:t>
                      </a:r>
                      <a:endParaRPr lang="en-US" sz="1000" dirty="0">
                        <a:latin typeface="Calibri" charset="0"/>
                        <a:ea typeface="Calibri" charset="0"/>
                        <a:cs typeface="Calibri" charset="0"/>
                      </a:endParaRPr>
                    </a:p>
                  </a:txBody>
                  <a:tcPr marL="63500" marR="63500" marT="63500" marB="635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5F5F5"/>
                    </a:solidFill>
                  </a:tcPr>
                </a:tc>
              </a:tr>
              <a:tr h="292608">
                <a:tc>
                  <a:txBody>
                    <a:bodyPr/>
                    <a:lstStyle/>
                    <a:p>
                      <a:pPr indent="0" marL="0">
                        <a:buNone/>
                      </a:pPr>
                      <a:r>
                        <a:rPr lang="en-US" sz="1000" b="1" dirty="0">
                          <a:solidFill>
                            <a:srgbClr val="111111"/>
                          </a:solidFill>
                          <a:latin typeface="Calibri" pitchFamily="34" charset="0"/>
                          <a:ea typeface="Calibri" pitchFamily="34" charset="-122"/>
                          <a:cs typeface="Calibri" pitchFamily="34" charset="-120"/>
                        </a:rPr>
                        <a:t>PCRF</a:t>
                      </a:r>
                      <a:endParaRPr lang="en-US" sz="1000" dirty="0">
                        <a:latin typeface="Calibri" charset="0"/>
                        <a:ea typeface="Calibri" charset="0"/>
                        <a:cs typeface="Calibri" charset="0"/>
                      </a:endParaRPr>
                    </a:p>
                  </a:txBody>
                  <a:tcPr marL="63500" marR="63500" marT="63500" marB="635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444444"/>
                          </a:solidFill>
                          <a:latin typeface="Calibri" pitchFamily="34" charset="0"/>
                          <a:ea typeface="Calibri" pitchFamily="34" charset="-122"/>
                          <a:cs typeface="Calibri" pitchFamily="34" charset="-120"/>
                        </a:rPr>
                        <a:t>Yes</a:t>
                      </a:r>
                      <a:endParaRPr lang="en-US" sz="1000" dirty="0">
                        <a:latin typeface="Calibri" charset="0"/>
                        <a:ea typeface="Calibri" charset="0"/>
                        <a:cs typeface="Calibri" charset="0"/>
                      </a:endParaRPr>
                    </a:p>
                  </a:txBody>
                  <a:tcPr marL="63500" marR="63500" marT="63500" marB="635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Yes</a:t>
                      </a:r>
                      <a:endParaRPr lang="en-US" sz="1000" dirty="0">
                        <a:latin typeface="Calibri" charset="0"/>
                        <a:ea typeface="Calibri" charset="0"/>
                        <a:cs typeface="Calibri" charset="0"/>
                      </a:endParaRPr>
                    </a:p>
                  </a:txBody>
                  <a:tcPr marL="63500" marR="63500" marT="63500" marB="635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222222"/>
                    </a:solidFill>
                  </a:tcPr>
                </a:tc>
                <a:tc>
                  <a:txBody>
                    <a:bodyPr/>
                    <a:lstStyle/>
                    <a:p>
                      <a:pPr algn="ctr" indent="0" marL="0">
                        <a:buNone/>
                      </a:pPr>
                      <a:r>
                        <a:rPr lang="en-US" sz="1000" dirty="0">
                          <a:solidFill>
                            <a:srgbClr val="444444"/>
                          </a:solidFill>
                          <a:latin typeface="Calibri" pitchFamily="34" charset="0"/>
                          <a:ea typeface="Calibri" pitchFamily="34" charset="-122"/>
                          <a:cs typeface="Calibri" pitchFamily="34" charset="-120"/>
                        </a:rPr>
                        <a:t>Optional</a:t>
                      </a:r>
                      <a:endParaRPr lang="en-US" sz="1000" dirty="0">
                        <a:latin typeface="Calibri" charset="0"/>
                        <a:ea typeface="Calibri" charset="0"/>
                        <a:cs typeface="Calibri" charset="0"/>
                      </a:endParaRPr>
                    </a:p>
                  </a:txBody>
                  <a:tcPr marL="63500" marR="63500" marT="63500" marB="635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r>
              <a:tr h="292608">
                <a:tc>
                  <a:txBody>
                    <a:bodyPr/>
                    <a:lstStyle/>
                    <a:p>
                      <a:pPr indent="0" marL="0">
                        <a:buNone/>
                      </a:pPr>
                      <a:r>
                        <a:rPr lang="en-US" sz="1000" b="1" dirty="0">
                          <a:solidFill>
                            <a:srgbClr val="111111"/>
                          </a:solidFill>
                          <a:latin typeface="Calibri" pitchFamily="34" charset="0"/>
                          <a:ea typeface="Calibri" pitchFamily="34" charset="-122"/>
                          <a:cs typeface="Calibri" pitchFamily="34" charset="-120"/>
                        </a:rPr>
                        <a:t>OCS</a:t>
                      </a:r>
                      <a:endParaRPr lang="en-US" sz="1000" dirty="0">
                        <a:latin typeface="Calibri" charset="0"/>
                        <a:ea typeface="Calibri" charset="0"/>
                        <a:cs typeface="Calibri" charset="0"/>
                      </a:endParaRPr>
                    </a:p>
                  </a:txBody>
                  <a:tcPr marL="63500" marR="63500" marT="63500" marB="635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5F5F5"/>
                    </a:solidFill>
                  </a:tcPr>
                </a:tc>
                <a:tc>
                  <a:txBody>
                    <a:bodyPr/>
                    <a:lstStyle/>
                    <a:p>
                      <a:pPr algn="ctr" indent="0" marL="0">
                        <a:buNone/>
                      </a:pPr>
                      <a:r>
                        <a:rPr lang="en-US" sz="1000" dirty="0">
                          <a:solidFill>
                            <a:srgbClr val="444444"/>
                          </a:solidFill>
                          <a:latin typeface="Calibri" pitchFamily="34" charset="0"/>
                          <a:ea typeface="Calibri" pitchFamily="34" charset="-122"/>
                          <a:cs typeface="Calibri" pitchFamily="34" charset="-120"/>
                        </a:rPr>
                        <a:t>Yes</a:t>
                      </a:r>
                      <a:endParaRPr lang="en-US" sz="1000" dirty="0">
                        <a:latin typeface="Calibri" charset="0"/>
                        <a:ea typeface="Calibri" charset="0"/>
                        <a:cs typeface="Calibri" charset="0"/>
                      </a:endParaRPr>
                    </a:p>
                  </a:txBody>
                  <a:tcPr marL="63500" marR="63500" marT="63500" marB="635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5F5F5"/>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Yes</a:t>
                      </a:r>
                      <a:endParaRPr lang="en-US" sz="1000" dirty="0">
                        <a:latin typeface="Calibri" charset="0"/>
                        <a:ea typeface="Calibri" charset="0"/>
                        <a:cs typeface="Calibri" charset="0"/>
                      </a:endParaRPr>
                    </a:p>
                  </a:txBody>
                  <a:tcPr marL="63500" marR="63500" marT="63500" marB="635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222222"/>
                    </a:solidFill>
                  </a:tcPr>
                </a:tc>
                <a:tc>
                  <a:txBody>
                    <a:bodyPr/>
                    <a:lstStyle/>
                    <a:p>
                      <a:pPr algn="ctr" indent="0" marL="0">
                        <a:buNone/>
                      </a:pPr>
                      <a:r>
                        <a:rPr lang="en-US" sz="1000" dirty="0">
                          <a:solidFill>
                            <a:srgbClr val="444444"/>
                          </a:solidFill>
                          <a:latin typeface="Calibri" pitchFamily="34" charset="0"/>
                          <a:ea typeface="Calibri" pitchFamily="34" charset="-122"/>
                          <a:cs typeface="Calibri" pitchFamily="34" charset="-120"/>
                        </a:rPr>
                        <a:t>Optional</a:t>
                      </a:r>
                      <a:endParaRPr lang="en-US" sz="1000" dirty="0">
                        <a:latin typeface="Calibri" charset="0"/>
                        <a:ea typeface="Calibri" charset="0"/>
                        <a:cs typeface="Calibri" charset="0"/>
                      </a:endParaRPr>
                    </a:p>
                  </a:txBody>
                  <a:tcPr marL="63500" marR="63500" marT="63500" marB="635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5F5F5"/>
                    </a:solidFill>
                  </a:tcPr>
                </a:tc>
              </a:tr>
              <a:tr h="292608">
                <a:tc>
                  <a:txBody>
                    <a:bodyPr/>
                    <a:lstStyle/>
                    <a:p>
                      <a:pPr indent="0" marL="0">
                        <a:buNone/>
                      </a:pPr>
                      <a:r>
                        <a:rPr lang="en-US" sz="1000" b="1" dirty="0">
                          <a:solidFill>
                            <a:srgbClr val="111111"/>
                          </a:solidFill>
                          <a:latin typeface="Calibri" pitchFamily="34" charset="0"/>
                          <a:ea typeface="Calibri" pitchFamily="34" charset="-122"/>
                          <a:cs typeface="Calibri" pitchFamily="34" charset="-120"/>
                        </a:rPr>
                        <a:t>iPaaS</a:t>
                      </a:r>
                      <a:endParaRPr lang="en-US" sz="1000" dirty="0">
                        <a:latin typeface="Calibri" charset="0"/>
                        <a:ea typeface="Calibri" charset="0"/>
                        <a:cs typeface="Calibri" charset="0"/>
                      </a:endParaRPr>
                    </a:p>
                  </a:txBody>
                  <a:tcPr marL="63500" marR="63500" marT="63500" marB="635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444444"/>
                          </a:solidFill>
                          <a:latin typeface="Calibri" pitchFamily="34" charset="0"/>
                          <a:ea typeface="Calibri" pitchFamily="34" charset="-122"/>
                          <a:cs typeface="Calibri" pitchFamily="34" charset="-120"/>
                        </a:rPr>
                        <a:t>Yes</a:t>
                      </a:r>
                      <a:endParaRPr lang="en-US" sz="1000" dirty="0">
                        <a:latin typeface="Calibri" charset="0"/>
                        <a:ea typeface="Calibri" charset="0"/>
                        <a:cs typeface="Calibri" charset="0"/>
                      </a:endParaRPr>
                    </a:p>
                  </a:txBody>
                  <a:tcPr marL="63500" marR="63500" marT="63500" marB="635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Yes</a:t>
                      </a:r>
                      <a:endParaRPr lang="en-US" sz="1000" dirty="0">
                        <a:latin typeface="Calibri" charset="0"/>
                        <a:ea typeface="Calibri" charset="0"/>
                        <a:cs typeface="Calibri" charset="0"/>
                      </a:endParaRPr>
                    </a:p>
                  </a:txBody>
                  <a:tcPr marL="63500" marR="63500" marT="63500" marB="635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222222"/>
                    </a:solidFill>
                  </a:tcPr>
                </a:tc>
                <a:tc>
                  <a:txBody>
                    <a:bodyPr/>
                    <a:lstStyle/>
                    <a:p>
                      <a:pPr algn="ctr" indent="0" marL="0">
                        <a:buNone/>
                      </a:pPr>
                      <a:r>
                        <a:rPr lang="en-US" sz="1000" dirty="0">
                          <a:solidFill>
                            <a:srgbClr val="444444"/>
                          </a:solidFill>
                          <a:latin typeface="Calibri" pitchFamily="34" charset="0"/>
                          <a:ea typeface="Calibri" pitchFamily="34" charset="-122"/>
                          <a:cs typeface="Calibri" pitchFamily="34" charset="-120"/>
                        </a:rPr>
                        <a:t>Optional</a:t>
                      </a:r>
                      <a:endParaRPr lang="en-US" sz="1000" dirty="0">
                        <a:latin typeface="Calibri" charset="0"/>
                        <a:ea typeface="Calibri" charset="0"/>
                        <a:cs typeface="Calibri" charset="0"/>
                      </a:endParaRPr>
                    </a:p>
                  </a:txBody>
                  <a:tcPr marL="63500" marR="63500" marT="63500" marB="635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r>
              <a:tr h="292608">
                <a:tc>
                  <a:txBody>
                    <a:bodyPr/>
                    <a:lstStyle/>
                    <a:p>
                      <a:pPr indent="0" marL="0">
                        <a:buNone/>
                      </a:pPr>
                      <a:r>
                        <a:rPr lang="en-US" sz="1000" b="1" dirty="0">
                          <a:solidFill>
                            <a:srgbClr val="111111"/>
                          </a:solidFill>
                          <a:latin typeface="Calibri" pitchFamily="34" charset="0"/>
                          <a:ea typeface="Calibri" pitchFamily="34" charset="-122"/>
                          <a:cs typeface="Calibri" pitchFamily="34" charset="-120"/>
                        </a:rPr>
                        <a:t>HLR</a:t>
                      </a:r>
                      <a:endParaRPr lang="en-US" sz="1000" dirty="0">
                        <a:latin typeface="Calibri" charset="0"/>
                        <a:ea typeface="Calibri" charset="0"/>
                        <a:cs typeface="Calibri" charset="0"/>
                      </a:endParaRPr>
                    </a:p>
                  </a:txBody>
                  <a:tcPr marL="63500" marR="63500" marT="63500" marB="635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5F5F5"/>
                    </a:solidFill>
                  </a:tcPr>
                </a:tc>
                <a:tc>
                  <a:txBody>
                    <a:bodyPr/>
                    <a:lstStyle/>
                    <a:p>
                      <a:pPr algn="ctr" indent="0" marL="0">
                        <a:buNone/>
                      </a:pPr>
                      <a:r>
                        <a:rPr lang="en-US" sz="1000" dirty="0">
                          <a:solidFill>
                            <a:srgbClr val="444444"/>
                          </a:solidFill>
                          <a:latin typeface="Calibri" pitchFamily="34" charset="0"/>
                          <a:ea typeface="Calibri" pitchFamily="34" charset="-122"/>
                          <a:cs typeface="Calibri" pitchFamily="34" charset="-120"/>
                        </a:rPr>
                        <a:t>No</a:t>
                      </a:r>
                      <a:endParaRPr lang="en-US" sz="1000" dirty="0">
                        <a:latin typeface="Calibri" charset="0"/>
                        <a:ea typeface="Calibri" charset="0"/>
                        <a:cs typeface="Calibri" charset="0"/>
                      </a:endParaRPr>
                    </a:p>
                  </a:txBody>
                  <a:tcPr marL="63500" marR="63500" marT="63500" marB="635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5F5F5"/>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No</a:t>
                      </a:r>
                      <a:endParaRPr lang="en-US" sz="1000" dirty="0">
                        <a:latin typeface="Calibri" charset="0"/>
                        <a:ea typeface="Calibri" charset="0"/>
                        <a:cs typeface="Calibri" charset="0"/>
                      </a:endParaRPr>
                    </a:p>
                  </a:txBody>
                  <a:tcPr marL="63500" marR="63500" marT="63500" marB="635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222222"/>
                    </a:solidFill>
                  </a:tcPr>
                </a:tc>
                <a:tc>
                  <a:txBody>
                    <a:bodyPr/>
                    <a:lstStyle/>
                    <a:p>
                      <a:pPr algn="ctr" indent="0" marL="0">
                        <a:buNone/>
                      </a:pPr>
                      <a:r>
                        <a:rPr lang="en-US" sz="1000" dirty="0">
                          <a:solidFill>
                            <a:srgbClr val="444444"/>
                          </a:solidFill>
                          <a:latin typeface="Calibri" pitchFamily="34" charset="0"/>
                          <a:ea typeface="Calibri" pitchFamily="34" charset="-122"/>
                          <a:cs typeface="Calibri" pitchFamily="34" charset="-120"/>
                        </a:rPr>
                        <a:t>No</a:t>
                      </a:r>
                      <a:endParaRPr lang="en-US" sz="1000" dirty="0">
                        <a:latin typeface="Calibri" charset="0"/>
                        <a:ea typeface="Calibri" charset="0"/>
                        <a:cs typeface="Calibri" charset="0"/>
                      </a:endParaRPr>
                    </a:p>
                  </a:txBody>
                  <a:tcPr marL="63500" marR="63500" marT="63500" marB="635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5F5F5"/>
                    </a:solidFill>
                  </a:tcPr>
                </a:tc>
              </a:tr>
              <a:tr h="292608">
                <a:tc>
                  <a:txBody>
                    <a:bodyPr/>
                    <a:lstStyle/>
                    <a:p>
                      <a:pPr indent="0" marL="0">
                        <a:buNone/>
                      </a:pPr>
                      <a:r>
                        <a:rPr lang="en-US" sz="1000" b="1" dirty="0">
                          <a:solidFill>
                            <a:srgbClr val="111111"/>
                          </a:solidFill>
                          <a:latin typeface="Calibri" pitchFamily="34" charset="0"/>
                          <a:ea typeface="Calibri" pitchFamily="34" charset="-122"/>
                          <a:cs typeface="Calibri" pitchFamily="34" charset="-120"/>
                        </a:rPr>
                        <a:t>CVM / MaaS / FaaS / GMaaS</a:t>
                      </a:r>
                      <a:endParaRPr lang="en-US" sz="1000" dirty="0">
                        <a:latin typeface="Calibri" charset="0"/>
                        <a:ea typeface="Calibri" charset="0"/>
                        <a:cs typeface="Calibri" charset="0"/>
                      </a:endParaRPr>
                    </a:p>
                  </a:txBody>
                  <a:tcPr marL="63500" marR="63500" marT="63500" marB="635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444444"/>
                          </a:solidFill>
                          <a:latin typeface="Calibri" pitchFamily="34" charset="0"/>
                          <a:ea typeface="Calibri" pitchFamily="34" charset="-122"/>
                          <a:cs typeface="Calibri" pitchFamily="34" charset="-120"/>
                        </a:rPr>
                        <a:t>Optional</a:t>
                      </a:r>
                      <a:endParaRPr lang="en-US" sz="1000" dirty="0">
                        <a:latin typeface="Calibri" charset="0"/>
                        <a:ea typeface="Calibri" charset="0"/>
                        <a:cs typeface="Calibri" charset="0"/>
                      </a:endParaRPr>
                    </a:p>
                  </a:txBody>
                  <a:tcPr marL="63500" marR="63500" marT="63500" marB="635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Optional</a:t>
                      </a:r>
                      <a:endParaRPr lang="en-US" sz="1000" dirty="0">
                        <a:latin typeface="Calibri" charset="0"/>
                        <a:ea typeface="Calibri" charset="0"/>
                        <a:cs typeface="Calibri" charset="0"/>
                      </a:endParaRPr>
                    </a:p>
                  </a:txBody>
                  <a:tcPr marL="63500" marR="63500" marT="63500" marB="635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222222"/>
                    </a:solidFill>
                  </a:tcPr>
                </a:tc>
                <a:tc>
                  <a:txBody>
                    <a:bodyPr/>
                    <a:lstStyle/>
                    <a:p>
                      <a:pPr algn="ctr" indent="0" marL="0">
                        <a:buNone/>
                      </a:pPr>
                      <a:r>
                        <a:rPr lang="en-US" sz="1000" dirty="0">
                          <a:solidFill>
                            <a:srgbClr val="444444"/>
                          </a:solidFill>
                          <a:latin typeface="Calibri" pitchFamily="34" charset="0"/>
                          <a:ea typeface="Calibri" pitchFamily="34" charset="-122"/>
                          <a:cs typeface="Calibri" pitchFamily="34" charset="-120"/>
                        </a:rPr>
                        <a:t>Optional</a:t>
                      </a:r>
                      <a:endParaRPr lang="en-US" sz="1000" dirty="0">
                        <a:latin typeface="Calibri" charset="0"/>
                        <a:ea typeface="Calibri" charset="0"/>
                        <a:cs typeface="Calibri" charset="0"/>
                      </a:endParaRPr>
                    </a:p>
                  </a:txBody>
                  <a:tcPr marL="63500" marR="63500" marT="63500" marB="635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r>
            </a:tbl>
          </a:graphicData>
        </a:graphic>
      </p:graphicFrame>
      <p:sp>
        <p:nvSpPr>
          <p:cNvPr id="33" name="Text 30"/>
          <p:cNvSpPr/>
          <p:nvPr/>
        </p:nvSpPr>
        <p:spPr>
          <a:xfrm>
            <a:off x="502920" y="6035040"/>
            <a:ext cx="11247120" cy="274320"/>
          </a:xfrm>
          <a:prstGeom prst="rect">
            <a:avLst/>
          </a:prstGeom>
          <a:noFill/>
          <a:ln/>
        </p:spPr>
        <p:txBody>
          <a:bodyPr wrap="square" lIns="0" tIns="0" rIns="0" bIns="0" rtlCol="0" anchor="ctr"/>
          <a:lstStyle/>
          <a:p>
            <a:pPr indent="0" marL="0">
              <a:buNone/>
            </a:pPr>
            <a:r>
              <a:rPr lang="en-US" sz="1050" i="1" dirty="0">
                <a:solidFill>
                  <a:srgbClr val="111111"/>
                </a:solidFill>
                <a:latin typeface="Calibri" pitchFamily="34" charset="0"/>
                <a:ea typeface="Calibri" pitchFamily="34" charset="-122"/>
                <a:cs typeface="Calibri" pitchFamily="34" charset="-120"/>
              </a:rPr>
              <a:t>Recommendation — Partnering with Digital Mobile.  Fastest to market (8 weeks), lowest minimum, full managed service.</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20040" y="182880"/>
            <a:ext cx="1417320" cy="438912"/>
          </a:xfrm>
          <a:prstGeom prst="rect">
            <a:avLst/>
          </a:prstGeom>
          <a:solidFill>
            <a:srgbClr val="111111"/>
          </a:solidFill>
          <a:ln w="12700">
            <a:solidFill>
              <a:srgbClr val="111111"/>
            </a:solidFill>
            <a:prstDash val="solid"/>
          </a:ln>
        </p:spPr>
      </p:sp>
      <p:sp>
        <p:nvSpPr>
          <p:cNvPr id="3" name="Text 1"/>
          <p:cNvSpPr/>
          <p:nvPr/>
        </p:nvSpPr>
        <p:spPr>
          <a:xfrm>
            <a:off x="320040" y="182880"/>
            <a:ext cx="1417320" cy="438912"/>
          </a:xfrm>
          <a:prstGeom prst="rect">
            <a:avLst/>
          </a:prstGeom>
          <a:noFill/>
          <a:ln/>
        </p:spPr>
        <p:txBody>
          <a:bodyPr wrap="square" lIns="0" tIns="0" rIns="0" bIns="0" rtlCol="0" anchor="ctr"/>
          <a:lstStyle/>
          <a:p>
            <a:pPr algn="ctr" indent="0" marL="0">
              <a:buNone/>
            </a:pPr>
            <a:r>
              <a:rPr lang="en-US" sz="1500" b="1" spc="400" kern="0" dirty="0">
                <a:solidFill>
                  <a:srgbClr val="FFFFFF"/>
                </a:solidFill>
                <a:latin typeface="Calibri" pitchFamily="34" charset="0"/>
                <a:ea typeface="Calibri" pitchFamily="34" charset="-122"/>
                <a:cs typeface="Calibri" pitchFamily="34" charset="-120"/>
              </a:rPr>
              <a:t>ARENA
</a:t>
            </a:r>
            <a:pPr algn="ctr" indent="0" marL="0">
              <a:buNone/>
            </a:pPr>
            <a:r>
              <a:rPr lang="en-US" sz="600" spc="400" kern="0" dirty="0">
                <a:solidFill>
                  <a:srgbClr val="FFFFFF"/>
                </a:solidFill>
                <a:latin typeface="Calibri" pitchFamily="34" charset="0"/>
                <a:ea typeface="Calibri" pitchFamily="34" charset="-122"/>
                <a:cs typeface="Calibri" pitchFamily="34" charset="-120"/>
              </a:rPr>
              <a:t>H O L D I N G S</a:t>
            </a:r>
            <a:endParaRPr lang="en-US" sz="1500" dirty="0"/>
          </a:p>
        </p:txBody>
      </p:sp>
      <p:sp>
        <p:nvSpPr>
          <p:cNvPr id="4" name="Shape 2"/>
          <p:cNvSpPr/>
          <p:nvPr/>
        </p:nvSpPr>
        <p:spPr>
          <a:xfrm>
            <a:off x="9677095" y="246888"/>
            <a:ext cx="201168" cy="201168"/>
          </a:xfrm>
          <a:prstGeom prst="ellipse">
            <a:avLst/>
          </a:prstGeom>
          <a:solidFill>
            <a:srgbClr val="111111"/>
          </a:solidFill>
          <a:ln w="12700">
            <a:solidFill>
              <a:srgbClr val="111111"/>
            </a:solidFill>
            <a:prstDash val="solid"/>
          </a:ln>
        </p:spPr>
      </p:sp>
      <p:sp>
        <p:nvSpPr>
          <p:cNvPr id="5" name="Text 3"/>
          <p:cNvSpPr/>
          <p:nvPr/>
        </p:nvSpPr>
        <p:spPr>
          <a:xfrm>
            <a:off x="9923983" y="210312"/>
            <a:ext cx="2011680" cy="274320"/>
          </a:xfrm>
          <a:prstGeom prst="rect">
            <a:avLst/>
          </a:prstGeom>
          <a:noFill/>
          <a:ln/>
        </p:spPr>
        <p:txBody>
          <a:bodyPr wrap="square" lIns="0" tIns="0" rIns="0" bIns="0" rtlCol="0" anchor="ctr"/>
          <a:lstStyle/>
          <a:p>
            <a:pPr algn="l" indent="0" marL="0">
              <a:buNone/>
            </a:pPr>
            <a:r>
              <a:rPr lang="en-US" sz="1000" b="1" i="1" dirty="0">
                <a:solidFill>
                  <a:srgbClr val="111111"/>
                </a:solidFill>
                <a:latin typeface="Calibri" pitchFamily="34" charset="0"/>
                <a:ea typeface="Calibri" pitchFamily="34" charset="-122"/>
                <a:cs typeface="Calibri" pitchFamily="34" charset="-120"/>
              </a:rPr>
              <a:t>#DoingSomethingGreat</a:t>
            </a:r>
            <a:endParaRPr lang="en-US" sz="1000" dirty="0"/>
          </a:p>
        </p:txBody>
      </p:sp>
      <p:sp>
        <p:nvSpPr>
          <p:cNvPr id="6" name="Shape 4"/>
          <p:cNvSpPr/>
          <p:nvPr/>
        </p:nvSpPr>
        <p:spPr>
          <a:xfrm>
            <a:off x="5973775" y="0"/>
            <a:ext cx="6217920" cy="1463040"/>
          </a:xfrm>
          <a:prstGeom prst="rect">
            <a:avLst/>
          </a:prstGeom>
          <a:solidFill>
            <a:srgbClr val="F5F5F5"/>
          </a:solidFill>
          <a:ln w="12700">
            <a:solidFill>
              <a:srgbClr val="F5F5F5"/>
            </a:solidFill>
            <a:prstDash val="solid"/>
          </a:ln>
        </p:spPr>
      </p:sp>
      <p:sp>
        <p:nvSpPr>
          <p:cNvPr id="7" name="Shape 5"/>
          <p:cNvSpPr/>
          <p:nvPr/>
        </p:nvSpPr>
        <p:spPr>
          <a:xfrm>
            <a:off x="6248095" y="0"/>
            <a:ext cx="-1280160" cy="1280160"/>
          </a:xfrm>
          <a:prstGeom prst="line">
            <a:avLst/>
          </a:prstGeom>
          <a:noFill/>
          <a:ln w="9525">
            <a:solidFill>
              <a:srgbClr val="EDEDED"/>
            </a:solidFill>
            <a:prstDash val="solid"/>
          </a:ln>
        </p:spPr>
      </p:sp>
      <p:sp>
        <p:nvSpPr>
          <p:cNvPr id="8" name="Shape 6"/>
          <p:cNvSpPr/>
          <p:nvPr/>
        </p:nvSpPr>
        <p:spPr>
          <a:xfrm>
            <a:off x="6659575" y="0"/>
            <a:ext cx="-1280160" cy="1280160"/>
          </a:xfrm>
          <a:prstGeom prst="line">
            <a:avLst/>
          </a:prstGeom>
          <a:noFill/>
          <a:ln w="9525">
            <a:solidFill>
              <a:srgbClr val="EDEDED"/>
            </a:solidFill>
            <a:prstDash val="solid"/>
          </a:ln>
        </p:spPr>
      </p:sp>
      <p:sp>
        <p:nvSpPr>
          <p:cNvPr id="9" name="Shape 7"/>
          <p:cNvSpPr/>
          <p:nvPr/>
        </p:nvSpPr>
        <p:spPr>
          <a:xfrm>
            <a:off x="7071055" y="0"/>
            <a:ext cx="-1280160" cy="1280160"/>
          </a:xfrm>
          <a:prstGeom prst="line">
            <a:avLst/>
          </a:prstGeom>
          <a:noFill/>
          <a:ln w="9525">
            <a:solidFill>
              <a:srgbClr val="EDEDED"/>
            </a:solidFill>
            <a:prstDash val="solid"/>
          </a:ln>
        </p:spPr>
      </p:sp>
      <p:sp>
        <p:nvSpPr>
          <p:cNvPr id="10" name="Shape 8"/>
          <p:cNvSpPr/>
          <p:nvPr/>
        </p:nvSpPr>
        <p:spPr>
          <a:xfrm>
            <a:off x="7482535" y="0"/>
            <a:ext cx="-1280160" cy="1280160"/>
          </a:xfrm>
          <a:prstGeom prst="line">
            <a:avLst/>
          </a:prstGeom>
          <a:noFill/>
          <a:ln w="9525">
            <a:solidFill>
              <a:srgbClr val="EDEDED"/>
            </a:solidFill>
            <a:prstDash val="solid"/>
          </a:ln>
        </p:spPr>
      </p:sp>
      <p:sp>
        <p:nvSpPr>
          <p:cNvPr id="11" name="Shape 9"/>
          <p:cNvSpPr/>
          <p:nvPr/>
        </p:nvSpPr>
        <p:spPr>
          <a:xfrm>
            <a:off x="7894015" y="0"/>
            <a:ext cx="-1280160" cy="1280160"/>
          </a:xfrm>
          <a:prstGeom prst="line">
            <a:avLst/>
          </a:prstGeom>
          <a:noFill/>
          <a:ln w="9525">
            <a:solidFill>
              <a:srgbClr val="EDEDED"/>
            </a:solidFill>
            <a:prstDash val="solid"/>
          </a:ln>
        </p:spPr>
      </p:sp>
      <p:sp>
        <p:nvSpPr>
          <p:cNvPr id="12" name="Shape 10"/>
          <p:cNvSpPr/>
          <p:nvPr/>
        </p:nvSpPr>
        <p:spPr>
          <a:xfrm>
            <a:off x="8305495" y="0"/>
            <a:ext cx="-1280160" cy="1280160"/>
          </a:xfrm>
          <a:prstGeom prst="line">
            <a:avLst/>
          </a:prstGeom>
          <a:noFill/>
          <a:ln w="9525">
            <a:solidFill>
              <a:srgbClr val="EDEDED"/>
            </a:solidFill>
            <a:prstDash val="solid"/>
          </a:ln>
        </p:spPr>
      </p:sp>
      <p:sp>
        <p:nvSpPr>
          <p:cNvPr id="13" name="Shape 11"/>
          <p:cNvSpPr/>
          <p:nvPr/>
        </p:nvSpPr>
        <p:spPr>
          <a:xfrm>
            <a:off x="8716975" y="0"/>
            <a:ext cx="-1280160" cy="1280160"/>
          </a:xfrm>
          <a:prstGeom prst="line">
            <a:avLst/>
          </a:prstGeom>
          <a:noFill/>
          <a:ln w="9525">
            <a:solidFill>
              <a:srgbClr val="EDEDED"/>
            </a:solidFill>
            <a:prstDash val="solid"/>
          </a:ln>
        </p:spPr>
      </p:sp>
      <p:sp>
        <p:nvSpPr>
          <p:cNvPr id="14" name="Shape 12"/>
          <p:cNvSpPr/>
          <p:nvPr/>
        </p:nvSpPr>
        <p:spPr>
          <a:xfrm>
            <a:off x="9128455" y="0"/>
            <a:ext cx="-1280160" cy="1280160"/>
          </a:xfrm>
          <a:prstGeom prst="line">
            <a:avLst/>
          </a:prstGeom>
          <a:noFill/>
          <a:ln w="9525">
            <a:solidFill>
              <a:srgbClr val="EDEDED"/>
            </a:solidFill>
            <a:prstDash val="solid"/>
          </a:ln>
        </p:spPr>
      </p:sp>
      <p:sp>
        <p:nvSpPr>
          <p:cNvPr id="15" name="Shape 13"/>
          <p:cNvSpPr/>
          <p:nvPr/>
        </p:nvSpPr>
        <p:spPr>
          <a:xfrm>
            <a:off x="9539935" y="0"/>
            <a:ext cx="-1280160" cy="1280160"/>
          </a:xfrm>
          <a:prstGeom prst="line">
            <a:avLst/>
          </a:prstGeom>
          <a:noFill/>
          <a:ln w="9525">
            <a:solidFill>
              <a:srgbClr val="EDEDED"/>
            </a:solidFill>
            <a:prstDash val="solid"/>
          </a:ln>
        </p:spPr>
      </p:sp>
      <p:sp>
        <p:nvSpPr>
          <p:cNvPr id="16" name="Shape 14"/>
          <p:cNvSpPr/>
          <p:nvPr/>
        </p:nvSpPr>
        <p:spPr>
          <a:xfrm>
            <a:off x="9951415" y="0"/>
            <a:ext cx="-1280160" cy="1280160"/>
          </a:xfrm>
          <a:prstGeom prst="line">
            <a:avLst/>
          </a:prstGeom>
          <a:noFill/>
          <a:ln w="9525">
            <a:solidFill>
              <a:srgbClr val="EDEDED"/>
            </a:solidFill>
            <a:prstDash val="solid"/>
          </a:ln>
        </p:spPr>
      </p:sp>
      <p:sp>
        <p:nvSpPr>
          <p:cNvPr id="17" name="Shape 15"/>
          <p:cNvSpPr/>
          <p:nvPr/>
        </p:nvSpPr>
        <p:spPr>
          <a:xfrm>
            <a:off x="10362895" y="0"/>
            <a:ext cx="-1280160" cy="1280160"/>
          </a:xfrm>
          <a:prstGeom prst="line">
            <a:avLst/>
          </a:prstGeom>
          <a:noFill/>
          <a:ln w="9525">
            <a:solidFill>
              <a:srgbClr val="EDEDED"/>
            </a:solidFill>
            <a:prstDash val="solid"/>
          </a:ln>
        </p:spPr>
      </p:sp>
      <p:sp>
        <p:nvSpPr>
          <p:cNvPr id="18" name="Shape 16"/>
          <p:cNvSpPr/>
          <p:nvPr/>
        </p:nvSpPr>
        <p:spPr>
          <a:xfrm>
            <a:off x="10774375" y="0"/>
            <a:ext cx="-1280160" cy="1280160"/>
          </a:xfrm>
          <a:prstGeom prst="line">
            <a:avLst/>
          </a:prstGeom>
          <a:noFill/>
          <a:ln w="9525">
            <a:solidFill>
              <a:srgbClr val="EDEDED"/>
            </a:solidFill>
            <a:prstDash val="solid"/>
          </a:ln>
        </p:spPr>
      </p:sp>
      <p:sp>
        <p:nvSpPr>
          <p:cNvPr id="19" name="Shape 17"/>
          <p:cNvSpPr/>
          <p:nvPr/>
        </p:nvSpPr>
        <p:spPr>
          <a:xfrm>
            <a:off x="11185855" y="0"/>
            <a:ext cx="-1280160" cy="1280160"/>
          </a:xfrm>
          <a:prstGeom prst="line">
            <a:avLst/>
          </a:prstGeom>
          <a:noFill/>
          <a:ln w="9525">
            <a:solidFill>
              <a:srgbClr val="EDEDED"/>
            </a:solidFill>
            <a:prstDash val="solid"/>
          </a:ln>
        </p:spPr>
      </p:sp>
      <p:sp>
        <p:nvSpPr>
          <p:cNvPr id="20" name="Shape 18"/>
          <p:cNvSpPr/>
          <p:nvPr/>
        </p:nvSpPr>
        <p:spPr>
          <a:xfrm>
            <a:off x="11597335" y="0"/>
            <a:ext cx="-1280160" cy="1280160"/>
          </a:xfrm>
          <a:prstGeom prst="line">
            <a:avLst/>
          </a:prstGeom>
          <a:noFill/>
          <a:ln w="9525">
            <a:solidFill>
              <a:srgbClr val="EDEDED"/>
            </a:solidFill>
            <a:prstDash val="solid"/>
          </a:ln>
        </p:spPr>
      </p:sp>
      <p:sp>
        <p:nvSpPr>
          <p:cNvPr id="21" name="Shape 19"/>
          <p:cNvSpPr/>
          <p:nvPr/>
        </p:nvSpPr>
        <p:spPr>
          <a:xfrm>
            <a:off x="320040" y="1481328"/>
            <a:ext cx="11551615" cy="0"/>
          </a:xfrm>
          <a:prstGeom prst="line">
            <a:avLst/>
          </a:prstGeom>
          <a:noFill/>
          <a:ln w="15875">
            <a:solidFill>
              <a:srgbClr val="111111"/>
            </a:solidFill>
            <a:prstDash val="solid"/>
          </a:ln>
        </p:spPr>
      </p:sp>
      <p:sp>
        <p:nvSpPr>
          <p:cNvPr id="22" name="Text 20"/>
          <p:cNvSpPr/>
          <p:nvPr/>
        </p:nvSpPr>
        <p:spPr>
          <a:xfrm>
            <a:off x="5486400" y="292608"/>
            <a:ext cx="6309360" cy="685800"/>
          </a:xfrm>
          <a:prstGeom prst="rect">
            <a:avLst/>
          </a:prstGeom>
          <a:noFill/>
          <a:ln/>
        </p:spPr>
        <p:txBody>
          <a:bodyPr wrap="square" lIns="0" tIns="0" rIns="0" bIns="0" rtlCol="0" anchor="ctr"/>
          <a:lstStyle/>
          <a:p>
            <a:pPr algn="r" indent="0" marL="0">
              <a:buNone/>
            </a:pPr>
            <a:r>
              <a:rPr lang="en-US" sz="2600" b="1" dirty="0">
                <a:solidFill>
                  <a:srgbClr val="111111"/>
                </a:solidFill>
                <a:latin typeface="Calibri" pitchFamily="34" charset="0"/>
                <a:ea typeface="Calibri" pitchFamily="34" charset="-122"/>
                <a:cs typeface="Calibri" pitchFamily="34" charset="-120"/>
              </a:rPr>
              <a:t>Revenue Share Example</a:t>
            </a:r>
            <a:endParaRPr lang="en-US" sz="2600" dirty="0"/>
          </a:p>
        </p:txBody>
      </p:sp>
      <p:sp>
        <p:nvSpPr>
          <p:cNvPr id="23" name="Text 21"/>
          <p:cNvSpPr/>
          <p:nvPr/>
        </p:nvSpPr>
        <p:spPr>
          <a:xfrm>
            <a:off x="5486400" y="960120"/>
            <a:ext cx="6309360" cy="365760"/>
          </a:xfrm>
          <a:prstGeom prst="rect">
            <a:avLst/>
          </a:prstGeom>
          <a:noFill/>
          <a:ln/>
        </p:spPr>
        <p:txBody>
          <a:bodyPr wrap="square" lIns="0" tIns="0" rIns="0" bIns="0" rtlCol="0" anchor="ctr"/>
          <a:lstStyle/>
          <a:p>
            <a:pPr algn="r" indent="0" marL="0">
              <a:buNone/>
            </a:pPr>
            <a:r>
              <a:rPr lang="en-US" sz="1200" i="1" dirty="0">
                <a:solidFill>
                  <a:srgbClr val="6B6B6B"/>
                </a:solidFill>
                <a:latin typeface="Calibri" pitchFamily="34" charset="0"/>
                <a:ea typeface="Calibri" pitchFamily="34" charset="-122"/>
                <a:cs typeface="Calibri" pitchFamily="34" charset="-120"/>
              </a:rPr>
              <a:t>How the 50/50 split works in practice</a:t>
            </a:r>
            <a:endParaRPr lang="en-US" sz="1200" dirty="0"/>
          </a:p>
        </p:txBody>
      </p:sp>
      <p:sp>
        <p:nvSpPr>
          <p:cNvPr id="24" name="Shape 22"/>
          <p:cNvSpPr/>
          <p:nvPr/>
        </p:nvSpPr>
        <p:spPr>
          <a:xfrm>
            <a:off x="320040" y="6355080"/>
            <a:ext cx="11551615" cy="0"/>
          </a:xfrm>
          <a:prstGeom prst="line">
            <a:avLst/>
          </a:prstGeom>
          <a:noFill/>
          <a:ln w="6350">
            <a:solidFill>
              <a:srgbClr val="BFBFBF"/>
            </a:solidFill>
            <a:prstDash val="solid"/>
          </a:ln>
        </p:spPr>
      </p:sp>
      <p:sp>
        <p:nvSpPr>
          <p:cNvPr id="25" name="Shape 23"/>
          <p:cNvSpPr/>
          <p:nvPr/>
        </p:nvSpPr>
        <p:spPr>
          <a:xfrm>
            <a:off x="320040" y="6473952"/>
            <a:ext cx="502920" cy="237744"/>
          </a:xfrm>
          <a:prstGeom prst="rect">
            <a:avLst/>
          </a:prstGeom>
          <a:solidFill>
            <a:srgbClr val="111111"/>
          </a:solidFill>
          <a:ln w="12700">
            <a:solidFill>
              <a:srgbClr val="111111"/>
            </a:solidFill>
            <a:prstDash val="solid"/>
          </a:ln>
        </p:spPr>
      </p:sp>
      <p:sp>
        <p:nvSpPr>
          <p:cNvPr id="26" name="Text 24"/>
          <p:cNvSpPr/>
          <p:nvPr/>
        </p:nvSpPr>
        <p:spPr>
          <a:xfrm>
            <a:off x="320040" y="6473952"/>
            <a:ext cx="502920" cy="237744"/>
          </a:xfrm>
          <a:prstGeom prst="rect">
            <a:avLst/>
          </a:prstGeom>
          <a:noFill/>
          <a:ln/>
        </p:spPr>
        <p:txBody>
          <a:bodyPr wrap="square" lIns="0" tIns="0" rIns="0" bIns="0" rtlCol="0" anchor="ctr"/>
          <a:lstStyle/>
          <a:p>
            <a:pPr algn="ctr" indent="0" marL="0">
              <a:buNone/>
            </a:pPr>
            <a:r>
              <a:rPr lang="en-US" sz="900" b="1" spc="200" kern="0" dirty="0">
                <a:solidFill>
                  <a:srgbClr val="FFFFFF"/>
                </a:solidFill>
                <a:latin typeface="Calibri" pitchFamily="34" charset="0"/>
                <a:ea typeface="Calibri" pitchFamily="34" charset="-122"/>
                <a:cs typeface="Calibri" pitchFamily="34" charset="-120"/>
              </a:rPr>
              <a:t>DSG</a:t>
            </a:r>
            <a:endParaRPr lang="en-US" sz="900" dirty="0"/>
          </a:p>
        </p:txBody>
      </p:sp>
      <p:sp>
        <p:nvSpPr>
          <p:cNvPr id="27" name="Text 25"/>
          <p:cNvSpPr/>
          <p:nvPr/>
        </p:nvSpPr>
        <p:spPr>
          <a:xfrm>
            <a:off x="868680" y="6473952"/>
            <a:ext cx="2194560" cy="237744"/>
          </a:xfrm>
          <a:prstGeom prst="rect">
            <a:avLst/>
          </a:prstGeom>
          <a:noFill/>
          <a:ln/>
        </p:spPr>
        <p:txBody>
          <a:bodyPr wrap="square" lIns="0" tIns="0" rIns="0" bIns="0" rtlCol="0" anchor="ctr"/>
          <a:lstStyle/>
          <a:p>
            <a:pPr indent="0" marL="0">
              <a:buNone/>
            </a:pPr>
            <a:r>
              <a:rPr lang="en-US" sz="650" spc="200" kern="0" dirty="0">
                <a:solidFill>
                  <a:srgbClr val="6B6B6B"/>
                </a:solidFill>
                <a:latin typeface="Calibri" pitchFamily="34" charset="0"/>
                <a:ea typeface="Calibri" pitchFamily="34" charset="-122"/>
                <a:cs typeface="Calibri" pitchFamily="34" charset="-120"/>
              </a:rPr>
              <a:t>DIGITAL SOLUTIONS GROUP</a:t>
            </a:r>
            <a:endParaRPr lang="en-US" sz="650" dirty="0"/>
          </a:p>
        </p:txBody>
      </p:sp>
      <p:sp>
        <p:nvSpPr>
          <p:cNvPr id="28" name="Text 26"/>
          <p:cNvSpPr/>
          <p:nvPr/>
        </p:nvSpPr>
        <p:spPr>
          <a:xfrm>
            <a:off x="4754880" y="6473952"/>
            <a:ext cx="2743200" cy="237744"/>
          </a:xfrm>
          <a:prstGeom prst="rect">
            <a:avLst/>
          </a:prstGeom>
          <a:noFill/>
          <a:ln/>
        </p:spPr>
        <p:txBody>
          <a:bodyPr wrap="square" lIns="0" tIns="0" rIns="0" bIns="0" rtlCol="0" anchor="ctr"/>
          <a:lstStyle/>
          <a:p>
            <a:pPr algn="ctr" indent="0" marL="0">
              <a:buNone/>
            </a:pPr>
            <a:r>
              <a:rPr lang="en-US" sz="1100" b="1" dirty="0">
                <a:solidFill>
                  <a:srgbClr val="111111"/>
                </a:solidFill>
                <a:latin typeface="Calibri" pitchFamily="34" charset="0"/>
                <a:ea typeface="Calibri" pitchFamily="34" charset="-122"/>
                <a:cs typeface="Calibri" pitchFamily="34" charset="-120"/>
              </a:rPr>
              <a:t>digital</a:t>
            </a:r>
            <a:pPr algn="ctr" indent="0" marL="0">
              <a:buNone/>
            </a:pPr>
            <a:r>
              <a:rPr lang="en-US" sz="1100" b="1" dirty="0">
                <a:solidFill>
                  <a:srgbClr val="6B6B6B"/>
                </a:solidFill>
                <a:latin typeface="Calibri" pitchFamily="34" charset="0"/>
                <a:ea typeface="Calibri" pitchFamily="34" charset="-122"/>
                <a:cs typeface="Calibri" pitchFamily="34" charset="-120"/>
              </a:rPr>
              <a:t>mobile</a:t>
            </a:r>
            <a:endParaRPr lang="en-US" sz="1100" dirty="0"/>
          </a:p>
        </p:txBody>
      </p:sp>
      <p:sp>
        <p:nvSpPr>
          <p:cNvPr id="29" name="Shape 27"/>
          <p:cNvSpPr/>
          <p:nvPr/>
        </p:nvSpPr>
        <p:spPr>
          <a:xfrm>
            <a:off x="8595360" y="6519672"/>
            <a:ext cx="146304" cy="146304"/>
          </a:xfrm>
          <a:prstGeom prst="ellipse">
            <a:avLst/>
          </a:prstGeom>
          <a:solidFill>
            <a:srgbClr val="111111"/>
          </a:solidFill>
          <a:ln w="12700">
            <a:solidFill>
              <a:srgbClr val="111111"/>
            </a:solidFill>
            <a:prstDash val="solid"/>
          </a:ln>
        </p:spPr>
      </p:sp>
      <p:sp>
        <p:nvSpPr>
          <p:cNvPr id="30" name="Text 28"/>
          <p:cNvSpPr/>
          <p:nvPr/>
        </p:nvSpPr>
        <p:spPr>
          <a:xfrm>
            <a:off x="8778240" y="6473952"/>
            <a:ext cx="2194560" cy="237744"/>
          </a:xfrm>
          <a:prstGeom prst="rect">
            <a:avLst/>
          </a:prstGeom>
          <a:noFill/>
          <a:ln/>
        </p:spPr>
        <p:txBody>
          <a:bodyPr wrap="square" lIns="0" tIns="0" rIns="0" bIns="0" rtlCol="0" anchor="ctr"/>
          <a:lstStyle/>
          <a:p>
            <a:pPr indent="0" marL="0">
              <a:buNone/>
            </a:pPr>
            <a:r>
              <a:rPr lang="en-US" sz="900" i="1" dirty="0">
                <a:solidFill>
                  <a:srgbClr val="111111"/>
                </a:solidFill>
                <a:latin typeface="Calibri" pitchFamily="34" charset="0"/>
                <a:ea typeface="Calibri" pitchFamily="34" charset="-122"/>
                <a:cs typeface="Calibri" pitchFamily="34" charset="-120"/>
              </a:rPr>
              <a:t>#DoingSomethingGreat</a:t>
            </a:r>
            <a:endParaRPr lang="en-US" sz="900" dirty="0"/>
          </a:p>
        </p:txBody>
      </p:sp>
      <p:sp>
        <p:nvSpPr>
          <p:cNvPr id="31" name="Text 29"/>
          <p:cNvSpPr/>
          <p:nvPr/>
        </p:nvSpPr>
        <p:spPr>
          <a:xfrm>
            <a:off x="11002975" y="6473952"/>
            <a:ext cx="914400" cy="237744"/>
          </a:xfrm>
          <a:prstGeom prst="rect">
            <a:avLst/>
          </a:prstGeom>
          <a:noFill/>
          <a:ln/>
        </p:spPr>
        <p:txBody>
          <a:bodyPr wrap="square" lIns="0" tIns="0" rIns="0" bIns="0" rtlCol="0" anchor="ctr"/>
          <a:lstStyle/>
          <a:p>
            <a:pPr algn="r" indent="0" marL="0">
              <a:buNone/>
            </a:pPr>
            <a:r>
              <a:rPr lang="en-US" sz="800" dirty="0">
                <a:solidFill>
                  <a:srgbClr val="6B6B6B"/>
                </a:solidFill>
                <a:latin typeface="Calibri" pitchFamily="34" charset="0"/>
                <a:ea typeface="Calibri" pitchFamily="34" charset="-122"/>
                <a:cs typeface="Calibri" pitchFamily="34" charset="-120"/>
              </a:rPr>
              <a:t>07 / 20</a:t>
            </a:r>
            <a:endParaRPr lang="en-US" sz="800" dirty="0"/>
          </a:p>
        </p:txBody>
      </p:sp>
      <p:sp>
        <p:nvSpPr>
          <p:cNvPr id="32" name="Shape 30"/>
          <p:cNvSpPr/>
          <p:nvPr/>
        </p:nvSpPr>
        <p:spPr>
          <a:xfrm>
            <a:off x="502920" y="1828800"/>
            <a:ext cx="2926080" cy="4389120"/>
          </a:xfrm>
          <a:prstGeom prst="rect">
            <a:avLst/>
          </a:prstGeom>
          <a:solidFill>
            <a:srgbClr val="111111"/>
          </a:solidFill>
          <a:ln w="12700">
            <a:solidFill>
              <a:srgbClr val="111111"/>
            </a:solidFill>
            <a:prstDash val="solid"/>
          </a:ln>
        </p:spPr>
      </p:sp>
      <p:sp>
        <p:nvSpPr>
          <p:cNvPr id="33" name="Text 31"/>
          <p:cNvSpPr/>
          <p:nvPr/>
        </p:nvSpPr>
        <p:spPr>
          <a:xfrm>
            <a:off x="685800" y="1965960"/>
            <a:ext cx="2651760" cy="2011680"/>
          </a:xfrm>
          <a:prstGeom prst="rect">
            <a:avLst/>
          </a:prstGeom>
          <a:noFill/>
          <a:ln/>
        </p:spPr>
        <p:txBody>
          <a:bodyPr wrap="square" lIns="0" tIns="0" rIns="0" bIns="0" rtlCol="0" anchor="ctr"/>
          <a:lstStyle/>
          <a:p>
            <a:pPr indent="0" marL="0">
              <a:buNone/>
            </a:pPr>
            <a:r>
              <a:rPr lang="en-US" sz="3200" b="1" dirty="0">
                <a:solidFill>
                  <a:srgbClr val="FFFFFF"/>
                </a:solidFill>
                <a:latin typeface="Georgia" pitchFamily="34" charset="0"/>
                <a:ea typeface="Georgia" pitchFamily="34" charset="-122"/>
                <a:cs typeface="Georgia" pitchFamily="34" charset="-120"/>
              </a:rPr>
              <a:t>Revenue</a:t>
            </a:r>
            <a:endParaRPr lang="en-US" sz="3200" dirty="0"/>
          </a:p>
          <a:p>
            <a:pPr indent="0" marL="0">
              <a:buNone/>
            </a:pPr>
            <a:r>
              <a:rPr lang="en-US" sz="3200" b="1" dirty="0">
                <a:solidFill>
                  <a:srgbClr val="FFFFFF"/>
                </a:solidFill>
                <a:latin typeface="Georgia" pitchFamily="34" charset="0"/>
                <a:ea typeface="Georgia" pitchFamily="34" charset="-122"/>
                <a:cs typeface="Georgia" pitchFamily="34" charset="-120"/>
              </a:rPr>
              <a:t>Share</a:t>
            </a:r>
            <a:endParaRPr lang="en-US" sz="3200" dirty="0"/>
          </a:p>
          <a:p>
            <a:pPr indent="0" marL="0">
              <a:buNone/>
            </a:pPr>
            <a:r>
              <a:rPr lang="en-US" sz="3200" b="1" dirty="0">
                <a:solidFill>
                  <a:srgbClr val="FFFFFF"/>
                </a:solidFill>
                <a:latin typeface="Georgia" pitchFamily="34" charset="0"/>
                <a:ea typeface="Georgia" pitchFamily="34" charset="-122"/>
                <a:cs typeface="Georgia" pitchFamily="34" charset="-120"/>
              </a:rPr>
              <a:t>Example.</a:t>
            </a:r>
            <a:endParaRPr lang="en-US" sz="3200" dirty="0"/>
          </a:p>
        </p:txBody>
      </p:sp>
      <p:sp>
        <p:nvSpPr>
          <p:cNvPr id="34" name="Text 32"/>
          <p:cNvSpPr/>
          <p:nvPr/>
        </p:nvSpPr>
        <p:spPr>
          <a:xfrm>
            <a:off x="685800" y="4297680"/>
            <a:ext cx="2651760" cy="1828800"/>
          </a:xfrm>
          <a:prstGeom prst="rect">
            <a:avLst/>
          </a:prstGeom>
          <a:noFill/>
          <a:ln/>
        </p:spPr>
        <p:txBody>
          <a:bodyPr wrap="square" lIns="0" tIns="0" rIns="0" bIns="0" rtlCol="0" anchor="ctr"/>
          <a:lstStyle/>
          <a:p>
            <a:pPr indent="0" marL="0">
              <a:buNone/>
            </a:pPr>
            <a:r>
              <a:rPr lang="en-US" sz="1100" i="1" dirty="0">
                <a:solidFill>
                  <a:srgbClr val="D9D9D9"/>
                </a:solidFill>
                <a:latin typeface="Calibri" pitchFamily="34" charset="0"/>
                <a:ea typeface="Calibri" pitchFamily="34" charset="-122"/>
                <a:cs typeface="Calibri" pitchFamily="34" charset="-120"/>
              </a:rPr>
              <a:t>Illustrative — shows how net profit is calculated and split between Arena and Digital Mobile.</a:t>
            </a:r>
            <a:endParaRPr lang="en-US" sz="11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3657600" y="1828800"/>
          <a:ext cx="8229600" cy="914400"/>
        </p:xfrm>
        <a:graphic>
          <a:graphicData uri="http://schemas.openxmlformats.org/drawingml/2006/table">
            <a:tbl>
              <a:tblPr/>
              <a:tblGrid>
                <a:gridCol w="3840480"/>
                <a:gridCol w="1463040"/>
                <a:gridCol w="2926080"/>
              </a:tblGrid>
              <a:tr h="301752">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Example costs</a:t>
                      </a:r>
                      <a:endParaRPr lang="en-US" sz="1050" dirty="0">
                        <a:latin typeface="Calibri" charset="0"/>
                        <a:ea typeface="Calibri" charset="0"/>
                        <a:cs typeface="Calibri" charset="0"/>
                      </a:endParaRPr>
                    </a:p>
                  </a:txBody>
                  <a:tcPr marL="76200" marR="76200" marT="76200" marB="762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11111"/>
                    </a:solidFill>
                  </a:tcPr>
                </a:tc>
                <a:tc>
                  <a:txBody>
                    <a:bodyPr/>
                    <a:lstStyle/>
                    <a:p>
                      <a:pPr algn="r" indent="0" marL="0">
                        <a:buNone/>
                      </a:pPr>
                      <a:r>
                        <a:rPr lang="en-US" sz="1050" b="1" dirty="0">
                          <a:solidFill>
                            <a:srgbClr val="FFFFFF"/>
                          </a:solidFill>
                          <a:latin typeface="Calibri" pitchFamily="34" charset="0"/>
                          <a:ea typeface="Calibri" pitchFamily="34" charset="-122"/>
                          <a:cs typeface="Calibri" pitchFamily="34" charset="-120"/>
                        </a:rPr>
                        <a:t>Amount</a:t>
                      </a:r>
                      <a:endParaRPr lang="en-US" sz="1050" dirty="0">
                        <a:latin typeface="Calibri" charset="0"/>
                        <a:ea typeface="Calibri" charset="0"/>
                        <a:cs typeface="Calibri" charset="0"/>
                      </a:endParaRPr>
                    </a:p>
                  </a:txBody>
                  <a:tcPr marL="76200" marR="76200" marT="76200" marB="762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11111"/>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Comment</a:t>
                      </a:r>
                      <a:endParaRPr lang="en-US" sz="1050" dirty="0">
                        <a:latin typeface="Calibri" charset="0"/>
                        <a:ea typeface="Calibri" charset="0"/>
                        <a:cs typeface="Calibri" charset="0"/>
                      </a:endParaRPr>
                    </a:p>
                  </a:txBody>
                  <a:tcPr marL="76200" marR="76200" marT="76200" marB="762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11111"/>
                    </a:solidFill>
                  </a:tcPr>
                </a:tc>
              </a:tr>
              <a:tr h="301752">
                <a:tc>
                  <a:txBody>
                    <a:bodyPr/>
                    <a:lstStyle/>
                    <a:p>
                      <a:pPr indent="0" marL="0">
                        <a:buNone/>
                      </a:pPr>
                      <a:r>
                        <a:rPr lang="en-US" sz="1050" b="1" dirty="0">
                          <a:solidFill>
                            <a:srgbClr val="111111"/>
                          </a:solidFill>
                          <a:latin typeface="Calibri" pitchFamily="34" charset="0"/>
                          <a:ea typeface="Calibri" pitchFamily="34" charset="-122"/>
                          <a:cs typeface="Calibri" pitchFamily="34" charset="-120"/>
                        </a:rPr>
                        <a:t>Net profit framework</a:t>
                      </a:r>
                      <a:endParaRPr lang="en-US" sz="1050" dirty="0">
                        <a:latin typeface="Calibri" charset="0"/>
                        <a:ea typeface="Calibri" charset="0"/>
                        <a:cs typeface="Calibri" charset="0"/>
                      </a:endParaRPr>
                    </a:p>
                  </a:txBody>
                  <a:tcPr marL="63500" marR="63500" marT="63500" marB="635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DEDED"/>
                    </a:solidFill>
                  </a:tcPr>
                </a:tc>
                <a:tc>
                  <a:txBody>
                    <a:bodyPr/>
                    <a:lstStyle/>
                    <a:p>
                      <a:pPr algn="r" indent="0" marL="0">
                        <a:buNone/>
                      </a:pPr>
                      <a:endParaRPr lang="en-US" sz="1050" dirty="0">
                        <a:latin typeface="Calibri" charset="0"/>
                        <a:ea typeface="Calibri" charset="0"/>
                        <a:cs typeface="Calibri" charset="0"/>
                      </a:endParaRPr>
                    </a:p>
                  </a:txBody>
                  <a:tcPr marL="63500" marR="63500" marT="63500" marB="635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DEDED"/>
                    </a:solidFill>
                  </a:tcPr>
                </a:tc>
                <a:tc>
                  <a:txBody>
                    <a:bodyPr/>
                    <a:lstStyle/>
                    <a:p>
                      <a:pPr indent="0" marL="0">
                        <a:buNone/>
                      </a:pPr>
                      <a:endParaRPr lang="en-US" sz="1000" dirty="0">
                        <a:latin typeface="Calibri" charset="0"/>
                        <a:ea typeface="Calibri" charset="0"/>
                        <a:cs typeface="Calibri" charset="0"/>
                      </a:endParaRPr>
                    </a:p>
                  </a:txBody>
                  <a:tcPr marL="63500" marR="63500" marT="63500" marB="635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DEDED"/>
                    </a:solidFill>
                  </a:tcPr>
                </a:tc>
              </a:tr>
              <a:tr h="301752">
                <a:tc>
                  <a:txBody>
                    <a:bodyPr/>
                    <a:lstStyle/>
                    <a:p>
                      <a:pPr indent="0" marL="0">
                        <a:buNone/>
                      </a:pPr>
                      <a:r>
                        <a:rPr lang="en-US" sz="1050" dirty="0">
                          <a:solidFill>
                            <a:srgbClr val="111111"/>
                          </a:solidFill>
                          <a:latin typeface="Calibri" pitchFamily="34" charset="0"/>
                          <a:ea typeface="Calibri" pitchFamily="34" charset="-122"/>
                          <a:cs typeface="Calibri" pitchFamily="34" charset="-120"/>
                        </a:rPr>
                        <a:t>ARPU</a:t>
                      </a:r>
                      <a:endParaRPr lang="en-US" sz="1050" dirty="0">
                        <a:latin typeface="Calibri" charset="0"/>
                        <a:ea typeface="Calibri" charset="0"/>
                        <a:cs typeface="Calibri" charset="0"/>
                      </a:endParaRPr>
                    </a:p>
                  </a:txBody>
                  <a:tcPr marL="63500" marR="63500" marT="63500" marB="635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11111"/>
                          </a:solidFill>
                          <a:latin typeface="Calibri" pitchFamily="34" charset="0"/>
                          <a:ea typeface="Calibri" pitchFamily="34" charset="-122"/>
                          <a:cs typeface="Calibri" pitchFamily="34" charset="-120"/>
                        </a:rPr>
                        <a:t>R100.00</a:t>
                      </a:r>
                      <a:endParaRPr lang="en-US" sz="1050" dirty="0">
                        <a:latin typeface="Calibri" charset="0"/>
                        <a:ea typeface="Calibri" charset="0"/>
                        <a:cs typeface="Calibri" charset="0"/>
                      </a:endParaRPr>
                    </a:p>
                  </a:txBody>
                  <a:tcPr marL="63500" marR="63500" marT="63500" marB="635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endParaRPr lang="en-US" sz="1000" dirty="0">
                        <a:latin typeface="Calibri" charset="0"/>
                        <a:ea typeface="Calibri" charset="0"/>
                        <a:cs typeface="Calibri" charset="0"/>
                      </a:endParaRPr>
                    </a:p>
                  </a:txBody>
                  <a:tcPr marL="63500" marR="63500" marT="63500" marB="635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r>
              <a:tr h="301752">
                <a:tc>
                  <a:txBody>
                    <a:bodyPr/>
                    <a:lstStyle/>
                    <a:p>
                      <a:pPr indent="0" marL="0">
                        <a:buNone/>
                      </a:pPr>
                      <a:r>
                        <a:rPr lang="en-US" sz="1050" dirty="0">
                          <a:solidFill>
                            <a:srgbClr val="111111"/>
                          </a:solidFill>
                          <a:latin typeface="Calibri" pitchFamily="34" charset="0"/>
                          <a:ea typeface="Calibri" pitchFamily="34" charset="-122"/>
                          <a:cs typeface="Calibri" pitchFamily="34" charset="-120"/>
                        </a:rPr>
                        <a:t>Wholesale costs</a:t>
                      </a:r>
                      <a:endParaRPr lang="en-US" sz="1050" dirty="0">
                        <a:latin typeface="Calibri" charset="0"/>
                        <a:ea typeface="Calibri" charset="0"/>
                        <a:cs typeface="Calibri" charset="0"/>
                      </a:endParaRPr>
                    </a:p>
                  </a:txBody>
                  <a:tcPr marL="63500" marR="63500" marT="63500" marB="635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11111"/>
                          </a:solidFill>
                          <a:latin typeface="Calibri" pitchFamily="34" charset="0"/>
                          <a:ea typeface="Calibri" pitchFamily="34" charset="-122"/>
                          <a:cs typeface="Calibri" pitchFamily="34" charset="-120"/>
                        </a:rPr>
                        <a:t>R50.00</a:t>
                      </a:r>
                      <a:endParaRPr lang="en-US" sz="1050" dirty="0">
                        <a:latin typeface="Calibri" charset="0"/>
                        <a:ea typeface="Calibri" charset="0"/>
                        <a:cs typeface="Calibri" charset="0"/>
                      </a:endParaRPr>
                    </a:p>
                  </a:txBody>
                  <a:tcPr marL="63500" marR="63500" marT="63500" marB="635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000" dirty="0">
                          <a:solidFill>
                            <a:srgbClr val="6B6B6B"/>
                          </a:solidFill>
                          <a:latin typeface="Calibri" pitchFamily="34" charset="0"/>
                          <a:ea typeface="Calibri" pitchFamily="34" charset="-122"/>
                          <a:cs typeface="Calibri" pitchFamily="34" charset="-120"/>
                        </a:rPr>
                        <a:t>Dependent on final product</a:t>
                      </a:r>
                      <a:endParaRPr lang="en-US" sz="1000" dirty="0">
                        <a:latin typeface="Calibri" charset="0"/>
                        <a:ea typeface="Calibri" charset="0"/>
                        <a:cs typeface="Calibri" charset="0"/>
                      </a:endParaRPr>
                    </a:p>
                  </a:txBody>
                  <a:tcPr marL="63500" marR="63500" marT="63500" marB="635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r>
              <a:tr h="301752">
                <a:tc>
                  <a:txBody>
                    <a:bodyPr/>
                    <a:lstStyle/>
                    <a:p>
                      <a:pPr indent="0" marL="0">
                        <a:buNone/>
                      </a:pPr>
                      <a:r>
                        <a:rPr lang="en-US" sz="1050" dirty="0">
                          <a:solidFill>
                            <a:srgbClr val="111111"/>
                          </a:solidFill>
                          <a:latin typeface="Calibri" pitchFamily="34" charset="0"/>
                          <a:ea typeface="Calibri" pitchFamily="34" charset="-122"/>
                          <a:cs typeface="Calibri" pitchFamily="34" charset="-120"/>
                        </a:rPr>
                        <a:t>MVNE cost</a:t>
                      </a:r>
                      <a:endParaRPr lang="en-US" sz="1050" dirty="0">
                        <a:latin typeface="Calibri" charset="0"/>
                        <a:ea typeface="Calibri" charset="0"/>
                        <a:cs typeface="Calibri" charset="0"/>
                      </a:endParaRPr>
                    </a:p>
                  </a:txBody>
                  <a:tcPr marL="63500" marR="63500" marT="63500" marB="635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11111"/>
                          </a:solidFill>
                          <a:latin typeface="Calibri" pitchFamily="34" charset="0"/>
                          <a:ea typeface="Calibri" pitchFamily="34" charset="-122"/>
                          <a:cs typeface="Calibri" pitchFamily="34" charset="-120"/>
                        </a:rPr>
                        <a:t>R7.50</a:t>
                      </a:r>
                      <a:endParaRPr lang="en-US" sz="1050" dirty="0">
                        <a:latin typeface="Calibri" charset="0"/>
                        <a:ea typeface="Calibri" charset="0"/>
                        <a:cs typeface="Calibri" charset="0"/>
                      </a:endParaRPr>
                    </a:p>
                  </a:txBody>
                  <a:tcPr marL="63500" marR="63500" marT="63500" marB="635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endParaRPr lang="en-US" sz="1000" dirty="0">
                        <a:latin typeface="Calibri" charset="0"/>
                        <a:ea typeface="Calibri" charset="0"/>
                        <a:cs typeface="Calibri" charset="0"/>
                      </a:endParaRPr>
                    </a:p>
                  </a:txBody>
                  <a:tcPr marL="63500" marR="63500" marT="63500" marB="635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r>
              <a:tr h="301752">
                <a:tc>
                  <a:txBody>
                    <a:bodyPr/>
                    <a:lstStyle/>
                    <a:p>
                      <a:pPr indent="0" marL="0">
                        <a:buNone/>
                      </a:pPr>
                      <a:r>
                        <a:rPr lang="en-US" sz="1050" dirty="0">
                          <a:solidFill>
                            <a:srgbClr val="111111"/>
                          </a:solidFill>
                          <a:latin typeface="Calibri" pitchFamily="34" charset="0"/>
                          <a:ea typeface="Calibri" pitchFamily="34" charset="-122"/>
                          <a:cs typeface="Calibri" pitchFamily="34" charset="-120"/>
                        </a:rPr>
                        <a:t>Call-centre cost</a:t>
                      </a:r>
                      <a:endParaRPr lang="en-US" sz="1050" dirty="0">
                        <a:latin typeface="Calibri" charset="0"/>
                        <a:ea typeface="Calibri" charset="0"/>
                        <a:cs typeface="Calibri" charset="0"/>
                      </a:endParaRPr>
                    </a:p>
                  </a:txBody>
                  <a:tcPr marL="63500" marR="63500" marT="63500" marB="635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11111"/>
                          </a:solidFill>
                          <a:latin typeface="Calibri" pitchFamily="34" charset="0"/>
                          <a:ea typeface="Calibri" pitchFamily="34" charset="-122"/>
                          <a:cs typeface="Calibri" pitchFamily="34" charset="-120"/>
                        </a:rPr>
                        <a:t>R3.00</a:t>
                      </a:r>
                      <a:endParaRPr lang="en-US" sz="1050" dirty="0">
                        <a:latin typeface="Calibri" charset="0"/>
                        <a:ea typeface="Calibri" charset="0"/>
                        <a:cs typeface="Calibri" charset="0"/>
                      </a:endParaRPr>
                    </a:p>
                  </a:txBody>
                  <a:tcPr marL="63500" marR="63500" marT="63500" marB="635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000" dirty="0">
                          <a:solidFill>
                            <a:srgbClr val="6B6B6B"/>
                          </a:solidFill>
                          <a:latin typeface="Calibri" pitchFamily="34" charset="0"/>
                          <a:ea typeface="Calibri" pitchFamily="34" charset="-122"/>
                          <a:cs typeface="Calibri" pitchFamily="34" charset="-120"/>
                        </a:rPr>
                        <a:t>Weaver to manage</a:t>
                      </a:r>
                      <a:endParaRPr lang="en-US" sz="1000" dirty="0">
                        <a:latin typeface="Calibri" charset="0"/>
                        <a:ea typeface="Calibri" charset="0"/>
                        <a:cs typeface="Calibri" charset="0"/>
                      </a:endParaRPr>
                    </a:p>
                  </a:txBody>
                  <a:tcPr marL="63500" marR="63500" marT="63500" marB="635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r>
              <a:tr h="301752">
                <a:tc>
                  <a:txBody>
                    <a:bodyPr/>
                    <a:lstStyle/>
                    <a:p>
                      <a:pPr indent="0" marL="0">
                        <a:buNone/>
                      </a:pPr>
                      <a:r>
                        <a:rPr lang="en-US" sz="1050" dirty="0">
                          <a:solidFill>
                            <a:srgbClr val="111111"/>
                          </a:solidFill>
                          <a:latin typeface="Calibri" pitchFamily="34" charset="0"/>
                          <a:ea typeface="Calibri" pitchFamily="34" charset="-122"/>
                          <a:cs typeface="Calibri" pitchFamily="34" charset="-120"/>
                        </a:rPr>
                        <a:t>Airtime distribution cost</a:t>
                      </a:r>
                      <a:endParaRPr lang="en-US" sz="1050" dirty="0">
                        <a:latin typeface="Calibri" charset="0"/>
                        <a:ea typeface="Calibri" charset="0"/>
                        <a:cs typeface="Calibri" charset="0"/>
                      </a:endParaRPr>
                    </a:p>
                  </a:txBody>
                  <a:tcPr marL="63500" marR="63500" marT="63500" marB="635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11111"/>
                          </a:solidFill>
                          <a:latin typeface="Calibri" pitchFamily="34" charset="0"/>
                          <a:ea typeface="Calibri" pitchFamily="34" charset="-122"/>
                          <a:cs typeface="Calibri" pitchFamily="34" charset="-120"/>
                        </a:rPr>
                        <a:t>R7.00</a:t>
                      </a:r>
                      <a:endParaRPr lang="en-US" sz="1050" dirty="0">
                        <a:latin typeface="Calibri" charset="0"/>
                        <a:ea typeface="Calibri" charset="0"/>
                        <a:cs typeface="Calibri" charset="0"/>
                      </a:endParaRPr>
                    </a:p>
                  </a:txBody>
                  <a:tcPr marL="63500" marR="63500" marT="63500" marB="635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000" dirty="0">
                          <a:solidFill>
                            <a:srgbClr val="6B6B6B"/>
                          </a:solidFill>
                          <a:latin typeface="Calibri" pitchFamily="34" charset="0"/>
                          <a:ea typeface="Calibri" pitchFamily="34" charset="-122"/>
                          <a:cs typeface="Calibri" pitchFamily="34" charset="-120"/>
                        </a:rPr>
                        <a:t>7% through Flash / Blu; free on web or app</a:t>
                      </a:r>
                      <a:endParaRPr lang="en-US" sz="1000" dirty="0">
                        <a:latin typeface="Calibri" charset="0"/>
                        <a:ea typeface="Calibri" charset="0"/>
                        <a:cs typeface="Calibri" charset="0"/>
                      </a:endParaRPr>
                    </a:p>
                  </a:txBody>
                  <a:tcPr marL="63500" marR="63500" marT="63500" marB="635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r>
              <a:tr h="301752">
                <a:tc>
                  <a:txBody>
                    <a:bodyPr/>
                    <a:lstStyle/>
                    <a:p>
                      <a:pPr indent="0" marL="0">
                        <a:buNone/>
                      </a:pPr>
                      <a:r>
                        <a:rPr lang="en-US" sz="1050" b="1" dirty="0">
                          <a:solidFill>
                            <a:srgbClr val="111111"/>
                          </a:solidFill>
                          <a:latin typeface="Calibri" pitchFamily="34" charset="0"/>
                          <a:ea typeface="Calibri" pitchFamily="34" charset="-122"/>
                          <a:cs typeface="Calibri" pitchFamily="34" charset="-120"/>
                        </a:rPr>
                        <a:t>Net profit</a:t>
                      </a:r>
                      <a:endParaRPr lang="en-US" sz="1050" dirty="0">
                        <a:latin typeface="Calibri" charset="0"/>
                        <a:ea typeface="Calibri" charset="0"/>
                        <a:cs typeface="Calibri" charset="0"/>
                      </a:endParaRPr>
                    </a:p>
                  </a:txBody>
                  <a:tcPr marL="63500" marR="63500" marT="63500" marB="635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5F5F5"/>
                    </a:solidFill>
                  </a:tcPr>
                </a:tc>
                <a:tc>
                  <a:txBody>
                    <a:bodyPr/>
                    <a:lstStyle/>
                    <a:p>
                      <a:pPr algn="r" indent="0" marL="0">
                        <a:buNone/>
                      </a:pPr>
                      <a:r>
                        <a:rPr lang="en-US" sz="1050" b="1" dirty="0">
                          <a:solidFill>
                            <a:srgbClr val="111111"/>
                          </a:solidFill>
                          <a:latin typeface="Calibri" pitchFamily="34" charset="0"/>
                          <a:ea typeface="Calibri" pitchFamily="34" charset="-122"/>
                          <a:cs typeface="Calibri" pitchFamily="34" charset="-120"/>
                        </a:rPr>
                        <a:t>R32.50</a:t>
                      </a:r>
                      <a:endParaRPr lang="en-US" sz="1050" dirty="0">
                        <a:latin typeface="Calibri" charset="0"/>
                        <a:ea typeface="Calibri" charset="0"/>
                        <a:cs typeface="Calibri" charset="0"/>
                      </a:endParaRPr>
                    </a:p>
                  </a:txBody>
                  <a:tcPr marL="63500" marR="63500" marT="63500" marB="635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5F5F5"/>
                    </a:solidFill>
                  </a:tcPr>
                </a:tc>
                <a:tc>
                  <a:txBody>
                    <a:bodyPr/>
                    <a:lstStyle/>
                    <a:p>
                      <a:pPr indent="0" marL="0">
                        <a:buNone/>
                      </a:pPr>
                      <a:endParaRPr lang="en-US" sz="1000" dirty="0">
                        <a:latin typeface="Calibri" charset="0"/>
                        <a:ea typeface="Calibri" charset="0"/>
                        <a:cs typeface="Calibri" charset="0"/>
                      </a:endParaRPr>
                    </a:p>
                  </a:txBody>
                  <a:tcPr marL="63500" marR="63500" marT="63500" marB="635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5F5F5"/>
                    </a:solidFill>
                  </a:tcPr>
                </a:tc>
              </a:tr>
              <a:tr h="301752">
                <a:tc>
                  <a:txBody>
                    <a:bodyPr/>
                    <a:lstStyle/>
                    <a:p>
                      <a:pPr indent="0" marL="0">
                        <a:buNone/>
                      </a:pPr>
                      <a:r>
                        <a:rPr lang="en-US" sz="1050" b="1" dirty="0">
                          <a:solidFill>
                            <a:srgbClr val="111111"/>
                          </a:solidFill>
                          <a:latin typeface="Calibri" pitchFamily="34" charset="0"/>
                          <a:ea typeface="Calibri" pitchFamily="34" charset="-122"/>
                          <a:cs typeface="Calibri" pitchFamily="34" charset="-120"/>
                        </a:rPr>
                        <a:t>Arena share</a:t>
                      </a:r>
                      <a:endParaRPr lang="en-US" sz="1050" dirty="0">
                        <a:latin typeface="Calibri" charset="0"/>
                        <a:ea typeface="Calibri" charset="0"/>
                        <a:cs typeface="Calibri" charset="0"/>
                      </a:endParaRPr>
                    </a:p>
                  </a:txBody>
                  <a:tcPr marL="63500" marR="63500" marT="63500" marB="635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5F5F5"/>
                    </a:solidFill>
                  </a:tcPr>
                </a:tc>
                <a:tc>
                  <a:txBody>
                    <a:bodyPr/>
                    <a:lstStyle/>
                    <a:p>
                      <a:pPr algn="r" indent="0" marL="0">
                        <a:buNone/>
                      </a:pPr>
                      <a:r>
                        <a:rPr lang="en-US" sz="1050" b="1" dirty="0">
                          <a:solidFill>
                            <a:srgbClr val="111111"/>
                          </a:solidFill>
                          <a:latin typeface="Calibri" pitchFamily="34" charset="0"/>
                          <a:ea typeface="Calibri" pitchFamily="34" charset="-122"/>
                          <a:cs typeface="Calibri" pitchFamily="34" charset="-120"/>
                        </a:rPr>
                        <a:t>R16.25</a:t>
                      </a:r>
                      <a:endParaRPr lang="en-US" sz="1050" dirty="0">
                        <a:latin typeface="Calibri" charset="0"/>
                        <a:ea typeface="Calibri" charset="0"/>
                        <a:cs typeface="Calibri" charset="0"/>
                      </a:endParaRPr>
                    </a:p>
                  </a:txBody>
                  <a:tcPr marL="63500" marR="63500" marT="63500" marB="635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5F5F5"/>
                    </a:solidFill>
                  </a:tcPr>
                </a:tc>
                <a:tc>
                  <a:txBody>
                    <a:bodyPr/>
                    <a:lstStyle/>
                    <a:p>
                      <a:pPr indent="0" marL="0">
                        <a:buNone/>
                      </a:pPr>
                      <a:r>
                        <a:rPr lang="en-US" sz="1000" dirty="0">
                          <a:solidFill>
                            <a:srgbClr val="6B6B6B"/>
                          </a:solidFill>
                          <a:latin typeface="Calibri" pitchFamily="34" charset="0"/>
                          <a:ea typeface="Calibri" pitchFamily="34" charset="-122"/>
                          <a:cs typeface="Calibri" pitchFamily="34" charset="-120"/>
                        </a:rPr>
                        <a:t>50%</a:t>
                      </a:r>
                      <a:endParaRPr lang="en-US" sz="1000" dirty="0">
                        <a:latin typeface="Calibri" charset="0"/>
                        <a:ea typeface="Calibri" charset="0"/>
                        <a:cs typeface="Calibri" charset="0"/>
                      </a:endParaRPr>
                    </a:p>
                  </a:txBody>
                  <a:tcPr marL="63500" marR="63500" marT="63500" marB="635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5F5F5"/>
                    </a:solidFill>
                  </a:tcPr>
                </a:tc>
              </a:tr>
              <a:tr h="301752">
                <a:tc>
                  <a:txBody>
                    <a:bodyPr/>
                    <a:lstStyle/>
                    <a:p>
                      <a:pPr indent="0" marL="0">
                        <a:buNone/>
                      </a:pPr>
                      <a:r>
                        <a:rPr lang="en-US" sz="1050" b="1" dirty="0">
                          <a:solidFill>
                            <a:srgbClr val="111111"/>
                          </a:solidFill>
                          <a:latin typeface="Calibri" pitchFamily="34" charset="0"/>
                          <a:ea typeface="Calibri" pitchFamily="34" charset="-122"/>
                          <a:cs typeface="Calibri" pitchFamily="34" charset="-120"/>
                        </a:rPr>
                        <a:t>Digital Mobile share</a:t>
                      </a:r>
                      <a:endParaRPr lang="en-US" sz="1050" dirty="0">
                        <a:latin typeface="Calibri" charset="0"/>
                        <a:ea typeface="Calibri" charset="0"/>
                        <a:cs typeface="Calibri" charset="0"/>
                      </a:endParaRPr>
                    </a:p>
                  </a:txBody>
                  <a:tcPr marL="63500" marR="63500" marT="63500" marB="635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5F5F5"/>
                    </a:solidFill>
                  </a:tcPr>
                </a:tc>
                <a:tc>
                  <a:txBody>
                    <a:bodyPr/>
                    <a:lstStyle/>
                    <a:p>
                      <a:pPr algn="r" indent="0" marL="0">
                        <a:buNone/>
                      </a:pPr>
                      <a:r>
                        <a:rPr lang="en-US" sz="1050" b="1" dirty="0">
                          <a:solidFill>
                            <a:srgbClr val="111111"/>
                          </a:solidFill>
                          <a:latin typeface="Calibri" pitchFamily="34" charset="0"/>
                          <a:ea typeface="Calibri" pitchFamily="34" charset="-122"/>
                          <a:cs typeface="Calibri" pitchFamily="34" charset="-120"/>
                        </a:rPr>
                        <a:t>R16.25</a:t>
                      </a:r>
                      <a:endParaRPr lang="en-US" sz="1050" dirty="0">
                        <a:latin typeface="Calibri" charset="0"/>
                        <a:ea typeface="Calibri" charset="0"/>
                        <a:cs typeface="Calibri" charset="0"/>
                      </a:endParaRPr>
                    </a:p>
                  </a:txBody>
                  <a:tcPr marL="63500" marR="63500" marT="63500" marB="635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5F5F5"/>
                    </a:solidFill>
                  </a:tcPr>
                </a:tc>
                <a:tc>
                  <a:txBody>
                    <a:bodyPr/>
                    <a:lstStyle/>
                    <a:p>
                      <a:pPr indent="0" marL="0">
                        <a:buNone/>
                      </a:pPr>
                      <a:r>
                        <a:rPr lang="en-US" sz="1000" dirty="0">
                          <a:solidFill>
                            <a:srgbClr val="6B6B6B"/>
                          </a:solidFill>
                          <a:latin typeface="Calibri" pitchFamily="34" charset="0"/>
                          <a:ea typeface="Calibri" pitchFamily="34" charset="-122"/>
                          <a:cs typeface="Calibri" pitchFamily="34" charset="-120"/>
                        </a:rPr>
                        <a:t>50%</a:t>
                      </a:r>
                      <a:endParaRPr lang="en-US" sz="1000" dirty="0">
                        <a:latin typeface="Calibri" charset="0"/>
                        <a:ea typeface="Calibri" charset="0"/>
                        <a:cs typeface="Calibri" charset="0"/>
                      </a:endParaRPr>
                    </a:p>
                  </a:txBody>
                  <a:tcPr marL="63500" marR="63500" marT="63500" marB="635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5F5F5"/>
                    </a:solidFill>
                  </a:tcPr>
                </a:tc>
              </a:tr>
              <a:tr h="301752">
                <a:tc>
                  <a:txBody>
                    <a:bodyPr/>
                    <a:lstStyle/>
                    <a:p>
                      <a:pPr indent="0" marL="0">
                        <a:buNone/>
                      </a:pPr>
                      <a:r>
                        <a:rPr lang="en-US" sz="1050" b="1" dirty="0">
                          <a:solidFill>
                            <a:srgbClr val="111111"/>
                          </a:solidFill>
                          <a:latin typeface="Calibri" pitchFamily="34" charset="0"/>
                          <a:ea typeface="Calibri" pitchFamily="34" charset="-122"/>
                          <a:cs typeface="Calibri" pitchFamily="34" charset="-120"/>
                        </a:rPr>
                        <a:t>Once-off costs per sale</a:t>
                      </a:r>
                      <a:endParaRPr lang="en-US" sz="1050" dirty="0">
                        <a:latin typeface="Calibri" charset="0"/>
                        <a:ea typeface="Calibri" charset="0"/>
                        <a:cs typeface="Calibri" charset="0"/>
                      </a:endParaRPr>
                    </a:p>
                  </a:txBody>
                  <a:tcPr marL="63500" marR="63500" marT="63500" marB="635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DEDED"/>
                    </a:solidFill>
                  </a:tcPr>
                </a:tc>
                <a:tc>
                  <a:txBody>
                    <a:bodyPr/>
                    <a:lstStyle/>
                    <a:p>
                      <a:pPr algn="r" indent="0" marL="0">
                        <a:buNone/>
                      </a:pPr>
                      <a:endParaRPr lang="en-US" sz="1050" dirty="0">
                        <a:latin typeface="Calibri" charset="0"/>
                        <a:ea typeface="Calibri" charset="0"/>
                        <a:cs typeface="Calibri" charset="0"/>
                      </a:endParaRPr>
                    </a:p>
                  </a:txBody>
                  <a:tcPr marL="63500" marR="63500" marT="63500" marB="635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DEDED"/>
                    </a:solidFill>
                  </a:tcPr>
                </a:tc>
                <a:tc>
                  <a:txBody>
                    <a:bodyPr/>
                    <a:lstStyle/>
                    <a:p>
                      <a:pPr indent="0" marL="0">
                        <a:buNone/>
                      </a:pPr>
                      <a:endParaRPr lang="en-US" sz="1000" dirty="0">
                        <a:latin typeface="Calibri" charset="0"/>
                        <a:ea typeface="Calibri" charset="0"/>
                        <a:cs typeface="Calibri" charset="0"/>
                      </a:endParaRPr>
                    </a:p>
                  </a:txBody>
                  <a:tcPr marL="63500" marR="63500" marT="63500" marB="635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DEDED"/>
                    </a:solidFill>
                  </a:tcPr>
                </a:tc>
              </a:tr>
              <a:tr h="301752">
                <a:tc>
                  <a:txBody>
                    <a:bodyPr/>
                    <a:lstStyle/>
                    <a:p>
                      <a:pPr indent="0" marL="0">
                        <a:buNone/>
                      </a:pPr>
                      <a:r>
                        <a:rPr lang="en-US" sz="1050" dirty="0">
                          <a:solidFill>
                            <a:srgbClr val="111111"/>
                          </a:solidFill>
                          <a:latin typeface="Calibri" pitchFamily="34" charset="0"/>
                          <a:ea typeface="Calibri" pitchFamily="34" charset="-122"/>
                          <a:cs typeface="Calibri" pitchFamily="34" charset="-120"/>
                        </a:rPr>
                        <a:t>Logistics cost (if applicable)</a:t>
                      </a:r>
                      <a:endParaRPr lang="en-US" sz="1050" dirty="0">
                        <a:latin typeface="Calibri" charset="0"/>
                        <a:ea typeface="Calibri" charset="0"/>
                        <a:cs typeface="Calibri" charset="0"/>
                      </a:endParaRPr>
                    </a:p>
                  </a:txBody>
                  <a:tcPr marL="63500" marR="63500" marT="63500" marB="635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11111"/>
                          </a:solidFill>
                          <a:latin typeface="Calibri" pitchFamily="34" charset="0"/>
                          <a:ea typeface="Calibri" pitchFamily="34" charset="-122"/>
                          <a:cs typeface="Calibri" pitchFamily="34" charset="-120"/>
                        </a:rPr>
                        <a:t>R40.00</a:t>
                      </a:r>
                      <a:endParaRPr lang="en-US" sz="1050" dirty="0">
                        <a:latin typeface="Calibri" charset="0"/>
                        <a:ea typeface="Calibri" charset="0"/>
                        <a:cs typeface="Calibri" charset="0"/>
                      </a:endParaRPr>
                    </a:p>
                  </a:txBody>
                  <a:tcPr marL="63500" marR="63500" marT="63500" marB="635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endParaRPr lang="en-US" sz="1000" dirty="0">
                        <a:latin typeface="Calibri" charset="0"/>
                        <a:ea typeface="Calibri" charset="0"/>
                        <a:cs typeface="Calibri" charset="0"/>
                      </a:endParaRPr>
                    </a:p>
                  </a:txBody>
                  <a:tcPr marL="63500" marR="63500" marT="63500" marB="635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r>
              <a:tr h="301752">
                <a:tc>
                  <a:txBody>
                    <a:bodyPr/>
                    <a:lstStyle/>
                    <a:p>
                      <a:pPr indent="0" marL="0">
                        <a:buNone/>
                      </a:pPr>
                      <a:r>
                        <a:rPr lang="en-US" sz="1050" dirty="0">
                          <a:solidFill>
                            <a:srgbClr val="111111"/>
                          </a:solidFill>
                          <a:latin typeface="Calibri" pitchFamily="34" charset="0"/>
                          <a:ea typeface="Calibri" pitchFamily="34" charset="-122"/>
                          <a:cs typeface="Calibri" pitchFamily="34" charset="-120"/>
                        </a:rPr>
                        <a:t>SIM card cost</a:t>
                      </a:r>
                      <a:endParaRPr lang="en-US" sz="1050" dirty="0">
                        <a:latin typeface="Calibri" charset="0"/>
                        <a:ea typeface="Calibri" charset="0"/>
                        <a:cs typeface="Calibri" charset="0"/>
                      </a:endParaRPr>
                    </a:p>
                  </a:txBody>
                  <a:tcPr marL="63500" marR="63500" marT="63500" marB="635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11111"/>
                          </a:solidFill>
                          <a:latin typeface="Calibri" pitchFamily="34" charset="0"/>
                          <a:ea typeface="Calibri" pitchFamily="34" charset="-122"/>
                          <a:cs typeface="Calibri" pitchFamily="34" charset="-120"/>
                        </a:rPr>
                        <a:t>R12.00</a:t>
                      </a:r>
                      <a:endParaRPr lang="en-US" sz="1050" dirty="0">
                        <a:latin typeface="Calibri" charset="0"/>
                        <a:ea typeface="Calibri" charset="0"/>
                        <a:cs typeface="Calibri" charset="0"/>
                      </a:endParaRPr>
                    </a:p>
                  </a:txBody>
                  <a:tcPr marL="63500" marR="63500" marT="63500" marB="635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endParaRPr lang="en-US" sz="1000" dirty="0">
                        <a:latin typeface="Calibri" charset="0"/>
                        <a:ea typeface="Calibri" charset="0"/>
                        <a:cs typeface="Calibri" charset="0"/>
                      </a:endParaRPr>
                    </a:p>
                  </a:txBody>
                  <a:tcPr marL="63500" marR="63500" marT="63500" marB="635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r>
              <a:tr h="301752">
                <a:tc>
                  <a:txBody>
                    <a:bodyPr/>
                    <a:lstStyle/>
                    <a:p>
                      <a:pPr indent="0" marL="0">
                        <a:buNone/>
                      </a:pPr>
                      <a:r>
                        <a:rPr lang="en-US" sz="1050" dirty="0">
                          <a:solidFill>
                            <a:srgbClr val="111111"/>
                          </a:solidFill>
                          <a:latin typeface="Calibri" pitchFamily="34" charset="0"/>
                          <a:ea typeface="Calibri" pitchFamily="34" charset="-122"/>
                          <a:cs typeface="Calibri" pitchFamily="34" charset="-120"/>
                        </a:rPr>
                        <a:t>Paperless RICA</a:t>
                      </a:r>
                      <a:endParaRPr lang="en-US" sz="1050" dirty="0">
                        <a:latin typeface="Calibri" charset="0"/>
                        <a:ea typeface="Calibri" charset="0"/>
                        <a:cs typeface="Calibri" charset="0"/>
                      </a:endParaRPr>
                    </a:p>
                  </a:txBody>
                  <a:tcPr marL="63500" marR="63500" marT="63500" marB="635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11111"/>
                          </a:solidFill>
                          <a:latin typeface="Calibri" pitchFamily="34" charset="0"/>
                          <a:ea typeface="Calibri" pitchFamily="34" charset="-122"/>
                          <a:cs typeface="Calibri" pitchFamily="34" charset="-120"/>
                        </a:rPr>
                        <a:t>R21.00</a:t>
                      </a:r>
                      <a:endParaRPr lang="en-US" sz="1050" dirty="0">
                        <a:latin typeface="Calibri" charset="0"/>
                        <a:ea typeface="Calibri" charset="0"/>
                        <a:cs typeface="Calibri" charset="0"/>
                      </a:endParaRPr>
                    </a:p>
                  </a:txBody>
                  <a:tcPr marL="63500" marR="63500" marT="63500" marB="635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endParaRPr lang="en-US" sz="1000" dirty="0">
                        <a:latin typeface="Calibri" charset="0"/>
                        <a:ea typeface="Calibri" charset="0"/>
                        <a:cs typeface="Calibri" charset="0"/>
                      </a:endParaRPr>
                    </a:p>
                  </a:txBody>
                  <a:tcPr marL="63500" marR="63500" marT="63500" marB="635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20040" y="182880"/>
            <a:ext cx="1417320" cy="438912"/>
          </a:xfrm>
          <a:prstGeom prst="rect">
            <a:avLst/>
          </a:prstGeom>
          <a:solidFill>
            <a:srgbClr val="111111"/>
          </a:solidFill>
          <a:ln w="12700">
            <a:solidFill>
              <a:srgbClr val="111111"/>
            </a:solidFill>
            <a:prstDash val="solid"/>
          </a:ln>
        </p:spPr>
      </p:sp>
      <p:sp>
        <p:nvSpPr>
          <p:cNvPr id="3" name="Text 1"/>
          <p:cNvSpPr/>
          <p:nvPr/>
        </p:nvSpPr>
        <p:spPr>
          <a:xfrm>
            <a:off x="320040" y="182880"/>
            <a:ext cx="1417320" cy="438912"/>
          </a:xfrm>
          <a:prstGeom prst="rect">
            <a:avLst/>
          </a:prstGeom>
          <a:noFill/>
          <a:ln/>
        </p:spPr>
        <p:txBody>
          <a:bodyPr wrap="square" lIns="0" tIns="0" rIns="0" bIns="0" rtlCol="0" anchor="ctr"/>
          <a:lstStyle/>
          <a:p>
            <a:pPr algn="ctr" indent="0" marL="0">
              <a:buNone/>
            </a:pPr>
            <a:r>
              <a:rPr lang="en-US" sz="1500" b="1" spc="400" kern="0" dirty="0">
                <a:solidFill>
                  <a:srgbClr val="FFFFFF"/>
                </a:solidFill>
                <a:latin typeface="Calibri" pitchFamily="34" charset="0"/>
                <a:ea typeface="Calibri" pitchFamily="34" charset="-122"/>
                <a:cs typeface="Calibri" pitchFamily="34" charset="-120"/>
              </a:rPr>
              <a:t>ARENA
</a:t>
            </a:r>
            <a:pPr algn="ctr" indent="0" marL="0">
              <a:buNone/>
            </a:pPr>
            <a:r>
              <a:rPr lang="en-US" sz="600" spc="400" kern="0" dirty="0">
                <a:solidFill>
                  <a:srgbClr val="FFFFFF"/>
                </a:solidFill>
                <a:latin typeface="Calibri" pitchFamily="34" charset="0"/>
                <a:ea typeface="Calibri" pitchFamily="34" charset="-122"/>
                <a:cs typeface="Calibri" pitchFamily="34" charset="-120"/>
              </a:rPr>
              <a:t>H O L D I N G S</a:t>
            </a:r>
            <a:endParaRPr lang="en-US" sz="1500" dirty="0"/>
          </a:p>
        </p:txBody>
      </p:sp>
      <p:sp>
        <p:nvSpPr>
          <p:cNvPr id="4" name="Shape 2"/>
          <p:cNvSpPr/>
          <p:nvPr/>
        </p:nvSpPr>
        <p:spPr>
          <a:xfrm>
            <a:off x="9677095" y="246888"/>
            <a:ext cx="201168" cy="201168"/>
          </a:xfrm>
          <a:prstGeom prst="ellipse">
            <a:avLst/>
          </a:prstGeom>
          <a:solidFill>
            <a:srgbClr val="111111"/>
          </a:solidFill>
          <a:ln w="12700">
            <a:solidFill>
              <a:srgbClr val="111111"/>
            </a:solidFill>
            <a:prstDash val="solid"/>
          </a:ln>
        </p:spPr>
      </p:sp>
      <p:sp>
        <p:nvSpPr>
          <p:cNvPr id="5" name="Text 3"/>
          <p:cNvSpPr/>
          <p:nvPr/>
        </p:nvSpPr>
        <p:spPr>
          <a:xfrm>
            <a:off x="9923983" y="210312"/>
            <a:ext cx="2011680" cy="274320"/>
          </a:xfrm>
          <a:prstGeom prst="rect">
            <a:avLst/>
          </a:prstGeom>
          <a:noFill/>
          <a:ln/>
        </p:spPr>
        <p:txBody>
          <a:bodyPr wrap="square" lIns="0" tIns="0" rIns="0" bIns="0" rtlCol="0" anchor="ctr"/>
          <a:lstStyle/>
          <a:p>
            <a:pPr algn="l" indent="0" marL="0">
              <a:buNone/>
            </a:pPr>
            <a:r>
              <a:rPr lang="en-US" sz="1000" b="1" i="1" dirty="0">
                <a:solidFill>
                  <a:srgbClr val="111111"/>
                </a:solidFill>
                <a:latin typeface="Calibri" pitchFamily="34" charset="0"/>
                <a:ea typeface="Calibri" pitchFamily="34" charset="-122"/>
                <a:cs typeface="Calibri" pitchFamily="34" charset="-120"/>
              </a:rPr>
              <a:t>#DoingSomethingGreat</a:t>
            </a:r>
            <a:endParaRPr lang="en-US" sz="1000" dirty="0"/>
          </a:p>
        </p:txBody>
      </p:sp>
      <p:sp>
        <p:nvSpPr>
          <p:cNvPr id="6" name="Shape 4"/>
          <p:cNvSpPr/>
          <p:nvPr/>
        </p:nvSpPr>
        <p:spPr>
          <a:xfrm>
            <a:off x="5973775" y="0"/>
            <a:ext cx="6217920" cy="1463040"/>
          </a:xfrm>
          <a:prstGeom prst="rect">
            <a:avLst/>
          </a:prstGeom>
          <a:solidFill>
            <a:srgbClr val="F5F5F5"/>
          </a:solidFill>
          <a:ln w="12700">
            <a:solidFill>
              <a:srgbClr val="F5F5F5"/>
            </a:solidFill>
            <a:prstDash val="solid"/>
          </a:ln>
        </p:spPr>
      </p:sp>
      <p:sp>
        <p:nvSpPr>
          <p:cNvPr id="7" name="Shape 5"/>
          <p:cNvSpPr/>
          <p:nvPr/>
        </p:nvSpPr>
        <p:spPr>
          <a:xfrm>
            <a:off x="6248095" y="0"/>
            <a:ext cx="-1280160" cy="1280160"/>
          </a:xfrm>
          <a:prstGeom prst="line">
            <a:avLst/>
          </a:prstGeom>
          <a:noFill/>
          <a:ln w="9525">
            <a:solidFill>
              <a:srgbClr val="EDEDED"/>
            </a:solidFill>
            <a:prstDash val="solid"/>
          </a:ln>
        </p:spPr>
      </p:sp>
      <p:sp>
        <p:nvSpPr>
          <p:cNvPr id="8" name="Shape 6"/>
          <p:cNvSpPr/>
          <p:nvPr/>
        </p:nvSpPr>
        <p:spPr>
          <a:xfrm>
            <a:off x="6659575" y="0"/>
            <a:ext cx="-1280160" cy="1280160"/>
          </a:xfrm>
          <a:prstGeom prst="line">
            <a:avLst/>
          </a:prstGeom>
          <a:noFill/>
          <a:ln w="9525">
            <a:solidFill>
              <a:srgbClr val="EDEDED"/>
            </a:solidFill>
            <a:prstDash val="solid"/>
          </a:ln>
        </p:spPr>
      </p:sp>
      <p:sp>
        <p:nvSpPr>
          <p:cNvPr id="9" name="Shape 7"/>
          <p:cNvSpPr/>
          <p:nvPr/>
        </p:nvSpPr>
        <p:spPr>
          <a:xfrm>
            <a:off x="7071055" y="0"/>
            <a:ext cx="-1280160" cy="1280160"/>
          </a:xfrm>
          <a:prstGeom prst="line">
            <a:avLst/>
          </a:prstGeom>
          <a:noFill/>
          <a:ln w="9525">
            <a:solidFill>
              <a:srgbClr val="EDEDED"/>
            </a:solidFill>
            <a:prstDash val="solid"/>
          </a:ln>
        </p:spPr>
      </p:sp>
      <p:sp>
        <p:nvSpPr>
          <p:cNvPr id="10" name="Shape 8"/>
          <p:cNvSpPr/>
          <p:nvPr/>
        </p:nvSpPr>
        <p:spPr>
          <a:xfrm>
            <a:off x="7482535" y="0"/>
            <a:ext cx="-1280160" cy="1280160"/>
          </a:xfrm>
          <a:prstGeom prst="line">
            <a:avLst/>
          </a:prstGeom>
          <a:noFill/>
          <a:ln w="9525">
            <a:solidFill>
              <a:srgbClr val="EDEDED"/>
            </a:solidFill>
            <a:prstDash val="solid"/>
          </a:ln>
        </p:spPr>
      </p:sp>
      <p:sp>
        <p:nvSpPr>
          <p:cNvPr id="11" name="Shape 9"/>
          <p:cNvSpPr/>
          <p:nvPr/>
        </p:nvSpPr>
        <p:spPr>
          <a:xfrm>
            <a:off x="7894015" y="0"/>
            <a:ext cx="-1280160" cy="1280160"/>
          </a:xfrm>
          <a:prstGeom prst="line">
            <a:avLst/>
          </a:prstGeom>
          <a:noFill/>
          <a:ln w="9525">
            <a:solidFill>
              <a:srgbClr val="EDEDED"/>
            </a:solidFill>
            <a:prstDash val="solid"/>
          </a:ln>
        </p:spPr>
      </p:sp>
      <p:sp>
        <p:nvSpPr>
          <p:cNvPr id="12" name="Shape 10"/>
          <p:cNvSpPr/>
          <p:nvPr/>
        </p:nvSpPr>
        <p:spPr>
          <a:xfrm>
            <a:off x="8305495" y="0"/>
            <a:ext cx="-1280160" cy="1280160"/>
          </a:xfrm>
          <a:prstGeom prst="line">
            <a:avLst/>
          </a:prstGeom>
          <a:noFill/>
          <a:ln w="9525">
            <a:solidFill>
              <a:srgbClr val="EDEDED"/>
            </a:solidFill>
            <a:prstDash val="solid"/>
          </a:ln>
        </p:spPr>
      </p:sp>
      <p:sp>
        <p:nvSpPr>
          <p:cNvPr id="13" name="Shape 11"/>
          <p:cNvSpPr/>
          <p:nvPr/>
        </p:nvSpPr>
        <p:spPr>
          <a:xfrm>
            <a:off x="8716975" y="0"/>
            <a:ext cx="-1280160" cy="1280160"/>
          </a:xfrm>
          <a:prstGeom prst="line">
            <a:avLst/>
          </a:prstGeom>
          <a:noFill/>
          <a:ln w="9525">
            <a:solidFill>
              <a:srgbClr val="EDEDED"/>
            </a:solidFill>
            <a:prstDash val="solid"/>
          </a:ln>
        </p:spPr>
      </p:sp>
      <p:sp>
        <p:nvSpPr>
          <p:cNvPr id="14" name="Shape 12"/>
          <p:cNvSpPr/>
          <p:nvPr/>
        </p:nvSpPr>
        <p:spPr>
          <a:xfrm>
            <a:off x="9128455" y="0"/>
            <a:ext cx="-1280160" cy="1280160"/>
          </a:xfrm>
          <a:prstGeom prst="line">
            <a:avLst/>
          </a:prstGeom>
          <a:noFill/>
          <a:ln w="9525">
            <a:solidFill>
              <a:srgbClr val="EDEDED"/>
            </a:solidFill>
            <a:prstDash val="solid"/>
          </a:ln>
        </p:spPr>
      </p:sp>
      <p:sp>
        <p:nvSpPr>
          <p:cNvPr id="15" name="Shape 13"/>
          <p:cNvSpPr/>
          <p:nvPr/>
        </p:nvSpPr>
        <p:spPr>
          <a:xfrm>
            <a:off x="9539935" y="0"/>
            <a:ext cx="-1280160" cy="1280160"/>
          </a:xfrm>
          <a:prstGeom prst="line">
            <a:avLst/>
          </a:prstGeom>
          <a:noFill/>
          <a:ln w="9525">
            <a:solidFill>
              <a:srgbClr val="EDEDED"/>
            </a:solidFill>
            <a:prstDash val="solid"/>
          </a:ln>
        </p:spPr>
      </p:sp>
      <p:sp>
        <p:nvSpPr>
          <p:cNvPr id="16" name="Shape 14"/>
          <p:cNvSpPr/>
          <p:nvPr/>
        </p:nvSpPr>
        <p:spPr>
          <a:xfrm>
            <a:off x="9951415" y="0"/>
            <a:ext cx="-1280160" cy="1280160"/>
          </a:xfrm>
          <a:prstGeom prst="line">
            <a:avLst/>
          </a:prstGeom>
          <a:noFill/>
          <a:ln w="9525">
            <a:solidFill>
              <a:srgbClr val="EDEDED"/>
            </a:solidFill>
            <a:prstDash val="solid"/>
          </a:ln>
        </p:spPr>
      </p:sp>
      <p:sp>
        <p:nvSpPr>
          <p:cNvPr id="17" name="Shape 15"/>
          <p:cNvSpPr/>
          <p:nvPr/>
        </p:nvSpPr>
        <p:spPr>
          <a:xfrm>
            <a:off x="10362895" y="0"/>
            <a:ext cx="-1280160" cy="1280160"/>
          </a:xfrm>
          <a:prstGeom prst="line">
            <a:avLst/>
          </a:prstGeom>
          <a:noFill/>
          <a:ln w="9525">
            <a:solidFill>
              <a:srgbClr val="EDEDED"/>
            </a:solidFill>
            <a:prstDash val="solid"/>
          </a:ln>
        </p:spPr>
      </p:sp>
      <p:sp>
        <p:nvSpPr>
          <p:cNvPr id="18" name="Shape 16"/>
          <p:cNvSpPr/>
          <p:nvPr/>
        </p:nvSpPr>
        <p:spPr>
          <a:xfrm>
            <a:off x="10774375" y="0"/>
            <a:ext cx="-1280160" cy="1280160"/>
          </a:xfrm>
          <a:prstGeom prst="line">
            <a:avLst/>
          </a:prstGeom>
          <a:noFill/>
          <a:ln w="9525">
            <a:solidFill>
              <a:srgbClr val="EDEDED"/>
            </a:solidFill>
            <a:prstDash val="solid"/>
          </a:ln>
        </p:spPr>
      </p:sp>
      <p:sp>
        <p:nvSpPr>
          <p:cNvPr id="19" name="Shape 17"/>
          <p:cNvSpPr/>
          <p:nvPr/>
        </p:nvSpPr>
        <p:spPr>
          <a:xfrm>
            <a:off x="11185855" y="0"/>
            <a:ext cx="-1280160" cy="1280160"/>
          </a:xfrm>
          <a:prstGeom prst="line">
            <a:avLst/>
          </a:prstGeom>
          <a:noFill/>
          <a:ln w="9525">
            <a:solidFill>
              <a:srgbClr val="EDEDED"/>
            </a:solidFill>
            <a:prstDash val="solid"/>
          </a:ln>
        </p:spPr>
      </p:sp>
      <p:sp>
        <p:nvSpPr>
          <p:cNvPr id="20" name="Shape 18"/>
          <p:cNvSpPr/>
          <p:nvPr/>
        </p:nvSpPr>
        <p:spPr>
          <a:xfrm>
            <a:off x="11597335" y="0"/>
            <a:ext cx="-1280160" cy="1280160"/>
          </a:xfrm>
          <a:prstGeom prst="line">
            <a:avLst/>
          </a:prstGeom>
          <a:noFill/>
          <a:ln w="9525">
            <a:solidFill>
              <a:srgbClr val="EDEDED"/>
            </a:solidFill>
            <a:prstDash val="solid"/>
          </a:ln>
        </p:spPr>
      </p:sp>
      <p:sp>
        <p:nvSpPr>
          <p:cNvPr id="21" name="Shape 19"/>
          <p:cNvSpPr/>
          <p:nvPr/>
        </p:nvSpPr>
        <p:spPr>
          <a:xfrm>
            <a:off x="320040" y="1481328"/>
            <a:ext cx="11551615" cy="0"/>
          </a:xfrm>
          <a:prstGeom prst="line">
            <a:avLst/>
          </a:prstGeom>
          <a:noFill/>
          <a:ln w="15875">
            <a:solidFill>
              <a:srgbClr val="111111"/>
            </a:solidFill>
            <a:prstDash val="solid"/>
          </a:ln>
        </p:spPr>
      </p:sp>
      <p:sp>
        <p:nvSpPr>
          <p:cNvPr id="22" name="Text 20"/>
          <p:cNvSpPr/>
          <p:nvPr/>
        </p:nvSpPr>
        <p:spPr>
          <a:xfrm>
            <a:off x="5486400" y="292608"/>
            <a:ext cx="6309360" cy="685800"/>
          </a:xfrm>
          <a:prstGeom prst="rect">
            <a:avLst/>
          </a:prstGeom>
          <a:noFill/>
          <a:ln/>
        </p:spPr>
        <p:txBody>
          <a:bodyPr wrap="square" lIns="0" tIns="0" rIns="0" bIns="0" rtlCol="0" anchor="ctr"/>
          <a:lstStyle/>
          <a:p>
            <a:pPr algn="r" indent="0" marL="0">
              <a:buNone/>
            </a:pPr>
            <a:r>
              <a:rPr lang="en-US" sz="2600" b="1" dirty="0">
                <a:solidFill>
                  <a:srgbClr val="111111"/>
                </a:solidFill>
                <a:latin typeface="Calibri" pitchFamily="34" charset="0"/>
                <a:ea typeface="Calibri" pitchFamily="34" charset="-122"/>
                <a:cs typeface="Calibri" pitchFamily="34" charset="-120"/>
              </a:rPr>
              <a:t>A Unique EVP for Arena's staff, readers &amp; advertisers</a:t>
            </a:r>
            <a:endParaRPr lang="en-US" sz="2600" dirty="0"/>
          </a:p>
        </p:txBody>
      </p:sp>
      <p:sp>
        <p:nvSpPr>
          <p:cNvPr id="23" name="Text 21"/>
          <p:cNvSpPr/>
          <p:nvPr/>
        </p:nvSpPr>
        <p:spPr>
          <a:xfrm>
            <a:off x="5486400" y="960120"/>
            <a:ext cx="6309360" cy="365760"/>
          </a:xfrm>
          <a:prstGeom prst="rect">
            <a:avLst/>
          </a:prstGeom>
          <a:noFill/>
          <a:ln/>
        </p:spPr>
        <p:txBody>
          <a:bodyPr wrap="square" lIns="0" tIns="0" rIns="0" bIns="0" rtlCol="0" anchor="ctr"/>
          <a:lstStyle/>
          <a:p>
            <a:pPr algn="r" indent="0" marL="0">
              <a:buNone/>
            </a:pPr>
            <a:r>
              <a:rPr lang="en-US" sz="1200" i="1" dirty="0">
                <a:solidFill>
                  <a:srgbClr val="6B6B6B"/>
                </a:solidFill>
                <a:latin typeface="Calibri" pitchFamily="34" charset="0"/>
                <a:ea typeface="Calibri" pitchFamily="34" charset="-122"/>
                <a:cs typeface="Calibri" pitchFamily="34" charset="-120"/>
              </a:rPr>
              <a:t>Four audiences, four propositions</a:t>
            </a:r>
            <a:endParaRPr lang="en-US" sz="1200" dirty="0"/>
          </a:p>
        </p:txBody>
      </p:sp>
      <p:sp>
        <p:nvSpPr>
          <p:cNvPr id="24" name="Shape 22"/>
          <p:cNvSpPr/>
          <p:nvPr/>
        </p:nvSpPr>
        <p:spPr>
          <a:xfrm>
            <a:off x="320040" y="6355080"/>
            <a:ext cx="11551615" cy="0"/>
          </a:xfrm>
          <a:prstGeom prst="line">
            <a:avLst/>
          </a:prstGeom>
          <a:noFill/>
          <a:ln w="6350">
            <a:solidFill>
              <a:srgbClr val="BFBFBF"/>
            </a:solidFill>
            <a:prstDash val="solid"/>
          </a:ln>
        </p:spPr>
      </p:sp>
      <p:sp>
        <p:nvSpPr>
          <p:cNvPr id="25" name="Shape 23"/>
          <p:cNvSpPr/>
          <p:nvPr/>
        </p:nvSpPr>
        <p:spPr>
          <a:xfrm>
            <a:off x="320040" y="6473952"/>
            <a:ext cx="502920" cy="237744"/>
          </a:xfrm>
          <a:prstGeom prst="rect">
            <a:avLst/>
          </a:prstGeom>
          <a:solidFill>
            <a:srgbClr val="111111"/>
          </a:solidFill>
          <a:ln w="12700">
            <a:solidFill>
              <a:srgbClr val="111111"/>
            </a:solidFill>
            <a:prstDash val="solid"/>
          </a:ln>
        </p:spPr>
      </p:sp>
      <p:sp>
        <p:nvSpPr>
          <p:cNvPr id="26" name="Text 24"/>
          <p:cNvSpPr/>
          <p:nvPr/>
        </p:nvSpPr>
        <p:spPr>
          <a:xfrm>
            <a:off x="320040" y="6473952"/>
            <a:ext cx="502920" cy="237744"/>
          </a:xfrm>
          <a:prstGeom prst="rect">
            <a:avLst/>
          </a:prstGeom>
          <a:noFill/>
          <a:ln/>
        </p:spPr>
        <p:txBody>
          <a:bodyPr wrap="square" lIns="0" tIns="0" rIns="0" bIns="0" rtlCol="0" anchor="ctr"/>
          <a:lstStyle/>
          <a:p>
            <a:pPr algn="ctr" indent="0" marL="0">
              <a:buNone/>
            </a:pPr>
            <a:r>
              <a:rPr lang="en-US" sz="900" b="1" spc="200" kern="0" dirty="0">
                <a:solidFill>
                  <a:srgbClr val="FFFFFF"/>
                </a:solidFill>
                <a:latin typeface="Calibri" pitchFamily="34" charset="0"/>
                <a:ea typeface="Calibri" pitchFamily="34" charset="-122"/>
                <a:cs typeface="Calibri" pitchFamily="34" charset="-120"/>
              </a:rPr>
              <a:t>DSG</a:t>
            </a:r>
            <a:endParaRPr lang="en-US" sz="900" dirty="0"/>
          </a:p>
        </p:txBody>
      </p:sp>
      <p:sp>
        <p:nvSpPr>
          <p:cNvPr id="27" name="Text 25"/>
          <p:cNvSpPr/>
          <p:nvPr/>
        </p:nvSpPr>
        <p:spPr>
          <a:xfrm>
            <a:off x="868680" y="6473952"/>
            <a:ext cx="2194560" cy="237744"/>
          </a:xfrm>
          <a:prstGeom prst="rect">
            <a:avLst/>
          </a:prstGeom>
          <a:noFill/>
          <a:ln/>
        </p:spPr>
        <p:txBody>
          <a:bodyPr wrap="square" lIns="0" tIns="0" rIns="0" bIns="0" rtlCol="0" anchor="ctr"/>
          <a:lstStyle/>
          <a:p>
            <a:pPr indent="0" marL="0">
              <a:buNone/>
            </a:pPr>
            <a:r>
              <a:rPr lang="en-US" sz="650" spc="200" kern="0" dirty="0">
                <a:solidFill>
                  <a:srgbClr val="6B6B6B"/>
                </a:solidFill>
                <a:latin typeface="Calibri" pitchFamily="34" charset="0"/>
                <a:ea typeface="Calibri" pitchFamily="34" charset="-122"/>
                <a:cs typeface="Calibri" pitchFamily="34" charset="-120"/>
              </a:rPr>
              <a:t>DIGITAL SOLUTIONS GROUP</a:t>
            </a:r>
            <a:endParaRPr lang="en-US" sz="650" dirty="0"/>
          </a:p>
        </p:txBody>
      </p:sp>
      <p:sp>
        <p:nvSpPr>
          <p:cNvPr id="28" name="Text 26"/>
          <p:cNvSpPr/>
          <p:nvPr/>
        </p:nvSpPr>
        <p:spPr>
          <a:xfrm>
            <a:off x="4754880" y="6473952"/>
            <a:ext cx="2743200" cy="237744"/>
          </a:xfrm>
          <a:prstGeom prst="rect">
            <a:avLst/>
          </a:prstGeom>
          <a:noFill/>
          <a:ln/>
        </p:spPr>
        <p:txBody>
          <a:bodyPr wrap="square" lIns="0" tIns="0" rIns="0" bIns="0" rtlCol="0" anchor="ctr"/>
          <a:lstStyle/>
          <a:p>
            <a:pPr algn="ctr" indent="0" marL="0">
              <a:buNone/>
            </a:pPr>
            <a:r>
              <a:rPr lang="en-US" sz="1100" b="1" dirty="0">
                <a:solidFill>
                  <a:srgbClr val="111111"/>
                </a:solidFill>
                <a:latin typeface="Calibri" pitchFamily="34" charset="0"/>
                <a:ea typeface="Calibri" pitchFamily="34" charset="-122"/>
                <a:cs typeface="Calibri" pitchFamily="34" charset="-120"/>
              </a:rPr>
              <a:t>digital</a:t>
            </a:r>
            <a:pPr algn="ctr" indent="0" marL="0">
              <a:buNone/>
            </a:pPr>
            <a:r>
              <a:rPr lang="en-US" sz="1100" b="1" dirty="0">
                <a:solidFill>
                  <a:srgbClr val="6B6B6B"/>
                </a:solidFill>
                <a:latin typeface="Calibri" pitchFamily="34" charset="0"/>
                <a:ea typeface="Calibri" pitchFamily="34" charset="-122"/>
                <a:cs typeface="Calibri" pitchFamily="34" charset="-120"/>
              </a:rPr>
              <a:t>mobile</a:t>
            </a:r>
            <a:endParaRPr lang="en-US" sz="1100" dirty="0"/>
          </a:p>
        </p:txBody>
      </p:sp>
      <p:sp>
        <p:nvSpPr>
          <p:cNvPr id="29" name="Shape 27"/>
          <p:cNvSpPr/>
          <p:nvPr/>
        </p:nvSpPr>
        <p:spPr>
          <a:xfrm>
            <a:off x="8595360" y="6519672"/>
            <a:ext cx="146304" cy="146304"/>
          </a:xfrm>
          <a:prstGeom prst="ellipse">
            <a:avLst/>
          </a:prstGeom>
          <a:solidFill>
            <a:srgbClr val="111111"/>
          </a:solidFill>
          <a:ln w="12700">
            <a:solidFill>
              <a:srgbClr val="111111"/>
            </a:solidFill>
            <a:prstDash val="solid"/>
          </a:ln>
        </p:spPr>
      </p:sp>
      <p:sp>
        <p:nvSpPr>
          <p:cNvPr id="30" name="Text 28"/>
          <p:cNvSpPr/>
          <p:nvPr/>
        </p:nvSpPr>
        <p:spPr>
          <a:xfrm>
            <a:off x="8778240" y="6473952"/>
            <a:ext cx="2194560" cy="237744"/>
          </a:xfrm>
          <a:prstGeom prst="rect">
            <a:avLst/>
          </a:prstGeom>
          <a:noFill/>
          <a:ln/>
        </p:spPr>
        <p:txBody>
          <a:bodyPr wrap="square" lIns="0" tIns="0" rIns="0" bIns="0" rtlCol="0" anchor="ctr"/>
          <a:lstStyle/>
          <a:p>
            <a:pPr indent="0" marL="0">
              <a:buNone/>
            </a:pPr>
            <a:r>
              <a:rPr lang="en-US" sz="900" i="1" dirty="0">
                <a:solidFill>
                  <a:srgbClr val="111111"/>
                </a:solidFill>
                <a:latin typeface="Calibri" pitchFamily="34" charset="0"/>
                <a:ea typeface="Calibri" pitchFamily="34" charset="-122"/>
                <a:cs typeface="Calibri" pitchFamily="34" charset="-120"/>
              </a:rPr>
              <a:t>#DoingSomethingGreat</a:t>
            </a:r>
            <a:endParaRPr lang="en-US" sz="900" dirty="0"/>
          </a:p>
        </p:txBody>
      </p:sp>
      <p:sp>
        <p:nvSpPr>
          <p:cNvPr id="31" name="Text 29"/>
          <p:cNvSpPr/>
          <p:nvPr/>
        </p:nvSpPr>
        <p:spPr>
          <a:xfrm>
            <a:off x="11002975" y="6473952"/>
            <a:ext cx="914400" cy="237744"/>
          </a:xfrm>
          <a:prstGeom prst="rect">
            <a:avLst/>
          </a:prstGeom>
          <a:noFill/>
          <a:ln/>
        </p:spPr>
        <p:txBody>
          <a:bodyPr wrap="square" lIns="0" tIns="0" rIns="0" bIns="0" rtlCol="0" anchor="ctr"/>
          <a:lstStyle/>
          <a:p>
            <a:pPr algn="r" indent="0" marL="0">
              <a:buNone/>
            </a:pPr>
            <a:r>
              <a:rPr lang="en-US" sz="800" dirty="0">
                <a:solidFill>
                  <a:srgbClr val="6B6B6B"/>
                </a:solidFill>
                <a:latin typeface="Calibri" pitchFamily="34" charset="0"/>
                <a:ea typeface="Calibri" pitchFamily="34" charset="-122"/>
                <a:cs typeface="Calibri" pitchFamily="34" charset="-120"/>
              </a:rPr>
              <a:t>08 / 20</a:t>
            </a:r>
            <a:endParaRPr lang="en-US" sz="800" dirty="0"/>
          </a:p>
        </p:txBody>
      </p:sp>
      <p:sp>
        <p:nvSpPr>
          <p:cNvPr id="32" name="Shape 30"/>
          <p:cNvSpPr/>
          <p:nvPr/>
        </p:nvSpPr>
        <p:spPr>
          <a:xfrm>
            <a:off x="502920" y="1920240"/>
            <a:ext cx="5623560" cy="1874520"/>
          </a:xfrm>
          <a:prstGeom prst="rect">
            <a:avLst/>
          </a:prstGeom>
          <a:solidFill>
            <a:srgbClr val="FFFFFF"/>
          </a:solidFill>
          <a:ln w="9525">
            <a:solidFill>
              <a:srgbClr val="111111"/>
            </a:solidFill>
            <a:prstDash val="solid"/>
          </a:ln>
        </p:spPr>
      </p:sp>
      <p:sp>
        <p:nvSpPr>
          <p:cNvPr id="33" name="Shape 31"/>
          <p:cNvSpPr/>
          <p:nvPr/>
        </p:nvSpPr>
        <p:spPr>
          <a:xfrm>
            <a:off x="502920" y="1920240"/>
            <a:ext cx="1463040" cy="1874520"/>
          </a:xfrm>
          <a:prstGeom prst="rect">
            <a:avLst/>
          </a:prstGeom>
          <a:solidFill>
            <a:srgbClr val="111111"/>
          </a:solidFill>
          <a:ln w="12700">
            <a:solidFill>
              <a:srgbClr val="111111"/>
            </a:solidFill>
            <a:prstDash val="solid"/>
          </a:ln>
        </p:spPr>
      </p:sp>
      <p:sp>
        <p:nvSpPr>
          <p:cNvPr id="34" name="Text 32"/>
          <p:cNvSpPr/>
          <p:nvPr/>
        </p:nvSpPr>
        <p:spPr>
          <a:xfrm>
            <a:off x="685800" y="2057400"/>
            <a:ext cx="1097280" cy="548640"/>
          </a:xfrm>
          <a:prstGeom prst="rect">
            <a:avLst/>
          </a:prstGeom>
          <a:noFill/>
          <a:ln/>
        </p:spPr>
        <p:txBody>
          <a:bodyPr wrap="square" lIns="0" tIns="0" rIns="0" bIns="0" rtlCol="0" anchor="ctr"/>
          <a:lstStyle/>
          <a:p>
            <a:pPr indent="0" marL="0">
              <a:buNone/>
            </a:pPr>
            <a:r>
              <a:rPr lang="en-US" sz="3400" b="1" dirty="0">
                <a:solidFill>
                  <a:srgbClr val="FFFFFF"/>
                </a:solidFill>
                <a:latin typeface="Georgia" pitchFamily="34" charset="0"/>
                <a:ea typeface="Georgia" pitchFamily="34" charset="-122"/>
                <a:cs typeface="Georgia" pitchFamily="34" charset="-120"/>
              </a:rPr>
              <a:t>01</a:t>
            </a:r>
            <a:endParaRPr lang="en-US" sz="3400" dirty="0"/>
          </a:p>
        </p:txBody>
      </p:sp>
      <p:sp>
        <p:nvSpPr>
          <p:cNvPr id="35" name="Text 33"/>
          <p:cNvSpPr/>
          <p:nvPr/>
        </p:nvSpPr>
        <p:spPr>
          <a:xfrm>
            <a:off x="685800" y="2971800"/>
            <a:ext cx="1188720" cy="731520"/>
          </a:xfrm>
          <a:prstGeom prst="rect">
            <a:avLst/>
          </a:prstGeom>
          <a:noFill/>
          <a:ln/>
        </p:spPr>
        <p:txBody>
          <a:bodyPr wrap="square" lIns="0" tIns="0" rIns="0" bIns="0" rtlCol="0" anchor="ctr"/>
          <a:lstStyle/>
          <a:p>
            <a:pPr indent="0" marL="0">
              <a:buNone/>
            </a:pPr>
            <a:r>
              <a:rPr lang="en-US" sz="1000" b="1" spc="200" kern="0" dirty="0">
                <a:solidFill>
                  <a:srgbClr val="D9D9D9"/>
                </a:solidFill>
                <a:latin typeface="Calibri" pitchFamily="34" charset="0"/>
                <a:ea typeface="Calibri" pitchFamily="34" charset="-122"/>
                <a:cs typeface="Calibri" pitchFamily="34" charset="-120"/>
              </a:rPr>
              <a:t>For Arena staff</a:t>
            </a:r>
            <a:endParaRPr lang="en-US" sz="1000" dirty="0"/>
          </a:p>
        </p:txBody>
      </p:sp>
      <p:sp>
        <p:nvSpPr>
          <p:cNvPr id="36" name="Text 34"/>
          <p:cNvSpPr/>
          <p:nvPr/>
        </p:nvSpPr>
        <p:spPr>
          <a:xfrm>
            <a:off x="2148840" y="2103120"/>
            <a:ext cx="3840480" cy="1554480"/>
          </a:xfrm>
          <a:prstGeom prst="rect">
            <a:avLst/>
          </a:prstGeom>
          <a:noFill/>
          <a:ln/>
        </p:spPr>
        <p:txBody>
          <a:bodyPr wrap="square" lIns="0" tIns="0" rIns="0" bIns="0" rtlCol="0" anchor="ctr"/>
          <a:lstStyle/>
          <a:p>
            <a:pPr indent="0" marL="0">
              <a:buNone/>
            </a:pPr>
            <a:r>
              <a:rPr lang="en-US" sz="1100" dirty="0">
                <a:solidFill>
                  <a:srgbClr val="444444"/>
                </a:solidFill>
                <a:latin typeface="Calibri" pitchFamily="34" charset="0"/>
                <a:ea typeface="Calibri" pitchFamily="34" charset="-122"/>
                <a:cs typeface="Calibri" pitchFamily="34" charset="-120"/>
              </a:rPr>
              <a:t>Leverage Arena's revenue share to subsidise staff mobile costs, VAS (cybersecurity, insurance) and closed-user-group communications for work.</a:t>
            </a:r>
            <a:endParaRPr lang="en-US" sz="1100" dirty="0"/>
          </a:p>
        </p:txBody>
      </p:sp>
      <p:sp>
        <p:nvSpPr>
          <p:cNvPr id="37" name="Shape 35"/>
          <p:cNvSpPr/>
          <p:nvPr/>
        </p:nvSpPr>
        <p:spPr>
          <a:xfrm>
            <a:off x="6309360" y="1920240"/>
            <a:ext cx="5623560" cy="1874520"/>
          </a:xfrm>
          <a:prstGeom prst="rect">
            <a:avLst/>
          </a:prstGeom>
          <a:solidFill>
            <a:srgbClr val="FFFFFF"/>
          </a:solidFill>
          <a:ln w="9525">
            <a:solidFill>
              <a:srgbClr val="111111"/>
            </a:solidFill>
            <a:prstDash val="solid"/>
          </a:ln>
        </p:spPr>
      </p:sp>
      <p:sp>
        <p:nvSpPr>
          <p:cNvPr id="38" name="Shape 36"/>
          <p:cNvSpPr/>
          <p:nvPr/>
        </p:nvSpPr>
        <p:spPr>
          <a:xfrm>
            <a:off x="6309360" y="1920240"/>
            <a:ext cx="1463040" cy="1874520"/>
          </a:xfrm>
          <a:prstGeom prst="rect">
            <a:avLst/>
          </a:prstGeom>
          <a:solidFill>
            <a:srgbClr val="111111"/>
          </a:solidFill>
          <a:ln w="12700">
            <a:solidFill>
              <a:srgbClr val="111111"/>
            </a:solidFill>
            <a:prstDash val="solid"/>
          </a:ln>
        </p:spPr>
      </p:sp>
      <p:sp>
        <p:nvSpPr>
          <p:cNvPr id="39" name="Text 37"/>
          <p:cNvSpPr/>
          <p:nvPr/>
        </p:nvSpPr>
        <p:spPr>
          <a:xfrm>
            <a:off x="6492240" y="2057400"/>
            <a:ext cx="1097280" cy="548640"/>
          </a:xfrm>
          <a:prstGeom prst="rect">
            <a:avLst/>
          </a:prstGeom>
          <a:noFill/>
          <a:ln/>
        </p:spPr>
        <p:txBody>
          <a:bodyPr wrap="square" lIns="0" tIns="0" rIns="0" bIns="0" rtlCol="0" anchor="ctr"/>
          <a:lstStyle/>
          <a:p>
            <a:pPr indent="0" marL="0">
              <a:buNone/>
            </a:pPr>
            <a:r>
              <a:rPr lang="en-US" sz="3400" b="1" dirty="0">
                <a:solidFill>
                  <a:srgbClr val="FFFFFF"/>
                </a:solidFill>
                <a:latin typeface="Georgia" pitchFamily="34" charset="0"/>
                <a:ea typeface="Georgia" pitchFamily="34" charset="-122"/>
                <a:cs typeface="Georgia" pitchFamily="34" charset="-120"/>
              </a:rPr>
              <a:t>02</a:t>
            </a:r>
            <a:endParaRPr lang="en-US" sz="3400" dirty="0"/>
          </a:p>
        </p:txBody>
      </p:sp>
      <p:sp>
        <p:nvSpPr>
          <p:cNvPr id="40" name="Text 38"/>
          <p:cNvSpPr/>
          <p:nvPr/>
        </p:nvSpPr>
        <p:spPr>
          <a:xfrm>
            <a:off x="6492240" y="2971800"/>
            <a:ext cx="1188720" cy="731520"/>
          </a:xfrm>
          <a:prstGeom prst="rect">
            <a:avLst/>
          </a:prstGeom>
          <a:noFill/>
          <a:ln/>
        </p:spPr>
        <p:txBody>
          <a:bodyPr wrap="square" lIns="0" tIns="0" rIns="0" bIns="0" rtlCol="0" anchor="ctr"/>
          <a:lstStyle/>
          <a:p>
            <a:pPr indent="0" marL="0">
              <a:buNone/>
            </a:pPr>
            <a:r>
              <a:rPr lang="en-US" sz="1000" b="1" spc="200" kern="0" dirty="0">
                <a:solidFill>
                  <a:srgbClr val="D9D9D9"/>
                </a:solidFill>
                <a:latin typeface="Calibri" pitchFamily="34" charset="0"/>
                <a:ea typeface="Calibri" pitchFamily="34" charset="-122"/>
                <a:cs typeface="Calibri" pitchFamily="34" charset="-120"/>
              </a:rPr>
              <a:t>For readers &amp; subscribers</a:t>
            </a:r>
            <a:endParaRPr lang="en-US" sz="1000" dirty="0"/>
          </a:p>
        </p:txBody>
      </p:sp>
      <p:sp>
        <p:nvSpPr>
          <p:cNvPr id="41" name="Text 39"/>
          <p:cNvSpPr/>
          <p:nvPr/>
        </p:nvSpPr>
        <p:spPr>
          <a:xfrm>
            <a:off x="7955280" y="2103120"/>
            <a:ext cx="3840480" cy="1554480"/>
          </a:xfrm>
          <a:prstGeom prst="rect">
            <a:avLst/>
          </a:prstGeom>
          <a:noFill/>
          <a:ln/>
        </p:spPr>
        <p:txBody>
          <a:bodyPr wrap="square" lIns="0" tIns="0" rIns="0" bIns="0" rtlCol="0" anchor="ctr"/>
          <a:lstStyle/>
          <a:p>
            <a:pPr indent="0" marL="0">
              <a:buNone/>
            </a:pPr>
            <a:r>
              <a:rPr lang="en-US" sz="1100" dirty="0">
                <a:solidFill>
                  <a:srgbClr val="444444"/>
                </a:solidFill>
                <a:latin typeface="Calibri" pitchFamily="34" charset="0"/>
                <a:ea typeface="Calibri" pitchFamily="34" charset="-122"/>
                <a:cs typeface="Calibri" pitchFamily="34" charset="-120"/>
              </a:rPr>
              <a:t>Zero-rated reading and streaming of every Arena title.  Premium content unlocked by bundle tier.  Gallo CRBTs on activation.  Arena Events loyalty.</a:t>
            </a:r>
            <a:endParaRPr lang="en-US" sz="1100" dirty="0"/>
          </a:p>
        </p:txBody>
      </p:sp>
      <p:sp>
        <p:nvSpPr>
          <p:cNvPr id="42" name="Shape 40"/>
          <p:cNvSpPr/>
          <p:nvPr/>
        </p:nvSpPr>
        <p:spPr>
          <a:xfrm>
            <a:off x="502920" y="3977640"/>
            <a:ext cx="5623560" cy="1874520"/>
          </a:xfrm>
          <a:prstGeom prst="rect">
            <a:avLst/>
          </a:prstGeom>
          <a:solidFill>
            <a:srgbClr val="FFFFFF"/>
          </a:solidFill>
          <a:ln w="9525">
            <a:solidFill>
              <a:srgbClr val="111111"/>
            </a:solidFill>
            <a:prstDash val="solid"/>
          </a:ln>
        </p:spPr>
      </p:sp>
      <p:sp>
        <p:nvSpPr>
          <p:cNvPr id="43" name="Shape 41"/>
          <p:cNvSpPr/>
          <p:nvPr/>
        </p:nvSpPr>
        <p:spPr>
          <a:xfrm>
            <a:off x="502920" y="3977640"/>
            <a:ext cx="1463040" cy="1874520"/>
          </a:xfrm>
          <a:prstGeom prst="rect">
            <a:avLst/>
          </a:prstGeom>
          <a:solidFill>
            <a:srgbClr val="111111"/>
          </a:solidFill>
          <a:ln w="12700">
            <a:solidFill>
              <a:srgbClr val="111111"/>
            </a:solidFill>
            <a:prstDash val="solid"/>
          </a:ln>
        </p:spPr>
      </p:sp>
      <p:sp>
        <p:nvSpPr>
          <p:cNvPr id="44" name="Text 42"/>
          <p:cNvSpPr/>
          <p:nvPr/>
        </p:nvSpPr>
        <p:spPr>
          <a:xfrm>
            <a:off x="685800" y="4114800"/>
            <a:ext cx="1097280" cy="548640"/>
          </a:xfrm>
          <a:prstGeom prst="rect">
            <a:avLst/>
          </a:prstGeom>
          <a:noFill/>
          <a:ln/>
        </p:spPr>
        <p:txBody>
          <a:bodyPr wrap="square" lIns="0" tIns="0" rIns="0" bIns="0" rtlCol="0" anchor="ctr"/>
          <a:lstStyle/>
          <a:p>
            <a:pPr indent="0" marL="0">
              <a:buNone/>
            </a:pPr>
            <a:r>
              <a:rPr lang="en-US" sz="3400" b="1" dirty="0">
                <a:solidFill>
                  <a:srgbClr val="FFFFFF"/>
                </a:solidFill>
                <a:latin typeface="Georgia" pitchFamily="34" charset="0"/>
                <a:ea typeface="Georgia" pitchFamily="34" charset="-122"/>
                <a:cs typeface="Georgia" pitchFamily="34" charset="-120"/>
              </a:rPr>
              <a:t>03</a:t>
            </a:r>
            <a:endParaRPr lang="en-US" sz="3400" dirty="0"/>
          </a:p>
        </p:txBody>
      </p:sp>
      <p:sp>
        <p:nvSpPr>
          <p:cNvPr id="45" name="Text 43"/>
          <p:cNvSpPr/>
          <p:nvPr/>
        </p:nvSpPr>
        <p:spPr>
          <a:xfrm>
            <a:off x="685800" y="5029200"/>
            <a:ext cx="1188720" cy="731520"/>
          </a:xfrm>
          <a:prstGeom prst="rect">
            <a:avLst/>
          </a:prstGeom>
          <a:noFill/>
          <a:ln/>
        </p:spPr>
        <p:txBody>
          <a:bodyPr wrap="square" lIns="0" tIns="0" rIns="0" bIns="0" rtlCol="0" anchor="ctr"/>
          <a:lstStyle/>
          <a:p>
            <a:pPr indent="0" marL="0">
              <a:buNone/>
            </a:pPr>
            <a:r>
              <a:rPr lang="en-US" sz="1000" b="1" spc="200" kern="0" dirty="0">
                <a:solidFill>
                  <a:srgbClr val="D9D9D9"/>
                </a:solidFill>
                <a:latin typeface="Calibri" pitchFamily="34" charset="0"/>
                <a:ea typeface="Calibri" pitchFamily="34" charset="-122"/>
                <a:cs typeface="Calibri" pitchFamily="34" charset="-120"/>
              </a:rPr>
              <a:t>For advertisers</a:t>
            </a:r>
            <a:endParaRPr lang="en-US" sz="1000" dirty="0"/>
          </a:p>
        </p:txBody>
      </p:sp>
      <p:sp>
        <p:nvSpPr>
          <p:cNvPr id="46" name="Text 44"/>
          <p:cNvSpPr/>
          <p:nvPr/>
        </p:nvSpPr>
        <p:spPr>
          <a:xfrm>
            <a:off x="2148840" y="4160520"/>
            <a:ext cx="3840480" cy="1554480"/>
          </a:xfrm>
          <a:prstGeom prst="rect">
            <a:avLst/>
          </a:prstGeom>
          <a:noFill/>
          <a:ln/>
        </p:spPr>
        <p:txBody>
          <a:bodyPr wrap="square" lIns="0" tIns="0" rIns="0" bIns="0" rtlCol="0" anchor="ctr"/>
          <a:lstStyle/>
          <a:p>
            <a:pPr indent="0" marL="0">
              <a:buNone/>
            </a:pPr>
            <a:r>
              <a:rPr lang="en-US" sz="1100" dirty="0">
                <a:solidFill>
                  <a:srgbClr val="444444"/>
                </a:solidFill>
                <a:latin typeface="Calibri" pitchFamily="34" charset="0"/>
                <a:ea typeface="Calibri" pitchFamily="34" charset="-122"/>
                <a:cs typeface="Calibri" pitchFamily="34" charset="-120"/>
              </a:rPr>
              <a:t>Sponsored bundles, branded CRBTs, data-sponsorships, geo-targeted trade offers — a new revenue stream that's measurable and addressable.</a:t>
            </a:r>
            <a:endParaRPr lang="en-US" sz="1100" dirty="0"/>
          </a:p>
        </p:txBody>
      </p:sp>
      <p:sp>
        <p:nvSpPr>
          <p:cNvPr id="47" name="Shape 45"/>
          <p:cNvSpPr/>
          <p:nvPr/>
        </p:nvSpPr>
        <p:spPr>
          <a:xfrm>
            <a:off x="6309360" y="3977640"/>
            <a:ext cx="5623560" cy="1874520"/>
          </a:xfrm>
          <a:prstGeom prst="rect">
            <a:avLst/>
          </a:prstGeom>
          <a:solidFill>
            <a:srgbClr val="FFFFFF"/>
          </a:solidFill>
          <a:ln w="9525">
            <a:solidFill>
              <a:srgbClr val="111111"/>
            </a:solidFill>
            <a:prstDash val="solid"/>
          </a:ln>
        </p:spPr>
      </p:sp>
      <p:sp>
        <p:nvSpPr>
          <p:cNvPr id="48" name="Shape 46"/>
          <p:cNvSpPr/>
          <p:nvPr/>
        </p:nvSpPr>
        <p:spPr>
          <a:xfrm>
            <a:off x="6309360" y="3977640"/>
            <a:ext cx="1463040" cy="1874520"/>
          </a:xfrm>
          <a:prstGeom prst="rect">
            <a:avLst/>
          </a:prstGeom>
          <a:solidFill>
            <a:srgbClr val="111111"/>
          </a:solidFill>
          <a:ln w="12700">
            <a:solidFill>
              <a:srgbClr val="111111"/>
            </a:solidFill>
            <a:prstDash val="solid"/>
          </a:ln>
        </p:spPr>
      </p:sp>
      <p:sp>
        <p:nvSpPr>
          <p:cNvPr id="49" name="Text 47"/>
          <p:cNvSpPr/>
          <p:nvPr/>
        </p:nvSpPr>
        <p:spPr>
          <a:xfrm>
            <a:off x="6492240" y="4114800"/>
            <a:ext cx="1097280" cy="548640"/>
          </a:xfrm>
          <a:prstGeom prst="rect">
            <a:avLst/>
          </a:prstGeom>
          <a:noFill/>
          <a:ln/>
        </p:spPr>
        <p:txBody>
          <a:bodyPr wrap="square" lIns="0" tIns="0" rIns="0" bIns="0" rtlCol="0" anchor="ctr"/>
          <a:lstStyle/>
          <a:p>
            <a:pPr indent="0" marL="0">
              <a:buNone/>
            </a:pPr>
            <a:r>
              <a:rPr lang="en-US" sz="3400" b="1" dirty="0">
                <a:solidFill>
                  <a:srgbClr val="FFFFFF"/>
                </a:solidFill>
                <a:latin typeface="Georgia" pitchFamily="34" charset="0"/>
                <a:ea typeface="Georgia" pitchFamily="34" charset="-122"/>
                <a:cs typeface="Georgia" pitchFamily="34" charset="-120"/>
              </a:rPr>
              <a:t>04</a:t>
            </a:r>
            <a:endParaRPr lang="en-US" sz="3400" dirty="0"/>
          </a:p>
        </p:txBody>
      </p:sp>
      <p:sp>
        <p:nvSpPr>
          <p:cNvPr id="50" name="Text 48"/>
          <p:cNvSpPr/>
          <p:nvPr/>
        </p:nvSpPr>
        <p:spPr>
          <a:xfrm>
            <a:off x="6492240" y="5029200"/>
            <a:ext cx="1188720" cy="731520"/>
          </a:xfrm>
          <a:prstGeom prst="rect">
            <a:avLst/>
          </a:prstGeom>
          <a:noFill/>
          <a:ln/>
        </p:spPr>
        <p:txBody>
          <a:bodyPr wrap="square" lIns="0" tIns="0" rIns="0" bIns="0" rtlCol="0" anchor="ctr"/>
          <a:lstStyle/>
          <a:p>
            <a:pPr indent="0" marL="0">
              <a:buNone/>
            </a:pPr>
            <a:r>
              <a:rPr lang="en-US" sz="1000" b="1" spc="200" kern="0" dirty="0">
                <a:solidFill>
                  <a:srgbClr val="D9D9D9"/>
                </a:solidFill>
                <a:latin typeface="Calibri" pitchFamily="34" charset="0"/>
                <a:ea typeface="Calibri" pitchFamily="34" charset="-122"/>
                <a:cs typeface="Calibri" pitchFamily="34" charset="-120"/>
              </a:rPr>
              <a:t>For the business</a:t>
            </a:r>
            <a:endParaRPr lang="en-US" sz="1000" dirty="0"/>
          </a:p>
        </p:txBody>
      </p:sp>
      <p:sp>
        <p:nvSpPr>
          <p:cNvPr id="51" name="Text 49"/>
          <p:cNvSpPr/>
          <p:nvPr/>
        </p:nvSpPr>
        <p:spPr>
          <a:xfrm>
            <a:off x="7955280" y="4160520"/>
            <a:ext cx="3840480" cy="1554480"/>
          </a:xfrm>
          <a:prstGeom prst="rect">
            <a:avLst/>
          </a:prstGeom>
          <a:noFill/>
          <a:ln/>
        </p:spPr>
        <p:txBody>
          <a:bodyPr wrap="square" lIns="0" tIns="0" rIns="0" bIns="0" rtlCol="0" anchor="ctr"/>
          <a:lstStyle/>
          <a:p>
            <a:pPr indent="0" marL="0">
              <a:buNone/>
            </a:pPr>
            <a:r>
              <a:rPr lang="en-US" sz="1100" dirty="0">
                <a:solidFill>
                  <a:srgbClr val="444444"/>
                </a:solidFill>
                <a:latin typeface="Calibri" pitchFamily="34" charset="0"/>
                <a:ea typeface="Calibri" pitchFamily="34" charset="-122"/>
                <a:cs typeface="Calibri" pitchFamily="34" charset="-120"/>
              </a:rPr>
              <a:t>Recurring subscriber revenue replaces volatile ad revenue.  Rich first-party data fuels targeting.  Direct-billed relationship is the long-term asset.</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20040" y="182880"/>
            <a:ext cx="1417320" cy="438912"/>
          </a:xfrm>
          <a:prstGeom prst="rect">
            <a:avLst/>
          </a:prstGeom>
          <a:solidFill>
            <a:srgbClr val="111111"/>
          </a:solidFill>
          <a:ln w="12700">
            <a:solidFill>
              <a:srgbClr val="111111"/>
            </a:solidFill>
            <a:prstDash val="solid"/>
          </a:ln>
        </p:spPr>
      </p:sp>
      <p:sp>
        <p:nvSpPr>
          <p:cNvPr id="3" name="Text 1"/>
          <p:cNvSpPr/>
          <p:nvPr/>
        </p:nvSpPr>
        <p:spPr>
          <a:xfrm>
            <a:off x="320040" y="182880"/>
            <a:ext cx="1417320" cy="438912"/>
          </a:xfrm>
          <a:prstGeom prst="rect">
            <a:avLst/>
          </a:prstGeom>
          <a:noFill/>
          <a:ln/>
        </p:spPr>
        <p:txBody>
          <a:bodyPr wrap="square" lIns="0" tIns="0" rIns="0" bIns="0" rtlCol="0" anchor="ctr"/>
          <a:lstStyle/>
          <a:p>
            <a:pPr algn="ctr" indent="0" marL="0">
              <a:buNone/>
            </a:pPr>
            <a:r>
              <a:rPr lang="en-US" sz="1500" b="1" spc="400" kern="0" dirty="0">
                <a:solidFill>
                  <a:srgbClr val="FFFFFF"/>
                </a:solidFill>
                <a:latin typeface="Calibri" pitchFamily="34" charset="0"/>
                <a:ea typeface="Calibri" pitchFamily="34" charset="-122"/>
                <a:cs typeface="Calibri" pitchFamily="34" charset="-120"/>
              </a:rPr>
              <a:t>ARENA
</a:t>
            </a:r>
            <a:pPr algn="ctr" indent="0" marL="0">
              <a:buNone/>
            </a:pPr>
            <a:r>
              <a:rPr lang="en-US" sz="600" spc="400" kern="0" dirty="0">
                <a:solidFill>
                  <a:srgbClr val="FFFFFF"/>
                </a:solidFill>
                <a:latin typeface="Calibri" pitchFamily="34" charset="0"/>
                <a:ea typeface="Calibri" pitchFamily="34" charset="-122"/>
                <a:cs typeface="Calibri" pitchFamily="34" charset="-120"/>
              </a:rPr>
              <a:t>H O L D I N G S</a:t>
            </a:r>
            <a:endParaRPr lang="en-US" sz="1500" dirty="0"/>
          </a:p>
        </p:txBody>
      </p:sp>
      <p:sp>
        <p:nvSpPr>
          <p:cNvPr id="4" name="Shape 2"/>
          <p:cNvSpPr/>
          <p:nvPr/>
        </p:nvSpPr>
        <p:spPr>
          <a:xfrm>
            <a:off x="9677095" y="246888"/>
            <a:ext cx="201168" cy="201168"/>
          </a:xfrm>
          <a:prstGeom prst="ellipse">
            <a:avLst/>
          </a:prstGeom>
          <a:solidFill>
            <a:srgbClr val="111111"/>
          </a:solidFill>
          <a:ln w="12700">
            <a:solidFill>
              <a:srgbClr val="111111"/>
            </a:solidFill>
            <a:prstDash val="solid"/>
          </a:ln>
        </p:spPr>
      </p:sp>
      <p:sp>
        <p:nvSpPr>
          <p:cNvPr id="5" name="Text 3"/>
          <p:cNvSpPr/>
          <p:nvPr/>
        </p:nvSpPr>
        <p:spPr>
          <a:xfrm>
            <a:off x="9923983" y="210312"/>
            <a:ext cx="2011680" cy="274320"/>
          </a:xfrm>
          <a:prstGeom prst="rect">
            <a:avLst/>
          </a:prstGeom>
          <a:noFill/>
          <a:ln/>
        </p:spPr>
        <p:txBody>
          <a:bodyPr wrap="square" lIns="0" tIns="0" rIns="0" bIns="0" rtlCol="0" anchor="ctr"/>
          <a:lstStyle/>
          <a:p>
            <a:pPr algn="l" indent="0" marL="0">
              <a:buNone/>
            </a:pPr>
            <a:r>
              <a:rPr lang="en-US" sz="1000" b="1" i="1" dirty="0">
                <a:solidFill>
                  <a:srgbClr val="111111"/>
                </a:solidFill>
                <a:latin typeface="Calibri" pitchFamily="34" charset="0"/>
                <a:ea typeface="Calibri" pitchFamily="34" charset="-122"/>
                <a:cs typeface="Calibri" pitchFamily="34" charset="-120"/>
              </a:rPr>
              <a:t>#DoingSomethingGreat</a:t>
            </a:r>
            <a:endParaRPr lang="en-US" sz="1000" dirty="0"/>
          </a:p>
        </p:txBody>
      </p:sp>
      <p:sp>
        <p:nvSpPr>
          <p:cNvPr id="6" name="Shape 4"/>
          <p:cNvSpPr/>
          <p:nvPr/>
        </p:nvSpPr>
        <p:spPr>
          <a:xfrm>
            <a:off x="5973775" y="0"/>
            <a:ext cx="6217920" cy="1463040"/>
          </a:xfrm>
          <a:prstGeom prst="rect">
            <a:avLst/>
          </a:prstGeom>
          <a:solidFill>
            <a:srgbClr val="F5F5F5"/>
          </a:solidFill>
          <a:ln w="12700">
            <a:solidFill>
              <a:srgbClr val="F5F5F5"/>
            </a:solidFill>
            <a:prstDash val="solid"/>
          </a:ln>
        </p:spPr>
      </p:sp>
      <p:sp>
        <p:nvSpPr>
          <p:cNvPr id="7" name="Shape 5"/>
          <p:cNvSpPr/>
          <p:nvPr/>
        </p:nvSpPr>
        <p:spPr>
          <a:xfrm>
            <a:off x="6248095" y="0"/>
            <a:ext cx="-1280160" cy="1280160"/>
          </a:xfrm>
          <a:prstGeom prst="line">
            <a:avLst/>
          </a:prstGeom>
          <a:noFill/>
          <a:ln w="9525">
            <a:solidFill>
              <a:srgbClr val="EDEDED"/>
            </a:solidFill>
            <a:prstDash val="solid"/>
          </a:ln>
        </p:spPr>
      </p:sp>
      <p:sp>
        <p:nvSpPr>
          <p:cNvPr id="8" name="Shape 6"/>
          <p:cNvSpPr/>
          <p:nvPr/>
        </p:nvSpPr>
        <p:spPr>
          <a:xfrm>
            <a:off x="6659575" y="0"/>
            <a:ext cx="-1280160" cy="1280160"/>
          </a:xfrm>
          <a:prstGeom prst="line">
            <a:avLst/>
          </a:prstGeom>
          <a:noFill/>
          <a:ln w="9525">
            <a:solidFill>
              <a:srgbClr val="EDEDED"/>
            </a:solidFill>
            <a:prstDash val="solid"/>
          </a:ln>
        </p:spPr>
      </p:sp>
      <p:sp>
        <p:nvSpPr>
          <p:cNvPr id="9" name="Shape 7"/>
          <p:cNvSpPr/>
          <p:nvPr/>
        </p:nvSpPr>
        <p:spPr>
          <a:xfrm>
            <a:off x="7071055" y="0"/>
            <a:ext cx="-1280160" cy="1280160"/>
          </a:xfrm>
          <a:prstGeom prst="line">
            <a:avLst/>
          </a:prstGeom>
          <a:noFill/>
          <a:ln w="9525">
            <a:solidFill>
              <a:srgbClr val="EDEDED"/>
            </a:solidFill>
            <a:prstDash val="solid"/>
          </a:ln>
        </p:spPr>
      </p:sp>
      <p:sp>
        <p:nvSpPr>
          <p:cNvPr id="10" name="Shape 8"/>
          <p:cNvSpPr/>
          <p:nvPr/>
        </p:nvSpPr>
        <p:spPr>
          <a:xfrm>
            <a:off x="7482535" y="0"/>
            <a:ext cx="-1280160" cy="1280160"/>
          </a:xfrm>
          <a:prstGeom prst="line">
            <a:avLst/>
          </a:prstGeom>
          <a:noFill/>
          <a:ln w="9525">
            <a:solidFill>
              <a:srgbClr val="EDEDED"/>
            </a:solidFill>
            <a:prstDash val="solid"/>
          </a:ln>
        </p:spPr>
      </p:sp>
      <p:sp>
        <p:nvSpPr>
          <p:cNvPr id="11" name="Shape 9"/>
          <p:cNvSpPr/>
          <p:nvPr/>
        </p:nvSpPr>
        <p:spPr>
          <a:xfrm>
            <a:off x="7894015" y="0"/>
            <a:ext cx="-1280160" cy="1280160"/>
          </a:xfrm>
          <a:prstGeom prst="line">
            <a:avLst/>
          </a:prstGeom>
          <a:noFill/>
          <a:ln w="9525">
            <a:solidFill>
              <a:srgbClr val="EDEDED"/>
            </a:solidFill>
            <a:prstDash val="solid"/>
          </a:ln>
        </p:spPr>
      </p:sp>
      <p:sp>
        <p:nvSpPr>
          <p:cNvPr id="12" name="Shape 10"/>
          <p:cNvSpPr/>
          <p:nvPr/>
        </p:nvSpPr>
        <p:spPr>
          <a:xfrm>
            <a:off x="8305495" y="0"/>
            <a:ext cx="-1280160" cy="1280160"/>
          </a:xfrm>
          <a:prstGeom prst="line">
            <a:avLst/>
          </a:prstGeom>
          <a:noFill/>
          <a:ln w="9525">
            <a:solidFill>
              <a:srgbClr val="EDEDED"/>
            </a:solidFill>
            <a:prstDash val="solid"/>
          </a:ln>
        </p:spPr>
      </p:sp>
      <p:sp>
        <p:nvSpPr>
          <p:cNvPr id="13" name="Shape 11"/>
          <p:cNvSpPr/>
          <p:nvPr/>
        </p:nvSpPr>
        <p:spPr>
          <a:xfrm>
            <a:off x="8716975" y="0"/>
            <a:ext cx="-1280160" cy="1280160"/>
          </a:xfrm>
          <a:prstGeom prst="line">
            <a:avLst/>
          </a:prstGeom>
          <a:noFill/>
          <a:ln w="9525">
            <a:solidFill>
              <a:srgbClr val="EDEDED"/>
            </a:solidFill>
            <a:prstDash val="solid"/>
          </a:ln>
        </p:spPr>
      </p:sp>
      <p:sp>
        <p:nvSpPr>
          <p:cNvPr id="14" name="Shape 12"/>
          <p:cNvSpPr/>
          <p:nvPr/>
        </p:nvSpPr>
        <p:spPr>
          <a:xfrm>
            <a:off x="9128455" y="0"/>
            <a:ext cx="-1280160" cy="1280160"/>
          </a:xfrm>
          <a:prstGeom prst="line">
            <a:avLst/>
          </a:prstGeom>
          <a:noFill/>
          <a:ln w="9525">
            <a:solidFill>
              <a:srgbClr val="EDEDED"/>
            </a:solidFill>
            <a:prstDash val="solid"/>
          </a:ln>
        </p:spPr>
      </p:sp>
      <p:sp>
        <p:nvSpPr>
          <p:cNvPr id="15" name="Shape 13"/>
          <p:cNvSpPr/>
          <p:nvPr/>
        </p:nvSpPr>
        <p:spPr>
          <a:xfrm>
            <a:off x="9539935" y="0"/>
            <a:ext cx="-1280160" cy="1280160"/>
          </a:xfrm>
          <a:prstGeom prst="line">
            <a:avLst/>
          </a:prstGeom>
          <a:noFill/>
          <a:ln w="9525">
            <a:solidFill>
              <a:srgbClr val="EDEDED"/>
            </a:solidFill>
            <a:prstDash val="solid"/>
          </a:ln>
        </p:spPr>
      </p:sp>
      <p:sp>
        <p:nvSpPr>
          <p:cNvPr id="16" name="Shape 14"/>
          <p:cNvSpPr/>
          <p:nvPr/>
        </p:nvSpPr>
        <p:spPr>
          <a:xfrm>
            <a:off x="9951415" y="0"/>
            <a:ext cx="-1280160" cy="1280160"/>
          </a:xfrm>
          <a:prstGeom prst="line">
            <a:avLst/>
          </a:prstGeom>
          <a:noFill/>
          <a:ln w="9525">
            <a:solidFill>
              <a:srgbClr val="EDEDED"/>
            </a:solidFill>
            <a:prstDash val="solid"/>
          </a:ln>
        </p:spPr>
      </p:sp>
      <p:sp>
        <p:nvSpPr>
          <p:cNvPr id="17" name="Shape 15"/>
          <p:cNvSpPr/>
          <p:nvPr/>
        </p:nvSpPr>
        <p:spPr>
          <a:xfrm>
            <a:off x="10362895" y="0"/>
            <a:ext cx="-1280160" cy="1280160"/>
          </a:xfrm>
          <a:prstGeom prst="line">
            <a:avLst/>
          </a:prstGeom>
          <a:noFill/>
          <a:ln w="9525">
            <a:solidFill>
              <a:srgbClr val="EDEDED"/>
            </a:solidFill>
            <a:prstDash val="solid"/>
          </a:ln>
        </p:spPr>
      </p:sp>
      <p:sp>
        <p:nvSpPr>
          <p:cNvPr id="18" name="Shape 16"/>
          <p:cNvSpPr/>
          <p:nvPr/>
        </p:nvSpPr>
        <p:spPr>
          <a:xfrm>
            <a:off x="10774375" y="0"/>
            <a:ext cx="-1280160" cy="1280160"/>
          </a:xfrm>
          <a:prstGeom prst="line">
            <a:avLst/>
          </a:prstGeom>
          <a:noFill/>
          <a:ln w="9525">
            <a:solidFill>
              <a:srgbClr val="EDEDED"/>
            </a:solidFill>
            <a:prstDash val="solid"/>
          </a:ln>
        </p:spPr>
      </p:sp>
      <p:sp>
        <p:nvSpPr>
          <p:cNvPr id="19" name="Shape 17"/>
          <p:cNvSpPr/>
          <p:nvPr/>
        </p:nvSpPr>
        <p:spPr>
          <a:xfrm>
            <a:off x="11185855" y="0"/>
            <a:ext cx="-1280160" cy="1280160"/>
          </a:xfrm>
          <a:prstGeom prst="line">
            <a:avLst/>
          </a:prstGeom>
          <a:noFill/>
          <a:ln w="9525">
            <a:solidFill>
              <a:srgbClr val="EDEDED"/>
            </a:solidFill>
            <a:prstDash val="solid"/>
          </a:ln>
        </p:spPr>
      </p:sp>
      <p:sp>
        <p:nvSpPr>
          <p:cNvPr id="20" name="Shape 18"/>
          <p:cNvSpPr/>
          <p:nvPr/>
        </p:nvSpPr>
        <p:spPr>
          <a:xfrm>
            <a:off x="11597335" y="0"/>
            <a:ext cx="-1280160" cy="1280160"/>
          </a:xfrm>
          <a:prstGeom prst="line">
            <a:avLst/>
          </a:prstGeom>
          <a:noFill/>
          <a:ln w="9525">
            <a:solidFill>
              <a:srgbClr val="EDEDED"/>
            </a:solidFill>
            <a:prstDash val="solid"/>
          </a:ln>
        </p:spPr>
      </p:sp>
      <p:sp>
        <p:nvSpPr>
          <p:cNvPr id="21" name="Shape 19"/>
          <p:cNvSpPr/>
          <p:nvPr/>
        </p:nvSpPr>
        <p:spPr>
          <a:xfrm>
            <a:off x="320040" y="1481328"/>
            <a:ext cx="11551615" cy="0"/>
          </a:xfrm>
          <a:prstGeom prst="line">
            <a:avLst/>
          </a:prstGeom>
          <a:noFill/>
          <a:ln w="15875">
            <a:solidFill>
              <a:srgbClr val="111111"/>
            </a:solidFill>
            <a:prstDash val="solid"/>
          </a:ln>
        </p:spPr>
      </p:sp>
      <p:sp>
        <p:nvSpPr>
          <p:cNvPr id="22" name="Text 20"/>
          <p:cNvSpPr/>
          <p:nvPr/>
        </p:nvSpPr>
        <p:spPr>
          <a:xfrm>
            <a:off x="5486400" y="292608"/>
            <a:ext cx="6309360" cy="685800"/>
          </a:xfrm>
          <a:prstGeom prst="rect">
            <a:avLst/>
          </a:prstGeom>
          <a:noFill/>
          <a:ln/>
        </p:spPr>
        <p:txBody>
          <a:bodyPr wrap="square" lIns="0" tIns="0" rIns="0" bIns="0" rtlCol="0" anchor="ctr"/>
          <a:lstStyle/>
          <a:p>
            <a:pPr algn="r" indent="0" marL="0">
              <a:buNone/>
            </a:pPr>
            <a:r>
              <a:rPr lang="en-US" sz="2600" b="1" dirty="0">
                <a:solidFill>
                  <a:srgbClr val="111111"/>
                </a:solidFill>
                <a:latin typeface="Calibri" pitchFamily="34" charset="0"/>
                <a:ea typeface="Calibri" pitchFamily="34" charset="-122"/>
                <a:cs typeface="Calibri" pitchFamily="34" charset="-120"/>
              </a:rPr>
              <a:t>Why We're Here</a:t>
            </a:r>
            <a:endParaRPr lang="en-US" sz="2600" dirty="0"/>
          </a:p>
        </p:txBody>
      </p:sp>
      <p:sp>
        <p:nvSpPr>
          <p:cNvPr id="23" name="Text 21"/>
          <p:cNvSpPr/>
          <p:nvPr/>
        </p:nvSpPr>
        <p:spPr>
          <a:xfrm>
            <a:off x="5486400" y="960120"/>
            <a:ext cx="6309360" cy="365760"/>
          </a:xfrm>
          <a:prstGeom prst="rect">
            <a:avLst/>
          </a:prstGeom>
          <a:noFill/>
          <a:ln/>
        </p:spPr>
        <p:txBody>
          <a:bodyPr wrap="square" lIns="0" tIns="0" rIns="0" bIns="0" rtlCol="0" anchor="ctr"/>
          <a:lstStyle/>
          <a:p>
            <a:pPr algn="r" indent="0" marL="0">
              <a:buNone/>
            </a:pPr>
            <a:r>
              <a:rPr lang="en-US" sz="1200" i="1" dirty="0">
                <a:solidFill>
                  <a:srgbClr val="6B6B6B"/>
                </a:solidFill>
                <a:latin typeface="Calibri" pitchFamily="34" charset="0"/>
                <a:ea typeface="Calibri" pitchFamily="34" charset="-122"/>
                <a:cs typeface="Calibri" pitchFamily="34" charset="-120"/>
              </a:rPr>
              <a:t>MVNOs are no longer side projects — they are strategic digital brands.</a:t>
            </a:r>
            <a:endParaRPr lang="en-US" sz="1200" dirty="0"/>
          </a:p>
        </p:txBody>
      </p:sp>
      <p:sp>
        <p:nvSpPr>
          <p:cNvPr id="24" name="Shape 22"/>
          <p:cNvSpPr/>
          <p:nvPr/>
        </p:nvSpPr>
        <p:spPr>
          <a:xfrm>
            <a:off x="320040" y="6355080"/>
            <a:ext cx="11551615" cy="0"/>
          </a:xfrm>
          <a:prstGeom prst="line">
            <a:avLst/>
          </a:prstGeom>
          <a:noFill/>
          <a:ln w="6350">
            <a:solidFill>
              <a:srgbClr val="BFBFBF"/>
            </a:solidFill>
            <a:prstDash val="solid"/>
          </a:ln>
        </p:spPr>
      </p:sp>
      <p:sp>
        <p:nvSpPr>
          <p:cNvPr id="25" name="Shape 23"/>
          <p:cNvSpPr/>
          <p:nvPr/>
        </p:nvSpPr>
        <p:spPr>
          <a:xfrm>
            <a:off x="320040" y="6473952"/>
            <a:ext cx="502920" cy="237744"/>
          </a:xfrm>
          <a:prstGeom prst="rect">
            <a:avLst/>
          </a:prstGeom>
          <a:solidFill>
            <a:srgbClr val="111111"/>
          </a:solidFill>
          <a:ln w="12700">
            <a:solidFill>
              <a:srgbClr val="111111"/>
            </a:solidFill>
            <a:prstDash val="solid"/>
          </a:ln>
        </p:spPr>
      </p:sp>
      <p:sp>
        <p:nvSpPr>
          <p:cNvPr id="26" name="Text 24"/>
          <p:cNvSpPr/>
          <p:nvPr/>
        </p:nvSpPr>
        <p:spPr>
          <a:xfrm>
            <a:off x="320040" y="6473952"/>
            <a:ext cx="502920" cy="237744"/>
          </a:xfrm>
          <a:prstGeom prst="rect">
            <a:avLst/>
          </a:prstGeom>
          <a:noFill/>
          <a:ln/>
        </p:spPr>
        <p:txBody>
          <a:bodyPr wrap="square" lIns="0" tIns="0" rIns="0" bIns="0" rtlCol="0" anchor="ctr"/>
          <a:lstStyle/>
          <a:p>
            <a:pPr algn="ctr" indent="0" marL="0">
              <a:buNone/>
            </a:pPr>
            <a:r>
              <a:rPr lang="en-US" sz="900" b="1" spc="200" kern="0" dirty="0">
                <a:solidFill>
                  <a:srgbClr val="FFFFFF"/>
                </a:solidFill>
                <a:latin typeface="Calibri" pitchFamily="34" charset="0"/>
                <a:ea typeface="Calibri" pitchFamily="34" charset="-122"/>
                <a:cs typeface="Calibri" pitchFamily="34" charset="-120"/>
              </a:rPr>
              <a:t>DSG</a:t>
            </a:r>
            <a:endParaRPr lang="en-US" sz="900" dirty="0"/>
          </a:p>
        </p:txBody>
      </p:sp>
      <p:sp>
        <p:nvSpPr>
          <p:cNvPr id="27" name="Text 25"/>
          <p:cNvSpPr/>
          <p:nvPr/>
        </p:nvSpPr>
        <p:spPr>
          <a:xfrm>
            <a:off x="868680" y="6473952"/>
            <a:ext cx="2194560" cy="237744"/>
          </a:xfrm>
          <a:prstGeom prst="rect">
            <a:avLst/>
          </a:prstGeom>
          <a:noFill/>
          <a:ln/>
        </p:spPr>
        <p:txBody>
          <a:bodyPr wrap="square" lIns="0" tIns="0" rIns="0" bIns="0" rtlCol="0" anchor="ctr"/>
          <a:lstStyle/>
          <a:p>
            <a:pPr indent="0" marL="0">
              <a:buNone/>
            </a:pPr>
            <a:r>
              <a:rPr lang="en-US" sz="650" spc="200" kern="0" dirty="0">
                <a:solidFill>
                  <a:srgbClr val="6B6B6B"/>
                </a:solidFill>
                <a:latin typeface="Calibri" pitchFamily="34" charset="0"/>
                <a:ea typeface="Calibri" pitchFamily="34" charset="-122"/>
                <a:cs typeface="Calibri" pitchFamily="34" charset="-120"/>
              </a:rPr>
              <a:t>DIGITAL SOLUTIONS GROUP</a:t>
            </a:r>
            <a:endParaRPr lang="en-US" sz="650" dirty="0"/>
          </a:p>
        </p:txBody>
      </p:sp>
      <p:sp>
        <p:nvSpPr>
          <p:cNvPr id="28" name="Text 26"/>
          <p:cNvSpPr/>
          <p:nvPr/>
        </p:nvSpPr>
        <p:spPr>
          <a:xfrm>
            <a:off x="4754880" y="6473952"/>
            <a:ext cx="2743200" cy="237744"/>
          </a:xfrm>
          <a:prstGeom prst="rect">
            <a:avLst/>
          </a:prstGeom>
          <a:noFill/>
          <a:ln/>
        </p:spPr>
        <p:txBody>
          <a:bodyPr wrap="square" lIns="0" tIns="0" rIns="0" bIns="0" rtlCol="0" anchor="ctr"/>
          <a:lstStyle/>
          <a:p>
            <a:pPr algn="ctr" indent="0" marL="0">
              <a:buNone/>
            </a:pPr>
            <a:r>
              <a:rPr lang="en-US" sz="1100" b="1" dirty="0">
                <a:solidFill>
                  <a:srgbClr val="111111"/>
                </a:solidFill>
                <a:latin typeface="Calibri" pitchFamily="34" charset="0"/>
                <a:ea typeface="Calibri" pitchFamily="34" charset="-122"/>
                <a:cs typeface="Calibri" pitchFamily="34" charset="-120"/>
              </a:rPr>
              <a:t>digital</a:t>
            </a:r>
            <a:pPr algn="ctr" indent="0" marL="0">
              <a:buNone/>
            </a:pPr>
            <a:r>
              <a:rPr lang="en-US" sz="1100" b="1" dirty="0">
                <a:solidFill>
                  <a:srgbClr val="6B6B6B"/>
                </a:solidFill>
                <a:latin typeface="Calibri" pitchFamily="34" charset="0"/>
                <a:ea typeface="Calibri" pitchFamily="34" charset="-122"/>
                <a:cs typeface="Calibri" pitchFamily="34" charset="-120"/>
              </a:rPr>
              <a:t>mobile</a:t>
            </a:r>
            <a:endParaRPr lang="en-US" sz="1100" dirty="0"/>
          </a:p>
        </p:txBody>
      </p:sp>
      <p:sp>
        <p:nvSpPr>
          <p:cNvPr id="29" name="Shape 27"/>
          <p:cNvSpPr/>
          <p:nvPr/>
        </p:nvSpPr>
        <p:spPr>
          <a:xfrm>
            <a:off x="8595360" y="6519672"/>
            <a:ext cx="146304" cy="146304"/>
          </a:xfrm>
          <a:prstGeom prst="ellipse">
            <a:avLst/>
          </a:prstGeom>
          <a:solidFill>
            <a:srgbClr val="111111"/>
          </a:solidFill>
          <a:ln w="12700">
            <a:solidFill>
              <a:srgbClr val="111111"/>
            </a:solidFill>
            <a:prstDash val="solid"/>
          </a:ln>
        </p:spPr>
      </p:sp>
      <p:sp>
        <p:nvSpPr>
          <p:cNvPr id="30" name="Text 28"/>
          <p:cNvSpPr/>
          <p:nvPr/>
        </p:nvSpPr>
        <p:spPr>
          <a:xfrm>
            <a:off x="8778240" y="6473952"/>
            <a:ext cx="2194560" cy="237744"/>
          </a:xfrm>
          <a:prstGeom prst="rect">
            <a:avLst/>
          </a:prstGeom>
          <a:noFill/>
          <a:ln/>
        </p:spPr>
        <p:txBody>
          <a:bodyPr wrap="square" lIns="0" tIns="0" rIns="0" bIns="0" rtlCol="0" anchor="ctr"/>
          <a:lstStyle/>
          <a:p>
            <a:pPr indent="0" marL="0">
              <a:buNone/>
            </a:pPr>
            <a:r>
              <a:rPr lang="en-US" sz="900" i="1" dirty="0">
                <a:solidFill>
                  <a:srgbClr val="111111"/>
                </a:solidFill>
                <a:latin typeface="Calibri" pitchFamily="34" charset="0"/>
                <a:ea typeface="Calibri" pitchFamily="34" charset="-122"/>
                <a:cs typeface="Calibri" pitchFamily="34" charset="-120"/>
              </a:rPr>
              <a:t>#DoingSomethingGreat</a:t>
            </a:r>
            <a:endParaRPr lang="en-US" sz="900" dirty="0"/>
          </a:p>
        </p:txBody>
      </p:sp>
      <p:sp>
        <p:nvSpPr>
          <p:cNvPr id="31" name="Text 29"/>
          <p:cNvSpPr/>
          <p:nvPr/>
        </p:nvSpPr>
        <p:spPr>
          <a:xfrm>
            <a:off x="11002975" y="6473952"/>
            <a:ext cx="914400" cy="237744"/>
          </a:xfrm>
          <a:prstGeom prst="rect">
            <a:avLst/>
          </a:prstGeom>
          <a:noFill/>
          <a:ln/>
        </p:spPr>
        <p:txBody>
          <a:bodyPr wrap="square" lIns="0" tIns="0" rIns="0" bIns="0" rtlCol="0" anchor="ctr"/>
          <a:lstStyle/>
          <a:p>
            <a:pPr algn="r" indent="0" marL="0">
              <a:buNone/>
            </a:pPr>
            <a:r>
              <a:rPr lang="en-US" sz="800" dirty="0">
                <a:solidFill>
                  <a:srgbClr val="6B6B6B"/>
                </a:solidFill>
                <a:latin typeface="Calibri" pitchFamily="34" charset="0"/>
                <a:ea typeface="Calibri" pitchFamily="34" charset="-122"/>
                <a:cs typeface="Calibri" pitchFamily="34" charset="-120"/>
              </a:rPr>
              <a:t>09 / 20</a:t>
            </a:r>
            <a:endParaRPr lang="en-US" sz="800" dirty="0"/>
          </a:p>
        </p:txBody>
      </p:sp>
      <p:sp>
        <p:nvSpPr>
          <p:cNvPr id="32" name="Text 30"/>
          <p:cNvSpPr/>
          <p:nvPr/>
        </p:nvSpPr>
        <p:spPr>
          <a:xfrm>
            <a:off x="502920" y="1828800"/>
            <a:ext cx="11247120" cy="457200"/>
          </a:xfrm>
          <a:prstGeom prst="rect">
            <a:avLst/>
          </a:prstGeom>
          <a:noFill/>
          <a:ln/>
        </p:spPr>
        <p:txBody>
          <a:bodyPr wrap="square" lIns="0" tIns="0" rIns="0" bIns="0" rtlCol="0" anchor="ctr"/>
          <a:lstStyle/>
          <a:p>
            <a:pPr indent="0" marL="0">
              <a:buNone/>
            </a:pPr>
            <a:r>
              <a:rPr lang="en-US" sz="1300" i="1" dirty="0">
                <a:solidFill>
                  <a:srgbClr val="6B6B6B"/>
                </a:solidFill>
                <a:latin typeface="Calibri" pitchFamily="34" charset="0"/>
                <a:ea typeface="Calibri" pitchFamily="34" charset="-122"/>
                <a:cs typeface="Calibri" pitchFamily="34" charset="-120"/>
              </a:rPr>
              <a:t>But success takes more than network access or a clever app.  It takes alignment across five dimensions.</a:t>
            </a:r>
            <a:endParaRPr lang="en-US" sz="1300" dirty="0"/>
          </a:p>
        </p:txBody>
      </p:sp>
      <p:sp>
        <p:nvSpPr>
          <p:cNvPr id="33" name="Shape 31"/>
          <p:cNvSpPr/>
          <p:nvPr/>
        </p:nvSpPr>
        <p:spPr>
          <a:xfrm>
            <a:off x="502920" y="2606040"/>
            <a:ext cx="2164019" cy="3657600"/>
          </a:xfrm>
          <a:prstGeom prst="rect">
            <a:avLst/>
          </a:prstGeom>
          <a:solidFill>
            <a:srgbClr val="111111"/>
          </a:solidFill>
          <a:ln w="12700">
            <a:solidFill>
              <a:srgbClr val="111111"/>
            </a:solidFill>
            <a:prstDash val="solid"/>
          </a:ln>
        </p:spPr>
      </p:sp>
      <p:sp>
        <p:nvSpPr>
          <p:cNvPr id="34" name="Text 32"/>
          <p:cNvSpPr/>
          <p:nvPr/>
        </p:nvSpPr>
        <p:spPr>
          <a:xfrm>
            <a:off x="502920" y="2880360"/>
            <a:ext cx="2164019" cy="731520"/>
          </a:xfrm>
          <a:prstGeom prst="rect">
            <a:avLst/>
          </a:prstGeom>
          <a:noFill/>
          <a:ln/>
        </p:spPr>
        <p:txBody>
          <a:bodyPr wrap="square" lIns="0" tIns="0" rIns="0" bIns="0" rtlCol="0" anchor="ctr"/>
          <a:lstStyle/>
          <a:p>
            <a:pPr algn="ctr" indent="0" marL="0">
              <a:buNone/>
            </a:pPr>
            <a:r>
              <a:rPr lang="en-US" sz="2600" b="1" dirty="0">
                <a:solidFill>
                  <a:srgbClr val="FFFFFF"/>
                </a:solidFill>
                <a:latin typeface="Georgia" pitchFamily="34" charset="0"/>
                <a:ea typeface="Georgia" pitchFamily="34" charset="-122"/>
                <a:cs typeface="Georgia" pitchFamily="34" charset="-120"/>
              </a:rPr>
              <a:t>CVP</a:t>
            </a:r>
            <a:endParaRPr lang="en-US" sz="2600" dirty="0"/>
          </a:p>
        </p:txBody>
      </p:sp>
      <p:sp>
        <p:nvSpPr>
          <p:cNvPr id="35" name="Shape 33"/>
          <p:cNvSpPr/>
          <p:nvPr/>
        </p:nvSpPr>
        <p:spPr>
          <a:xfrm>
            <a:off x="1310610" y="3749040"/>
            <a:ext cx="548640" cy="0"/>
          </a:xfrm>
          <a:prstGeom prst="line">
            <a:avLst/>
          </a:prstGeom>
          <a:noFill/>
          <a:ln w="15875">
            <a:solidFill>
              <a:srgbClr val="FFFFFF"/>
            </a:solidFill>
            <a:prstDash val="solid"/>
          </a:ln>
        </p:spPr>
      </p:sp>
      <p:sp>
        <p:nvSpPr>
          <p:cNvPr id="36" name="Text 34"/>
          <p:cNvSpPr/>
          <p:nvPr/>
        </p:nvSpPr>
        <p:spPr>
          <a:xfrm>
            <a:off x="640080" y="3931920"/>
            <a:ext cx="1889699" cy="640080"/>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Customer Value Proposition</a:t>
            </a:r>
            <a:endParaRPr lang="en-US" sz="1000" dirty="0"/>
          </a:p>
        </p:txBody>
      </p:sp>
      <p:sp>
        <p:nvSpPr>
          <p:cNvPr id="37" name="Text 35"/>
          <p:cNvSpPr/>
          <p:nvPr/>
        </p:nvSpPr>
        <p:spPr>
          <a:xfrm>
            <a:off x="685800" y="4663440"/>
            <a:ext cx="1798259" cy="1463040"/>
          </a:xfrm>
          <a:prstGeom prst="rect">
            <a:avLst/>
          </a:prstGeom>
          <a:noFill/>
          <a:ln/>
        </p:spPr>
        <p:txBody>
          <a:bodyPr wrap="square" lIns="0" tIns="0" rIns="0" bIns="0" rtlCol="0" anchor="ctr"/>
          <a:lstStyle/>
          <a:p>
            <a:pPr algn="ctr" indent="0" marL="0">
              <a:buNone/>
            </a:pPr>
            <a:r>
              <a:rPr lang="en-US" sz="1050" dirty="0">
                <a:solidFill>
                  <a:srgbClr val="D9D9D9"/>
                </a:solidFill>
                <a:latin typeface="Calibri" pitchFamily="34" charset="0"/>
                <a:ea typeface="Calibri" pitchFamily="34" charset="-122"/>
                <a:cs typeface="Calibri" pitchFamily="34" charset="-120"/>
              </a:rPr>
              <a:t>A value proposition that resonates deeply with your target audience.</a:t>
            </a:r>
            <a:endParaRPr lang="en-US" sz="1050" dirty="0"/>
          </a:p>
        </p:txBody>
      </p:sp>
      <p:sp>
        <p:nvSpPr>
          <p:cNvPr id="38" name="Shape 36"/>
          <p:cNvSpPr/>
          <p:nvPr/>
        </p:nvSpPr>
        <p:spPr>
          <a:xfrm>
            <a:off x="2758379" y="2606040"/>
            <a:ext cx="2164019" cy="3657600"/>
          </a:xfrm>
          <a:prstGeom prst="rect">
            <a:avLst/>
          </a:prstGeom>
          <a:solidFill>
            <a:srgbClr val="111111"/>
          </a:solidFill>
          <a:ln w="12700">
            <a:solidFill>
              <a:srgbClr val="111111"/>
            </a:solidFill>
            <a:prstDash val="solid"/>
          </a:ln>
        </p:spPr>
      </p:sp>
      <p:sp>
        <p:nvSpPr>
          <p:cNvPr id="39" name="Text 37"/>
          <p:cNvSpPr/>
          <p:nvPr/>
        </p:nvSpPr>
        <p:spPr>
          <a:xfrm>
            <a:off x="2758379" y="2880360"/>
            <a:ext cx="2164019" cy="731520"/>
          </a:xfrm>
          <a:prstGeom prst="rect">
            <a:avLst/>
          </a:prstGeom>
          <a:noFill/>
          <a:ln/>
        </p:spPr>
        <p:txBody>
          <a:bodyPr wrap="square" lIns="0" tIns="0" rIns="0" bIns="0" rtlCol="0" anchor="ctr"/>
          <a:lstStyle/>
          <a:p>
            <a:pPr algn="ctr" indent="0" marL="0">
              <a:buNone/>
            </a:pPr>
            <a:r>
              <a:rPr lang="en-US" sz="2600" b="1" dirty="0">
                <a:solidFill>
                  <a:srgbClr val="FFFFFF"/>
                </a:solidFill>
                <a:latin typeface="Georgia" pitchFamily="34" charset="0"/>
                <a:ea typeface="Georgia" pitchFamily="34" charset="-122"/>
                <a:cs typeface="Georgia" pitchFamily="34" charset="-120"/>
              </a:rPr>
              <a:t>Marketing</a:t>
            </a:r>
            <a:endParaRPr lang="en-US" sz="2600" dirty="0"/>
          </a:p>
        </p:txBody>
      </p:sp>
      <p:sp>
        <p:nvSpPr>
          <p:cNvPr id="40" name="Shape 38"/>
          <p:cNvSpPr/>
          <p:nvPr/>
        </p:nvSpPr>
        <p:spPr>
          <a:xfrm>
            <a:off x="3566069" y="3749040"/>
            <a:ext cx="548640" cy="0"/>
          </a:xfrm>
          <a:prstGeom prst="line">
            <a:avLst/>
          </a:prstGeom>
          <a:noFill/>
          <a:ln w="15875">
            <a:solidFill>
              <a:srgbClr val="FFFFFF"/>
            </a:solidFill>
            <a:prstDash val="solid"/>
          </a:ln>
        </p:spPr>
      </p:sp>
      <p:sp>
        <p:nvSpPr>
          <p:cNvPr id="41" name="Text 39"/>
          <p:cNvSpPr/>
          <p:nvPr/>
        </p:nvSpPr>
        <p:spPr>
          <a:xfrm>
            <a:off x="2895539" y="3931920"/>
            <a:ext cx="1889699" cy="640080"/>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AI-powered acquisition &amp; retention</a:t>
            </a:r>
            <a:endParaRPr lang="en-US" sz="1000" dirty="0"/>
          </a:p>
        </p:txBody>
      </p:sp>
      <p:sp>
        <p:nvSpPr>
          <p:cNvPr id="42" name="Text 40"/>
          <p:cNvSpPr/>
          <p:nvPr/>
        </p:nvSpPr>
        <p:spPr>
          <a:xfrm>
            <a:off x="2941259" y="4663440"/>
            <a:ext cx="1798259" cy="1463040"/>
          </a:xfrm>
          <a:prstGeom prst="rect">
            <a:avLst/>
          </a:prstGeom>
          <a:noFill/>
          <a:ln/>
        </p:spPr>
        <p:txBody>
          <a:bodyPr wrap="square" lIns="0" tIns="0" rIns="0" bIns="0" rtlCol="0" anchor="ctr"/>
          <a:lstStyle/>
          <a:p>
            <a:pPr algn="ctr" indent="0" marL="0">
              <a:buNone/>
            </a:pPr>
            <a:r>
              <a:rPr lang="en-US" sz="1050" dirty="0">
                <a:solidFill>
                  <a:srgbClr val="D9D9D9"/>
                </a:solidFill>
                <a:latin typeface="Calibri" pitchFamily="34" charset="0"/>
                <a:ea typeface="Calibri" pitchFamily="34" charset="-122"/>
                <a:cs typeface="Calibri" pitchFamily="34" charset="-120"/>
              </a:rPr>
              <a:t>Scalable, data-driven customer acquisition and retention.</a:t>
            </a:r>
            <a:endParaRPr lang="en-US" sz="1050" dirty="0"/>
          </a:p>
        </p:txBody>
      </p:sp>
      <p:sp>
        <p:nvSpPr>
          <p:cNvPr id="43" name="Shape 41"/>
          <p:cNvSpPr/>
          <p:nvPr/>
        </p:nvSpPr>
        <p:spPr>
          <a:xfrm>
            <a:off x="5013838" y="2606040"/>
            <a:ext cx="2164019" cy="3657600"/>
          </a:xfrm>
          <a:prstGeom prst="rect">
            <a:avLst/>
          </a:prstGeom>
          <a:solidFill>
            <a:srgbClr val="111111"/>
          </a:solidFill>
          <a:ln w="12700">
            <a:solidFill>
              <a:srgbClr val="111111"/>
            </a:solidFill>
            <a:prstDash val="solid"/>
          </a:ln>
        </p:spPr>
      </p:sp>
      <p:sp>
        <p:nvSpPr>
          <p:cNvPr id="44" name="Text 42"/>
          <p:cNvSpPr/>
          <p:nvPr/>
        </p:nvSpPr>
        <p:spPr>
          <a:xfrm>
            <a:off x="5013838" y="2880360"/>
            <a:ext cx="2164019" cy="731520"/>
          </a:xfrm>
          <a:prstGeom prst="rect">
            <a:avLst/>
          </a:prstGeom>
          <a:noFill/>
          <a:ln/>
        </p:spPr>
        <p:txBody>
          <a:bodyPr wrap="square" lIns="0" tIns="0" rIns="0" bIns="0" rtlCol="0" anchor="ctr"/>
          <a:lstStyle/>
          <a:p>
            <a:pPr algn="ctr" indent="0" marL="0">
              <a:buNone/>
            </a:pPr>
            <a:r>
              <a:rPr lang="en-US" sz="2600" b="1" dirty="0">
                <a:solidFill>
                  <a:srgbClr val="FFFFFF"/>
                </a:solidFill>
                <a:latin typeface="Georgia" pitchFamily="34" charset="0"/>
                <a:ea typeface="Georgia" pitchFamily="34" charset="-122"/>
                <a:cs typeface="Georgia" pitchFamily="34" charset="-120"/>
              </a:rPr>
              <a:t>CV</a:t>
            </a:r>
            <a:endParaRPr lang="en-US" sz="2600" dirty="0"/>
          </a:p>
        </p:txBody>
      </p:sp>
      <p:sp>
        <p:nvSpPr>
          <p:cNvPr id="45" name="Shape 43"/>
          <p:cNvSpPr/>
          <p:nvPr/>
        </p:nvSpPr>
        <p:spPr>
          <a:xfrm>
            <a:off x="5821528" y="3749040"/>
            <a:ext cx="548640" cy="0"/>
          </a:xfrm>
          <a:prstGeom prst="line">
            <a:avLst/>
          </a:prstGeom>
          <a:noFill/>
          <a:ln w="15875">
            <a:solidFill>
              <a:srgbClr val="FFFFFF"/>
            </a:solidFill>
            <a:prstDash val="solid"/>
          </a:ln>
        </p:spPr>
      </p:sp>
      <p:sp>
        <p:nvSpPr>
          <p:cNvPr id="46" name="Text 44"/>
          <p:cNvSpPr/>
          <p:nvPr/>
        </p:nvSpPr>
        <p:spPr>
          <a:xfrm>
            <a:off x="5150998" y="3931920"/>
            <a:ext cx="1889699" cy="640080"/>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Customer Value</a:t>
            </a:r>
            <a:endParaRPr lang="en-US" sz="1000" dirty="0"/>
          </a:p>
        </p:txBody>
      </p:sp>
      <p:sp>
        <p:nvSpPr>
          <p:cNvPr id="47" name="Text 45"/>
          <p:cNvSpPr/>
          <p:nvPr/>
        </p:nvSpPr>
        <p:spPr>
          <a:xfrm>
            <a:off x="5196718" y="4663440"/>
            <a:ext cx="1798259" cy="1463040"/>
          </a:xfrm>
          <a:prstGeom prst="rect">
            <a:avLst/>
          </a:prstGeom>
          <a:noFill/>
          <a:ln/>
        </p:spPr>
        <p:txBody>
          <a:bodyPr wrap="square" lIns="0" tIns="0" rIns="0" bIns="0" rtlCol="0" anchor="ctr"/>
          <a:lstStyle/>
          <a:p>
            <a:pPr algn="ctr" indent="0" marL="0">
              <a:buNone/>
            </a:pPr>
            <a:r>
              <a:rPr lang="en-US" sz="1050" dirty="0">
                <a:solidFill>
                  <a:srgbClr val="D9D9D9"/>
                </a:solidFill>
                <a:latin typeface="Calibri" pitchFamily="34" charset="0"/>
                <a:ea typeface="Calibri" pitchFamily="34" charset="-122"/>
                <a:cs typeface="Calibri" pitchFamily="34" charset="-120"/>
              </a:rPr>
              <a:t>Maximise ARPU, engagement and brand lifetime value.</a:t>
            </a:r>
            <a:endParaRPr lang="en-US" sz="1050" dirty="0"/>
          </a:p>
        </p:txBody>
      </p:sp>
      <p:sp>
        <p:nvSpPr>
          <p:cNvPr id="48" name="Shape 46"/>
          <p:cNvSpPr/>
          <p:nvPr/>
        </p:nvSpPr>
        <p:spPr>
          <a:xfrm>
            <a:off x="7269297" y="2606040"/>
            <a:ext cx="2164019" cy="3657600"/>
          </a:xfrm>
          <a:prstGeom prst="rect">
            <a:avLst/>
          </a:prstGeom>
          <a:solidFill>
            <a:srgbClr val="111111"/>
          </a:solidFill>
          <a:ln w="12700">
            <a:solidFill>
              <a:srgbClr val="111111"/>
            </a:solidFill>
            <a:prstDash val="solid"/>
          </a:ln>
        </p:spPr>
      </p:sp>
      <p:sp>
        <p:nvSpPr>
          <p:cNvPr id="49" name="Text 47"/>
          <p:cNvSpPr/>
          <p:nvPr/>
        </p:nvSpPr>
        <p:spPr>
          <a:xfrm>
            <a:off x="7269297" y="2880360"/>
            <a:ext cx="2164019" cy="731520"/>
          </a:xfrm>
          <a:prstGeom prst="rect">
            <a:avLst/>
          </a:prstGeom>
          <a:noFill/>
          <a:ln/>
        </p:spPr>
        <p:txBody>
          <a:bodyPr wrap="square" lIns="0" tIns="0" rIns="0" bIns="0" rtlCol="0" anchor="ctr"/>
          <a:lstStyle/>
          <a:p>
            <a:pPr algn="ctr" indent="0" marL="0">
              <a:buNone/>
            </a:pPr>
            <a:r>
              <a:rPr lang="en-US" sz="2600" b="1" dirty="0">
                <a:solidFill>
                  <a:srgbClr val="FFFFFF"/>
                </a:solidFill>
                <a:latin typeface="Georgia" pitchFamily="34" charset="0"/>
                <a:ea typeface="Georgia" pitchFamily="34" charset="-122"/>
                <a:cs typeface="Georgia" pitchFamily="34" charset="-120"/>
              </a:rPr>
              <a:t>CX</a:t>
            </a:r>
            <a:endParaRPr lang="en-US" sz="2600" dirty="0"/>
          </a:p>
        </p:txBody>
      </p:sp>
      <p:sp>
        <p:nvSpPr>
          <p:cNvPr id="50" name="Shape 48"/>
          <p:cNvSpPr/>
          <p:nvPr/>
        </p:nvSpPr>
        <p:spPr>
          <a:xfrm>
            <a:off x="8076987" y="3749040"/>
            <a:ext cx="548640" cy="0"/>
          </a:xfrm>
          <a:prstGeom prst="line">
            <a:avLst/>
          </a:prstGeom>
          <a:noFill/>
          <a:ln w="15875">
            <a:solidFill>
              <a:srgbClr val="FFFFFF"/>
            </a:solidFill>
            <a:prstDash val="solid"/>
          </a:ln>
        </p:spPr>
      </p:sp>
      <p:sp>
        <p:nvSpPr>
          <p:cNvPr id="51" name="Text 49"/>
          <p:cNvSpPr/>
          <p:nvPr/>
        </p:nvSpPr>
        <p:spPr>
          <a:xfrm>
            <a:off x="7406457" y="3931920"/>
            <a:ext cx="1889699" cy="640080"/>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Customer Experience</a:t>
            </a:r>
            <a:endParaRPr lang="en-US" sz="1000" dirty="0"/>
          </a:p>
        </p:txBody>
      </p:sp>
      <p:sp>
        <p:nvSpPr>
          <p:cNvPr id="52" name="Text 50"/>
          <p:cNvSpPr/>
          <p:nvPr/>
        </p:nvSpPr>
        <p:spPr>
          <a:xfrm>
            <a:off x="7452177" y="4663440"/>
            <a:ext cx="1798259" cy="1463040"/>
          </a:xfrm>
          <a:prstGeom prst="rect">
            <a:avLst/>
          </a:prstGeom>
          <a:noFill/>
          <a:ln/>
        </p:spPr>
        <p:txBody>
          <a:bodyPr wrap="square" lIns="0" tIns="0" rIns="0" bIns="0" rtlCol="0" anchor="ctr"/>
          <a:lstStyle/>
          <a:p>
            <a:pPr algn="ctr" indent="0" marL="0">
              <a:buNone/>
            </a:pPr>
            <a:r>
              <a:rPr lang="en-US" sz="1050" dirty="0">
                <a:solidFill>
                  <a:srgbClr val="D9D9D9"/>
                </a:solidFill>
                <a:latin typeface="Calibri" pitchFamily="34" charset="0"/>
                <a:ea typeface="Calibri" pitchFamily="34" charset="-122"/>
                <a:cs typeface="Calibri" pitchFamily="34" charset="-120"/>
              </a:rPr>
              <a:t>Frictionless, digital-first and emotionally intelligent.</a:t>
            </a:r>
            <a:endParaRPr lang="en-US" sz="1050" dirty="0"/>
          </a:p>
        </p:txBody>
      </p:sp>
      <p:sp>
        <p:nvSpPr>
          <p:cNvPr id="53" name="Shape 51"/>
          <p:cNvSpPr/>
          <p:nvPr/>
        </p:nvSpPr>
        <p:spPr>
          <a:xfrm>
            <a:off x="9524756" y="2606040"/>
            <a:ext cx="2164019" cy="3657600"/>
          </a:xfrm>
          <a:prstGeom prst="rect">
            <a:avLst/>
          </a:prstGeom>
          <a:solidFill>
            <a:srgbClr val="111111"/>
          </a:solidFill>
          <a:ln w="12700">
            <a:solidFill>
              <a:srgbClr val="111111"/>
            </a:solidFill>
            <a:prstDash val="solid"/>
          </a:ln>
        </p:spPr>
      </p:sp>
      <p:sp>
        <p:nvSpPr>
          <p:cNvPr id="54" name="Text 52"/>
          <p:cNvSpPr/>
          <p:nvPr/>
        </p:nvSpPr>
        <p:spPr>
          <a:xfrm>
            <a:off x="9524756" y="2880360"/>
            <a:ext cx="2164019" cy="731520"/>
          </a:xfrm>
          <a:prstGeom prst="rect">
            <a:avLst/>
          </a:prstGeom>
          <a:noFill/>
          <a:ln/>
        </p:spPr>
        <p:txBody>
          <a:bodyPr wrap="square" lIns="0" tIns="0" rIns="0" bIns="0" rtlCol="0" anchor="ctr"/>
          <a:lstStyle/>
          <a:p>
            <a:pPr algn="ctr" indent="0" marL="0">
              <a:buNone/>
            </a:pPr>
            <a:r>
              <a:rPr lang="en-US" sz="2600" b="1" dirty="0">
                <a:solidFill>
                  <a:srgbClr val="FFFFFF"/>
                </a:solidFill>
                <a:latin typeface="Georgia" pitchFamily="34" charset="0"/>
                <a:ea typeface="Georgia" pitchFamily="34" charset="-122"/>
                <a:cs typeface="Georgia" pitchFamily="34" charset="-120"/>
              </a:rPr>
              <a:t>VAS</a:t>
            </a:r>
            <a:endParaRPr lang="en-US" sz="2600" dirty="0"/>
          </a:p>
        </p:txBody>
      </p:sp>
      <p:sp>
        <p:nvSpPr>
          <p:cNvPr id="55" name="Shape 53"/>
          <p:cNvSpPr/>
          <p:nvPr/>
        </p:nvSpPr>
        <p:spPr>
          <a:xfrm>
            <a:off x="10332446" y="3749040"/>
            <a:ext cx="548640" cy="0"/>
          </a:xfrm>
          <a:prstGeom prst="line">
            <a:avLst/>
          </a:prstGeom>
          <a:noFill/>
          <a:ln w="15875">
            <a:solidFill>
              <a:srgbClr val="FFFFFF"/>
            </a:solidFill>
            <a:prstDash val="solid"/>
          </a:ln>
        </p:spPr>
      </p:sp>
      <p:sp>
        <p:nvSpPr>
          <p:cNvPr id="56" name="Text 54"/>
          <p:cNvSpPr/>
          <p:nvPr/>
        </p:nvSpPr>
        <p:spPr>
          <a:xfrm>
            <a:off x="9661916" y="3931920"/>
            <a:ext cx="1889699" cy="640080"/>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Value-Added Services</a:t>
            </a:r>
            <a:endParaRPr lang="en-US" sz="1000" dirty="0"/>
          </a:p>
        </p:txBody>
      </p:sp>
      <p:sp>
        <p:nvSpPr>
          <p:cNvPr id="57" name="Text 55"/>
          <p:cNvSpPr/>
          <p:nvPr/>
        </p:nvSpPr>
        <p:spPr>
          <a:xfrm>
            <a:off x="9707636" y="4663440"/>
            <a:ext cx="1798259" cy="1463040"/>
          </a:xfrm>
          <a:prstGeom prst="rect">
            <a:avLst/>
          </a:prstGeom>
          <a:noFill/>
          <a:ln/>
        </p:spPr>
        <p:txBody>
          <a:bodyPr wrap="square" lIns="0" tIns="0" rIns="0" bIns="0" rtlCol="0" anchor="ctr"/>
          <a:lstStyle/>
          <a:p>
            <a:pPr algn="ctr" indent="0" marL="0">
              <a:buNone/>
            </a:pPr>
            <a:r>
              <a:rPr lang="en-US" sz="1050" dirty="0">
                <a:solidFill>
                  <a:srgbClr val="D9D9D9"/>
                </a:solidFill>
                <a:latin typeface="Calibri" pitchFamily="34" charset="0"/>
                <a:ea typeface="Calibri" pitchFamily="34" charset="-122"/>
                <a:cs typeface="Calibri" pitchFamily="34" charset="-120"/>
              </a:rPr>
              <a:t>Smart service bundling that unlocks loyalty and margin.</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20040" y="182880"/>
            <a:ext cx="1417320" cy="438912"/>
          </a:xfrm>
          <a:prstGeom prst="rect">
            <a:avLst/>
          </a:prstGeom>
          <a:solidFill>
            <a:srgbClr val="111111"/>
          </a:solidFill>
          <a:ln w="12700">
            <a:solidFill>
              <a:srgbClr val="111111"/>
            </a:solidFill>
            <a:prstDash val="solid"/>
          </a:ln>
        </p:spPr>
      </p:sp>
      <p:sp>
        <p:nvSpPr>
          <p:cNvPr id="3" name="Text 1"/>
          <p:cNvSpPr/>
          <p:nvPr/>
        </p:nvSpPr>
        <p:spPr>
          <a:xfrm>
            <a:off x="320040" y="182880"/>
            <a:ext cx="1417320" cy="438912"/>
          </a:xfrm>
          <a:prstGeom prst="rect">
            <a:avLst/>
          </a:prstGeom>
          <a:noFill/>
          <a:ln/>
        </p:spPr>
        <p:txBody>
          <a:bodyPr wrap="square" lIns="0" tIns="0" rIns="0" bIns="0" rtlCol="0" anchor="ctr"/>
          <a:lstStyle/>
          <a:p>
            <a:pPr algn="ctr" indent="0" marL="0">
              <a:buNone/>
            </a:pPr>
            <a:r>
              <a:rPr lang="en-US" sz="1500" b="1" spc="400" kern="0" dirty="0">
                <a:solidFill>
                  <a:srgbClr val="FFFFFF"/>
                </a:solidFill>
                <a:latin typeface="Calibri" pitchFamily="34" charset="0"/>
                <a:ea typeface="Calibri" pitchFamily="34" charset="-122"/>
                <a:cs typeface="Calibri" pitchFamily="34" charset="-120"/>
              </a:rPr>
              <a:t>ARENA
</a:t>
            </a:r>
            <a:pPr algn="ctr" indent="0" marL="0">
              <a:buNone/>
            </a:pPr>
            <a:r>
              <a:rPr lang="en-US" sz="600" spc="400" kern="0" dirty="0">
                <a:solidFill>
                  <a:srgbClr val="FFFFFF"/>
                </a:solidFill>
                <a:latin typeface="Calibri" pitchFamily="34" charset="0"/>
                <a:ea typeface="Calibri" pitchFamily="34" charset="-122"/>
                <a:cs typeface="Calibri" pitchFamily="34" charset="-120"/>
              </a:rPr>
              <a:t>H O L D I N G S</a:t>
            </a:r>
            <a:endParaRPr lang="en-US" sz="1500" dirty="0"/>
          </a:p>
        </p:txBody>
      </p:sp>
      <p:sp>
        <p:nvSpPr>
          <p:cNvPr id="4" name="Shape 2"/>
          <p:cNvSpPr/>
          <p:nvPr/>
        </p:nvSpPr>
        <p:spPr>
          <a:xfrm>
            <a:off x="9677095" y="246888"/>
            <a:ext cx="201168" cy="201168"/>
          </a:xfrm>
          <a:prstGeom prst="ellipse">
            <a:avLst/>
          </a:prstGeom>
          <a:solidFill>
            <a:srgbClr val="111111"/>
          </a:solidFill>
          <a:ln w="12700">
            <a:solidFill>
              <a:srgbClr val="111111"/>
            </a:solidFill>
            <a:prstDash val="solid"/>
          </a:ln>
        </p:spPr>
      </p:sp>
      <p:sp>
        <p:nvSpPr>
          <p:cNvPr id="5" name="Text 3"/>
          <p:cNvSpPr/>
          <p:nvPr/>
        </p:nvSpPr>
        <p:spPr>
          <a:xfrm>
            <a:off x="9923983" y="210312"/>
            <a:ext cx="2011680" cy="274320"/>
          </a:xfrm>
          <a:prstGeom prst="rect">
            <a:avLst/>
          </a:prstGeom>
          <a:noFill/>
          <a:ln/>
        </p:spPr>
        <p:txBody>
          <a:bodyPr wrap="square" lIns="0" tIns="0" rIns="0" bIns="0" rtlCol="0" anchor="ctr"/>
          <a:lstStyle/>
          <a:p>
            <a:pPr algn="l" indent="0" marL="0">
              <a:buNone/>
            </a:pPr>
            <a:r>
              <a:rPr lang="en-US" sz="1000" b="1" i="1" dirty="0">
                <a:solidFill>
                  <a:srgbClr val="111111"/>
                </a:solidFill>
                <a:latin typeface="Calibri" pitchFamily="34" charset="0"/>
                <a:ea typeface="Calibri" pitchFamily="34" charset="-122"/>
                <a:cs typeface="Calibri" pitchFamily="34" charset="-120"/>
              </a:rPr>
              <a:t>#DoingSomethingGreat</a:t>
            </a:r>
            <a:endParaRPr lang="en-US" sz="1000" dirty="0"/>
          </a:p>
        </p:txBody>
      </p:sp>
      <p:sp>
        <p:nvSpPr>
          <p:cNvPr id="6" name="Shape 4"/>
          <p:cNvSpPr/>
          <p:nvPr/>
        </p:nvSpPr>
        <p:spPr>
          <a:xfrm>
            <a:off x="5973775" y="0"/>
            <a:ext cx="6217920" cy="1463040"/>
          </a:xfrm>
          <a:prstGeom prst="rect">
            <a:avLst/>
          </a:prstGeom>
          <a:solidFill>
            <a:srgbClr val="F5F5F5"/>
          </a:solidFill>
          <a:ln w="12700">
            <a:solidFill>
              <a:srgbClr val="F5F5F5"/>
            </a:solidFill>
            <a:prstDash val="solid"/>
          </a:ln>
        </p:spPr>
      </p:sp>
      <p:sp>
        <p:nvSpPr>
          <p:cNvPr id="7" name="Shape 5"/>
          <p:cNvSpPr/>
          <p:nvPr/>
        </p:nvSpPr>
        <p:spPr>
          <a:xfrm>
            <a:off x="6248095" y="0"/>
            <a:ext cx="-1280160" cy="1280160"/>
          </a:xfrm>
          <a:prstGeom prst="line">
            <a:avLst/>
          </a:prstGeom>
          <a:noFill/>
          <a:ln w="9525">
            <a:solidFill>
              <a:srgbClr val="EDEDED"/>
            </a:solidFill>
            <a:prstDash val="solid"/>
          </a:ln>
        </p:spPr>
      </p:sp>
      <p:sp>
        <p:nvSpPr>
          <p:cNvPr id="8" name="Shape 6"/>
          <p:cNvSpPr/>
          <p:nvPr/>
        </p:nvSpPr>
        <p:spPr>
          <a:xfrm>
            <a:off x="6659575" y="0"/>
            <a:ext cx="-1280160" cy="1280160"/>
          </a:xfrm>
          <a:prstGeom prst="line">
            <a:avLst/>
          </a:prstGeom>
          <a:noFill/>
          <a:ln w="9525">
            <a:solidFill>
              <a:srgbClr val="EDEDED"/>
            </a:solidFill>
            <a:prstDash val="solid"/>
          </a:ln>
        </p:spPr>
      </p:sp>
      <p:sp>
        <p:nvSpPr>
          <p:cNvPr id="9" name="Shape 7"/>
          <p:cNvSpPr/>
          <p:nvPr/>
        </p:nvSpPr>
        <p:spPr>
          <a:xfrm>
            <a:off x="7071055" y="0"/>
            <a:ext cx="-1280160" cy="1280160"/>
          </a:xfrm>
          <a:prstGeom prst="line">
            <a:avLst/>
          </a:prstGeom>
          <a:noFill/>
          <a:ln w="9525">
            <a:solidFill>
              <a:srgbClr val="EDEDED"/>
            </a:solidFill>
            <a:prstDash val="solid"/>
          </a:ln>
        </p:spPr>
      </p:sp>
      <p:sp>
        <p:nvSpPr>
          <p:cNvPr id="10" name="Shape 8"/>
          <p:cNvSpPr/>
          <p:nvPr/>
        </p:nvSpPr>
        <p:spPr>
          <a:xfrm>
            <a:off x="7482535" y="0"/>
            <a:ext cx="-1280160" cy="1280160"/>
          </a:xfrm>
          <a:prstGeom prst="line">
            <a:avLst/>
          </a:prstGeom>
          <a:noFill/>
          <a:ln w="9525">
            <a:solidFill>
              <a:srgbClr val="EDEDED"/>
            </a:solidFill>
            <a:prstDash val="solid"/>
          </a:ln>
        </p:spPr>
      </p:sp>
      <p:sp>
        <p:nvSpPr>
          <p:cNvPr id="11" name="Shape 9"/>
          <p:cNvSpPr/>
          <p:nvPr/>
        </p:nvSpPr>
        <p:spPr>
          <a:xfrm>
            <a:off x="7894015" y="0"/>
            <a:ext cx="-1280160" cy="1280160"/>
          </a:xfrm>
          <a:prstGeom prst="line">
            <a:avLst/>
          </a:prstGeom>
          <a:noFill/>
          <a:ln w="9525">
            <a:solidFill>
              <a:srgbClr val="EDEDED"/>
            </a:solidFill>
            <a:prstDash val="solid"/>
          </a:ln>
        </p:spPr>
      </p:sp>
      <p:sp>
        <p:nvSpPr>
          <p:cNvPr id="12" name="Shape 10"/>
          <p:cNvSpPr/>
          <p:nvPr/>
        </p:nvSpPr>
        <p:spPr>
          <a:xfrm>
            <a:off x="8305495" y="0"/>
            <a:ext cx="-1280160" cy="1280160"/>
          </a:xfrm>
          <a:prstGeom prst="line">
            <a:avLst/>
          </a:prstGeom>
          <a:noFill/>
          <a:ln w="9525">
            <a:solidFill>
              <a:srgbClr val="EDEDED"/>
            </a:solidFill>
            <a:prstDash val="solid"/>
          </a:ln>
        </p:spPr>
      </p:sp>
      <p:sp>
        <p:nvSpPr>
          <p:cNvPr id="13" name="Shape 11"/>
          <p:cNvSpPr/>
          <p:nvPr/>
        </p:nvSpPr>
        <p:spPr>
          <a:xfrm>
            <a:off x="8716975" y="0"/>
            <a:ext cx="-1280160" cy="1280160"/>
          </a:xfrm>
          <a:prstGeom prst="line">
            <a:avLst/>
          </a:prstGeom>
          <a:noFill/>
          <a:ln w="9525">
            <a:solidFill>
              <a:srgbClr val="EDEDED"/>
            </a:solidFill>
            <a:prstDash val="solid"/>
          </a:ln>
        </p:spPr>
      </p:sp>
      <p:sp>
        <p:nvSpPr>
          <p:cNvPr id="14" name="Shape 12"/>
          <p:cNvSpPr/>
          <p:nvPr/>
        </p:nvSpPr>
        <p:spPr>
          <a:xfrm>
            <a:off x="9128455" y="0"/>
            <a:ext cx="-1280160" cy="1280160"/>
          </a:xfrm>
          <a:prstGeom prst="line">
            <a:avLst/>
          </a:prstGeom>
          <a:noFill/>
          <a:ln w="9525">
            <a:solidFill>
              <a:srgbClr val="EDEDED"/>
            </a:solidFill>
            <a:prstDash val="solid"/>
          </a:ln>
        </p:spPr>
      </p:sp>
      <p:sp>
        <p:nvSpPr>
          <p:cNvPr id="15" name="Shape 13"/>
          <p:cNvSpPr/>
          <p:nvPr/>
        </p:nvSpPr>
        <p:spPr>
          <a:xfrm>
            <a:off x="9539935" y="0"/>
            <a:ext cx="-1280160" cy="1280160"/>
          </a:xfrm>
          <a:prstGeom prst="line">
            <a:avLst/>
          </a:prstGeom>
          <a:noFill/>
          <a:ln w="9525">
            <a:solidFill>
              <a:srgbClr val="EDEDED"/>
            </a:solidFill>
            <a:prstDash val="solid"/>
          </a:ln>
        </p:spPr>
      </p:sp>
      <p:sp>
        <p:nvSpPr>
          <p:cNvPr id="16" name="Shape 14"/>
          <p:cNvSpPr/>
          <p:nvPr/>
        </p:nvSpPr>
        <p:spPr>
          <a:xfrm>
            <a:off x="9951415" y="0"/>
            <a:ext cx="-1280160" cy="1280160"/>
          </a:xfrm>
          <a:prstGeom prst="line">
            <a:avLst/>
          </a:prstGeom>
          <a:noFill/>
          <a:ln w="9525">
            <a:solidFill>
              <a:srgbClr val="EDEDED"/>
            </a:solidFill>
            <a:prstDash val="solid"/>
          </a:ln>
        </p:spPr>
      </p:sp>
      <p:sp>
        <p:nvSpPr>
          <p:cNvPr id="17" name="Shape 15"/>
          <p:cNvSpPr/>
          <p:nvPr/>
        </p:nvSpPr>
        <p:spPr>
          <a:xfrm>
            <a:off x="10362895" y="0"/>
            <a:ext cx="-1280160" cy="1280160"/>
          </a:xfrm>
          <a:prstGeom prst="line">
            <a:avLst/>
          </a:prstGeom>
          <a:noFill/>
          <a:ln w="9525">
            <a:solidFill>
              <a:srgbClr val="EDEDED"/>
            </a:solidFill>
            <a:prstDash val="solid"/>
          </a:ln>
        </p:spPr>
      </p:sp>
      <p:sp>
        <p:nvSpPr>
          <p:cNvPr id="18" name="Shape 16"/>
          <p:cNvSpPr/>
          <p:nvPr/>
        </p:nvSpPr>
        <p:spPr>
          <a:xfrm>
            <a:off x="10774375" y="0"/>
            <a:ext cx="-1280160" cy="1280160"/>
          </a:xfrm>
          <a:prstGeom prst="line">
            <a:avLst/>
          </a:prstGeom>
          <a:noFill/>
          <a:ln w="9525">
            <a:solidFill>
              <a:srgbClr val="EDEDED"/>
            </a:solidFill>
            <a:prstDash val="solid"/>
          </a:ln>
        </p:spPr>
      </p:sp>
      <p:sp>
        <p:nvSpPr>
          <p:cNvPr id="19" name="Shape 17"/>
          <p:cNvSpPr/>
          <p:nvPr/>
        </p:nvSpPr>
        <p:spPr>
          <a:xfrm>
            <a:off x="11185855" y="0"/>
            <a:ext cx="-1280160" cy="1280160"/>
          </a:xfrm>
          <a:prstGeom prst="line">
            <a:avLst/>
          </a:prstGeom>
          <a:noFill/>
          <a:ln w="9525">
            <a:solidFill>
              <a:srgbClr val="EDEDED"/>
            </a:solidFill>
            <a:prstDash val="solid"/>
          </a:ln>
        </p:spPr>
      </p:sp>
      <p:sp>
        <p:nvSpPr>
          <p:cNvPr id="20" name="Shape 18"/>
          <p:cNvSpPr/>
          <p:nvPr/>
        </p:nvSpPr>
        <p:spPr>
          <a:xfrm>
            <a:off x="11597335" y="0"/>
            <a:ext cx="-1280160" cy="1280160"/>
          </a:xfrm>
          <a:prstGeom prst="line">
            <a:avLst/>
          </a:prstGeom>
          <a:noFill/>
          <a:ln w="9525">
            <a:solidFill>
              <a:srgbClr val="EDEDED"/>
            </a:solidFill>
            <a:prstDash val="solid"/>
          </a:ln>
        </p:spPr>
      </p:sp>
      <p:sp>
        <p:nvSpPr>
          <p:cNvPr id="21" name="Shape 19"/>
          <p:cNvSpPr/>
          <p:nvPr/>
        </p:nvSpPr>
        <p:spPr>
          <a:xfrm>
            <a:off x="320040" y="1481328"/>
            <a:ext cx="11551615" cy="0"/>
          </a:xfrm>
          <a:prstGeom prst="line">
            <a:avLst/>
          </a:prstGeom>
          <a:noFill/>
          <a:ln w="15875">
            <a:solidFill>
              <a:srgbClr val="111111"/>
            </a:solidFill>
            <a:prstDash val="solid"/>
          </a:ln>
        </p:spPr>
      </p:sp>
      <p:sp>
        <p:nvSpPr>
          <p:cNvPr id="22" name="Text 20"/>
          <p:cNvSpPr/>
          <p:nvPr/>
        </p:nvSpPr>
        <p:spPr>
          <a:xfrm>
            <a:off x="5486400" y="292608"/>
            <a:ext cx="6309360" cy="685800"/>
          </a:xfrm>
          <a:prstGeom prst="rect">
            <a:avLst/>
          </a:prstGeom>
          <a:noFill/>
          <a:ln/>
        </p:spPr>
        <p:txBody>
          <a:bodyPr wrap="square" lIns="0" tIns="0" rIns="0" bIns="0" rtlCol="0" anchor="ctr"/>
          <a:lstStyle/>
          <a:p>
            <a:pPr algn="r" indent="0" marL="0">
              <a:buNone/>
            </a:pPr>
            <a:r>
              <a:rPr lang="en-US" sz="2600" b="1" dirty="0">
                <a:solidFill>
                  <a:srgbClr val="111111"/>
                </a:solidFill>
                <a:latin typeface="Calibri" pitchFamily="34" charset="0"/>
                <a:ea typeface="Calibri" pitchFamily="34" charset="-122"/>
                <a:cs typeface="Calibri" pitchFamily="34" charset="-120"/>
              </a:rPr>
              <a:t>MVNOs Compete on Experience</a:t>
            </a:r>
            <a:endParaRPr lang="en-US" sz="2600" dirty="0"/>
          </a:p>
        </p:txBody>
      </p:sp>
      <p:sp>
        <p:nvSpPr>
          <p:cNvPr id="23" name="Text 21"/>
          <p:cNvSpPr/>
          <p:nvPr/>
        </p:nvSpPr>
        <p:spPr>
          <a:xfrm>
            <a:off x="5486400" y="960120"/>
            <a:ext cx="6309360" cy="365760"/>
          </a:xfrm>
          <a:prstGeom prst="rect">
            <a:avLst/>
          </a:prstGeom>
          <a:noFill/>
          <a:ln/>
        </p:spPr>
        <p:txBody>
          <a:bodyPr wrap="square" lIns="0" tIns="0" rIns="0" bIns="0" rtlCol="0" anchor="ctr"/>
          <a:lstStyle/>
          <a:p>
            <a:pPr algn="r" indent="0" marL="0">
              <a:buNone/>
            </a:pPr>
            <a:r>
              <a:rPr lang="en-US" sz="1200" i="1" dirty="0">
                <a:solidFill>
                  <a:srgbClr val="6B6B6B"/>
                </a:solidFill>
                <a:latin typeface="Calibri" pitchFamily="34" charset="0"/>
                <a:ea typeface="Calibri" pitchFamily="34" charset="-122"/>
                <a:cs typeface="Calibri" pitchFamily="34" charset="-120"/>
              </a:rPr>
              <a:t>Unlike MNOs, MVNOs don't own the network</a:t>
            </a:r>
            <a:endParaRPr lang="en-US" sz="1200" dirty="0"/>
          </a:p>
        </p:txBody>
      </p:sp>
      <p:sp>
        <p:nvSpPr>
          <p:cNvPr id="24" name="Shape 22"/>
          <p:cNvSpPr/>
          <p:nvPr/>
        </p:nvSpPr>
        <p:spPr>
          <a:xfrm>
            <a:off x="320040" y="6355080"/>
            <a:ext cx="11551615" cy="0"/>
          </a:xfrm>
          <a:prstGeom prst="line">
            <a:avLst/>
          </a:prstGeom>
          <a:noFill/>
          <a:ln w="6350">
            <a:solidFill>
              <a:srgbClr val="BFBFBF"/>
            </a:solidFill>
            <a:prstDash val="solid"/>
          </a:ln>
        </p:spPr>
      </p:sp>
      <p:sp>
        <p:nvSpPr>
          <p:cNvPr id="25" name="Shape 23"/>
          <p:cNvSpPr/>
          <p:nvPr/>
        </p:nvSpPr>
        <p:spPr>
          <a:xfrm>
            <a:off x="320040" y="6473952"/>
            <a:ext cx="502920" cy="237744"/>
          </a:xfrm>
          <a:prstGeom prst="rect">
            <a:avLst/>
          </a:prstGeom>
          <a:solidFill>
            <a:srgbClr val="111111"/>
          </a:solidFill>
          <a:ln w="12700">
            <a:solidFill>
              <a:srgbClr val="111111"/>
            </a:solidFill>
            <a:prstDash val="solid"/>
          </a:ln>
        </p:spPr>
      </p:sp>
      <p:sp>
        <p:nvSpPr>
          <p:cNvPr id="26" name="Text 24"/>
          <p:cNvSpPr/>
          <p:nvPr/>
        </p:nvSpPr>
        <p:spPr>
          <a:xfrm>
            <a:off x="320040" y="6473952"/>
            <a:ext cx="502920" cy="237744"/>
          </a:xfrm>
          <a:prstGeom prst="rect">
            <a:avLst/>
          </a:prstGeom>
          <a:noFill/>
          <a:ln/>
        </p:spPr>
        <p:txBody>
          <a:bodyPr wrap="square" lIns="0" tIns="0" rIns="0" bIns="0" rtlCol="0" anchor="ctr"/>
          <a:lstStyle/>
          <a:p>
            <a:pPr algn="ctr" indent="0" marL="0">
              <a:buNone/>
            </a:pPr>
            <a:r>
              <a:rPr lang="en-US" sz="900" b="1" spc="200" kern="0" dirty="0">
                <a:solidFill>
                  <a:srgbClr val="FFFFFF"/>
                </a:solidFill>
                <a:latin typeface="Calibri" pitchFamily="34" charset="0"/>
                <a:ea typeface="Calibri" pitchFamily="34" charset="-122"/>
                <a:cs typeface="Calibri" pitchFamily="34" charset="-120"/>
              </a:rPr>
              <a:t>DSG</a:t>
            </a:r>
            <a:endParaRPr lang="en-US" sz="900" dirty="0"/>
          </a:p>
        </p:txBody>
      </p:sp>
      <p:sp>
        <p:nvSpPr>
          <p:cNvPr id="27" name="Text 25"/>
          <p:cNvSpPr/>
          <p:nvPr/>
        </p:nvSpPr>
        <p:spPr>
          <a:xfrm>
            <a:off x="868680" y="6473952"/>
            <a:ext cx="2194560" cy="237744"/>
          </a:xfrm>
          <a:prstGeom prst="rect">
            <a:avLst/>
          </a:prstGeom>
          <a:noFill/>
          <a:ln/>
        </p:spPr>
        <p:txBody>
          <a:bodyPr wrap="square" lIns="0" tIns="0" rIns="0" bIns="0" rtlCol="0" anchor="ctr"/>
          <a:lstStyle/>
          <a:p>
            <a:pPr indent="0" marL="0">
              <a:buNone/>
            </a:pPr>
            <a:r>
              <a:rPr lang="en-US" sz="650" spc="200" kern="0" dirty="0">
                <a:solidFill>
                  <a:srgbClr val="6B6B6B"/>
                </a:solidFill>
                <a:latin typeface="Calibri" pitchFamily="34" charset="0"/>
                <a:ea typeface="Calibri" pitchFamily="34" charset="-122"/>
                <a:cs typeface="Calibri" pitchFamily="34" charset="-120"/>
              </a:rPr>
              <a:t>DIGITAL SOLUTIONS GROUP</a:t>
            </a:r>
            <a:endParaRPr lang="en-US" sz="650" dirty="0"/>
          </a:p>
        </p:txBody>
      </p:sp>
      <p:sp>
        <p:nvSpPr>
          <p:cNvPr id="28" name="Text 26"/>
          <p:cNvSpPr/>
          <p:nvPr/>
        </p:nvSpPr>
        <p:spPr>
          <a:xfrm>
            <a:off x="4754880" y="6473952"/>
            <a:ext cx="2743200" cy="237744"/>
          </a:xfrm>
          <a:prstGeom prst="rect">
            <a:avLst/>
          </a:prstGeom>
          <a:noFill/>
          <a:ln/>
        </p:spPr>
        <p:txBody>
          <a:bodyPr wrap="square" lIns="0" tIns="0" rIns="0" bIns="0" rtlCol="0" anchor="ctr"/>
          <a:lstStyle/>
          <a:p>
            <a:pPr algn="ctr" indent="0" marL="0">
              <a:buNone/>
            </a:pPr>
            <a:r>
              <a:rPr lang="en-US" sz="1100" b="1" dirty="0">
                <a:solidFill>
                  <a:srgbClr val="111111"/>
                </a:solidFill>
                <a:latin typeface="Calibri" pitchFamily="34" charset="0"/>
                <a:ea typeface="Calibri" pitchFamily="34" charset="-122"/>
                <a:cs typeface="Calibri" pitchFamily="34" charset="-120"/>
              </a:rPr>
              <a:t>digital</a:t>
            </a:r>
            <a:pPr algn="ctr" indent="0" marL="0">
              <a:buNone/>
            </a:pPr>
            <a:r>
              <a:rPr lang="en-US" sz="1100" b="1" dirty="0">
                <a:solidFill>
                  <a:srgbClr val="6B6B6B"/>
                </a:solidFill>
                <a:latin typeface="Calibri" pitchFamily="34" charset="0"/>
                <a:ea typeface="Calibri" pitchFamily="34" charset="-122"/>
                <a:cs typeface="Calibri" pitchFamily="34" charset="-120"/>
              </a:rPr>
              <a:t>mobile</a:t>
            </a:r>
            <a:endParaRPr lang="en-US" sz="1100" dirty="0"/>
          </a:p>
        </p:txBody>
      </p:sp>
      <p:sp>
        <p:nvSpPr>
          <p:cNvPr id="29" name="Shape 27"/>
          <p:cNvSpPr/>
          <p:nvPr/>
        </p:nvSpPr>
        <p:spPr>
          <a:xfrm>
            <a:off x="8595360" y="6519672"/>
            <a:ext cx="146304" cy="146304"/>
          </a:xfrm>
          <a:prstGeom prst="ellipse">
            <a:avLst/>
          </a:prstGeom>
          <a:solidFill>
            <a:srgbClr val="111111"/>
          </a:solidFill>
          <a:ln w="12700">
            <a:solidFill>
              <a:srgbClr val="111111"/>
            </a:solidFill>
            <a:prstDash val="solid"/>
          </a:ln>
        </p:spPr>
      </p:sp>
      <p:sp>
        <p:nvSpPr>
          <p:cNvPr id="30" name="Text 28"/>
          <p:cNvSpPr/>
          <p:nvPr/>
        </p:nvSpPr>
        <p:spPr>
          <a:xfrm>
            <a:off x="8778240" y="6473952"/>
            <a:ext cx="2194560" cy="237744"/>
          </a:xfrm>
          <a:prstGeom prst="rect">
            <a:avLst/>
          </a:prstGeom>
          <a:noFill/>
          <a:ln/>
        </p:spPr>
        <p:txBody>
          <a:bodyPr wrap="square" lIns="0" tIns="0" rIns="0" bIns="0" rtlCol="0" anchor="ctr"/>
          <a:lstStyle/>
          <a:p>
            <a:pPr indent="0" marL="0">
              <a:buNone/>
            </a:pPr>
            <a:r>
              <a:rPr lang="en-US" sz="900" i="1" dirty="0">
                <a:solidFill>
                  <a:srgbClr val="111111"/>
                </a:solidFill>
                <a:latin typeface="Calibri" pitchFamily="34" charset="0"/>
                <a:ea typeface="Calibri" pitchFamily="34" charset="-122"/>
                <a:cs typeface="Calibri" pitchFamily="34" charset="-120"/>
              </a:rPr>
              <a:t>#DoingSomethingGreat</a:t>
            </a:r>
            <a:endParaRPr lang="en-US" sz="900" dirty="0"/>
          </a:p>
        </p:txBody>
      </p:sp>
      <p:sp>
        <p:nvSpPr>
          <p:cNvPr id="31" name="Text 29"/>
          <p:cNvSpPr/>
          <p:nvPr/>
        </p:nvSpPr>
        <p:spPr>
          <a:xfrm>
            <a:off x="11002975" y="6473952"/>
            <a:ext cx="914400" cy="237744"/>
          </a:xfrm>
          <a:prstGeom prst="rect">
            <a:avLst/>
          </a:prstGeom>
          <a:noFill/>
          <a:ln/>
        </p:spPr>
        <p:txBody>
          <a:bodyPr wrap="square" lIns="0" tIns="0" rIns="0" bIns="0" rtlCol="0" anchor="ctr"/>
          <a:lstStyle/>
          <a:p>
            <a:pPr algn="r" indent="0" marL="0">
              <a:buNone/>
            </a:pPr>
            <a:r>
              <a:rPr lang="en-US" sz="800" dirty="0">
                <a:solidFill>
                  <a:srgbClr val="6B6B6B"/>
                </a:solidFill>
                <a:latin typeface="Calibri" pitchFamily="34" charset="0"/>
                <a:ea typeface="Calibri" pitchFamily="34" charset="-122"/>
                <a:cs typeface="Calibri" pitchFamily="34" charset="-120"/>
              </a:rPr>
              <a:t>10 / 20</a:t>
            </a:r>
            <a:endParaRPr lang="en-US" sz="800" dirty="0"/>
          </a:p>
        </p:txBody>
      </p:sp>
      <p:sp>
        <p:nvSpPr>
          <p:cNvPr id="32" name="Shape 30"/>
          <p:cNvSpPr/>
          <p:nvPr/>
        </p:nvSpPr>
        <p:spPr>
          <a:xfrm>
            <a:off x="502920" y="1828800"/>
            <a:ext cx="5486400" cy="4389120"/>
          </a:xfrm>
          <a:prstGeom prst="rect">
            <a:avLst/>
          </a:prstGeom>
          <a:solidFill>
            <a:srgbClr val="F5F5F5"/>
          </a:solidFill>
          <a:ln w="12700">
            <a:solidFill>
              <a:srgbClr val="F5F5F5"/>
            </a:solidFill>
            <a:prstDash val="solid"/>
          </a:ln>
        </p:spPr>
      </p:sp>
      <p:sp>
        <p:nvSpPr>
          <p:cNvPr id="33" name="Shape 31"/>
          <p:cNvSpPr/>
          <p:nvPr/>
        </p:nvSpPr>
        <p:spPr>
          <a:xfrm>
            <a:off x="502920" y="1828800"/>
            <a:ext cx="109728" cy="4389120"/>
          </a:xfrm>
          <a:prstGeom prst="rect">
            <a:avLst/>
          </a:prstGeom>
          <a:solidFill>
            <a:srgbClr val="111111"/>
          </a:solidFill>
          <a:ln w="12700">
            <a:solidFill>
              <a:srgbClr val="111111"/>
            </a:solidFill>
            <a:prstDash val="solid"/>
          </a:ln>
        </p:spPr>
      </p:sp>
      <p:sp>
        <p:nvSpPr>
          <p:cNvPr id="34" name="Text 32"/>
          <p:cNvSpPr/>
          <p:nvPr/>
        </p:nvSpPr>
        <p:spPr>
          <a:xfrm>
            <a:off x="822960" y="1920240"/>
            <a:ext cx="914400" cy="1097280"/>
          </a:xfrm>
          <a:prstGeom prst="rect">
            <a:avLst/>
          </a:prstGeom>
          <a:noFill/>
          <a:ln/>
        </p:spPr>
        <p:txBody>
          <a:bodyPr wrap="square" lIns="0" tIns="0" rIns="0" bIns="0" rtlCol="0" anchor="ctr"/>
          <a:lstStyle/>
          <a:p>
            <a:pPr indent="0" marL="0">
              <a:buNone/>
            </a:pPr>
            <a:r>
              <a:rPr lang="en-US" sz="10000" b="1" dirty="0">
                <a:solidFill>
                  <a:srgbClr val="111111"/>
                </a:solidFill>
                <a:latin typeface="Georgia" pitchFamily="34" charset="0"/>
                <a:ea typeface="Georgia" pitchFamily="34" charset="-122"/>
                <a:cs typeface="Georgia" pitchFamily="34" charset="-120"/>
              </a:rPr>
              <a:t>“</a:t>
            </a:r>
            <a:endParaRPr lang="en-US" sz="10000" dirty="0"/>
          </a:p>
        </p:txBody>
      </p:sp>
      <p:sp>
        <p:nvSpPr>
          <p:cNvPr id="35" name="Text 33"/>
          <p:cNvSpPr/>
          <p:nvPr/>
        </p:nvSpPr>
        <p:spPr>
          <a:xfrm>
            <a:off x="822960" y="3017520"/>
            <a:ext cx="4846320" cy="1828800"/>
          </a:xfrm>
          <a:prstGeom prst="rect">
            <a:avLst/>
          </a:prstGeom>
          <a:noFill/>
          <a:ln/>
        </p:spPr>
        <p:txBody>
          <a:bodyPr wrap="square" lIns="0" tIns="0" rIns="0" bIns="0" rtlCol="0" anchor="ctr"/>
          <a:lstStyle/>
          <a:p>
            <a:pPr indent="0" marL="0">
              <a:buNone/>
            </a:pPr>
            <a:r>
              <a:rPr lang="en-US" sz="2800" i="1" dirty="0">
                <a:solidFill>
                  <a:srgbClr val="111111"/>
                </a:solidFill>
                <a:latin typeface="Georgia" pitchFamily="34" charset="0"/>
                <a:ea typeface="Georgia" pitchFamily="34" charset="-122"/>
                <a:cs typeface="Georgia" pitchFamily="34" charset="-120"/>
              </a:rPr>
              <a:t>Churn over 40% is common without great CX.</a:t>
            </a:r>
            <a:endParaRPr lang="en-US" sz="2800" dirty="0"/>
          </a:p>
        </p:txBody>
      </p:sp>
      <p:sp>
        <p:nvSpPr>
          <p:cNvPr id="36" name="Text 34"/>
          <p:cNvSpPr/>
          <p:nvPr/>
        </p:nvSpPr>
        <p:spPr>
          <a:xfrm>
            <a:off x="822960" y="5120640"/>
            <a:ext cx="4846320" cy="365760"/>
          </a:xfrm>
          <a:prstGeom prst="rect">
            <a:avLst/>
          </a:prstGeom>
          <a:noFill/>
          <a:ln/>
        </p:spPr>
        <p:txBody>
          <a:bodyPr wrap="square" lIns="0" tIns="0" rIns="0" bIns="0" rtlCol="0" anchor="ctr"/>
          <a:lstStyle/>
          <a:p>
            <a:pPr indent="0" marL="0">
              <a:buNone/>
            </a:pPr>
            <a:r>
              <a:rPr lang="en-US" sz="1200" dirty="0">
                <a:solidFill>
                  <a:srgbClr val="6B6B6B"/>
                </a:solidFill>
                <a:latin typeface="Calibri" pitchFamily="34" charset="0"/>
                <a:ea typeface="Calibri" pitchFamily="34" charset="-122"/>
                <a:cs typeface="Calibri" pitchFamily="34" charset="-120"/>
              </a:rPr>
              <a:t>— MVNO Nation CX Study</a:t>
            </a:r>
            <a:endParaRPr lang="en-US" sz="1200" dirty="0"/>
          </a:p>
        </p:txBody>
      </p:sp>
      <p:sp>
        <p:nvSpPr>
          <p:cNvPr id="37" name="Text 35"/>
          <p:cNvSpPr/>
          <p:nvPr/>
        </p:nvSpPr>
        <p:spPr>
          <a:xfrm>
            <a:off x="6400800" y="1828800"/>
            <a:ext cx="5486400" cy="365760"/>
          </a:xfrm>
          <a:prstGeom prst="rect">
            <a:avLst/>
          </a:prstGeom>
          <a:noFill/>
          <a:ln/>
        </p:spPr>
        <p:txBody>
          <a:bodyPr wrap="square" lIns="0" tIns="0" rIns="0" bIns="0" rtlCol="0" anchor="ctr"/>
          <a:lstStyle/>
          <a:p>
            <a:pPr indent="0" marL="0">
              <a:buNone/>
            </a:pPr>
            <a:r>
              <a:rPr lang="en-US" sz="1300" b="1" dirty="0">
                <a:solidFill>
                  <a:srgbClr val="111111"/>
                </a:solidFill>
                <a:latin typeface="Calibri" pitchFamily="34" charset="0"/>
                <a:ea typeface="Calibri" pitchFamily="34" charset="-122"/>
                <a:cs typeface="Calibri" pitchFamily="34" charset="-120"/>
              </a:rPr>
              <a:t>You compete on:</a:t>
            </a:r>
            <a:endParaRPr lang="en-US" sz="1300" dirty="0"/>
          </a:p>
        </p:txBody>
      </p:sp>
      <p:sp>
        <p:nvSpPr>
          <p:cNvPr id="38" name="Shape 36"/>
          <p:cNvSpPr/>
          <p:nvPr/>
        </p:nvSpPr>
        <p:spPr>
          <a:xfrm>
            <a:off x="6400800" y="2331720"/>
            <a:ext cx="1463040" cy="777240"/>
          </a:xfrm>
          <a:prstGeom prst="rect">
            <a:avLst/>
          </a:prstGeom>
          <a:solidFill>
            <a:srgbClr val="111111"/>
          </a:solidFill>
          <a:ln w="12700">
            <a:solidFill>
              <a:srgbClr val="111111"/>
            </a:solidFill>
            <a:prstDash val="solid"/>
          </a:ln>
        </p:spPr>
      </p:sp>
      <p:sp>
        <p:nvSpPr>
          <p:cNvPr id="39" name="Text 37"/>
          <p:cNvSpPr/>
          <p:nvPr/>
        </p:nvSpPr>
        <p:spPr>
          <a:xfrm>
            <a:off x="6400800" y="2331720"/>
            <a:ext cx="1463040" cy="777240"/>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Calibri" pitchFamily="34" charset="0"/>
                <a:ea typeface="Calibri" pitchFamily="34" charset="-122"/>
                <a:cs typeface="Calibri" pitchFamily="34" charset="-120"/>
              </a:rPr>
              <a:t>Clarity</a:t>
            </a:r>
            <a:endParaRPr lang="en-US" sz="1100" dirty="0"/>
          </a:p>
        </p:txBody>
      </p:sp>
      <p:sp>
        <p:nvSpPr>
          <p:cNvPr id="40" name="Text 38"/>
          <p:cNvSpPr/>
          <p:nvPr/>
        </p:nvSpPr>
        <p:spPr>
          <a:xfrm>
            <a:off x="8046720" y="2331720"/>
            <a:ext cx="3931920" cy="777240"/>
          </a:xfrm>
          <a:prstGeom prst="rect">
            <a:avLst/>
          </a:prstGeom>
          <a:noFill/>
          <a:ln/>
        </p:spPr>
        <p:txBody>
          <a:bodyPr wrap="square" lIns="0" tIns="0" rIns="0" bIns="0" rtlCol="0" anchor="ctr"/>
          <a:lstStyle/>
          <a:p>
            <a:pPr indent="0" marL="0">
              <a:buNone/>
            </a:pPr>
            <a:r>
              <a:rPr lang="en-US" sz="1300" dirty="0">
                <a:solidFill>
                  <a:srgbClr val="444444"/>
                </a:solidFill>
                <a:latin typeface="Calibri" pitchFamily="34" charset="0"/>
                <a:ea typeface="Calibri" pitchFamily="34" charset="-122"/>
                <a:cs typeface="Calibri" pitchFamily="34" charset="-120"/>
              </a:rPr>
              <a:t>Clarity of brand promise</a:t>
            </a:r>
            <a:endParaRPr lang="en-US" sz="1300" dirty="0"/>
          </a:p>
        </p:txBody>
      </p:sp>
      <p:sp>
        <p:nvSpPr>
          <p:cNvPr id="41" name="Shape 39"/>
          <p:cNvSpPr/>
          <p:nvPr/>
        </p:nvSpPr>
        <p:spPr>
          <a:xfrm>
            <a:off x="6400800" y="3291840"/>
            <a:ext cx="1463040" cy="777240"/>
          </a:xfrm>
          <a:prstGeom prst="rect">
            <a:avLst/>
          </a:prstGeom>
          <a:solidFill>
            <a:srgbClr val="111111"/>
          </a:solidFill>
          <a:ln w="12700">
            <a:solidFill>
              <a:srgbClr val="111111"/>
            </a:solidFill>
            <a:prstDash val="solid"/>
          </a:ln>
        </p:spPr>
      </p:sp>
      <p:sp>
        <p:nvSpPr>
          <p:cNvPr id="42" name="Text 40"/>
          <p:cNvSpPr/>
          <p:nvPr/>
        </p:nvSpPr>
        <p:spPr>
          <a:xfrm>
            <a:off x="6400800" y="3291840"/>
            <a:ext cx="1463040" cy="777240"/>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Calibri" pitchFamily="34" charset="0"/>
                <a:ea typeface="Calibri" pitchFamily="34" charset="-122"/>
                <a:cs typeface="Calibri" pitchFamily="34" charset="-120"/>
              </a:rPr>
              <a:t>Personal</a:t>
            </a:r>
            <a:endParaRPr lang="en-US" sz="1100" dirty="0"/>
          </a:p>
        </p:txBody>
      </p:sp>
      <p:sp>
        <p:nvSpPr>
          <p:cNvPr id="43" name="Text 41"/>
          <p:cNvSpPr/>
          <p:nvPr/>
        </p:nvSpPr>
        <p:spPr>
          <a:xfrm>
            <a:off x="8046720" y="3291840"/>
            <a:ext cx="3931920" cy="777240"/>
          </a:xfrm>
          <a:prstGeom prst="rect">
            <a:avLst/>
          </a:prstGeom>
          <a:noFill/>
          <a:ln/>
        </p:spPr>
        <p:txBody>
          <a:bodyPr wrap="square" lIns="0" tIns="0" rIns="0" bIns="0" rtlCol="0" anchor="ctr"/>
          <a:lstStyle/>
          <a:p>
            <a:pPr indent="0" marL="0">
              <a:buNone/>
            </a:pPr>
            <a:r>
              <a:rPr lang="en-US" sz="1300" dirty="0">
                <a:solidFill>
                  <a:srgbClr val="444444"/>
                </a:solidFill>
                <a:latin typeface="Calibri" pitchFamily="34" charset="0"/>
                <a:ea typeface="Calibri" pitchFamily="34" charset="-122"/>
                <a:cs typeface="Calibri" pitchFamily="34" charset="-120"/>
              </a:rPr>
              <a:t>Personalisation of services</a:t>
            </a:r>
            <a:endParaRPr lang="en-US" sz="1300" dirty="0"/>
          </a:p>
        </p:txBody>
      </p:sp>
      <p:sp>
        <p:nvSpPr>
          <p:cNvPr id="44" name="Shape 42"/>
          <p:cNvSpPr/>
          <p:nvPr/>
        </p:nvSpPr>
        <p:spPr>
          <a:xfrm>
            <a:off x="6400800" y="4251960"/>
            <a:ext cx="1463040" cy="777240"/>
          </a:xfrm>
          <a:prstGeom prst="rect">
            <a:avLst/>
          </a:prstGeom>
          <a:solidFill>
            <a:srgbClr val="111111"/>
          </a:solidFill>
          <a:ln w="12700">
            <a:solidFill>
              <a:srgbClr val="111111"/>
            </a:solidFill>
            <a:prstDash val="solid"/>
          </a:ln>
        </p:spPr>
      </p:sp>
      <p:sp>
        <p:nvSpPr>
          <p:cNvPr id="45" name="Text 43"/>
          <p:cNvSpPr/>
          <p:nvPr/>
        </p:nvSpPr>
        <p:spPr>
          <a:xfrm>
            <a:off x="6400800" y="4251960"/>
            <a:ext cx="1463040" cy="777240"/>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Calibri" pitchFamily="34" charset="0"/>
                <a:ea typeface="Calibri" pitchFamily="34" charset="-122"/>
                <a:cs typeface="Calibri" pitchFamily="34" charset="-120"/>
              </a:rPr>
              <a:t>Simplicity</a:t>
            </a:r>
            <a:endParaRPr lang="en-US" sz="1100" dirty="0"/>
          </a:p>
        </p:txBody>
      </p:sp>
      <p:sp>
        <p:nvSpPr>
          <p:cNvPr id="46" name="Text 44"/>
          <p:cNvSpPr/>
          <p:nvPr/>
        </p:nvSpPr>
        <p:spPr>
          <a:xfrm>
            <a:off x="8046720" y="4251960"/>
            <a:ext cx="3931920" cy="777240"/>
          </a:xfrm>
          <a:prstGeom prst="rect">
            <a:avLst/>
          </a:prstGeom>
          <a:noFill/>
          <a:ln/>
        </p:spPr>
        <p:txBody>
          <a:bodyPr wrap="square" lIns="0" tIns="0" rIns="0" bIns="0" rtlCol="0" anchor="ctr"/>
          <a:lstStyle/>
          <a:p>
            <a:pPr indent="0" marL="0">
              <a:buNone/>
            </a:pPr>
            <a:r>
              <a:rPr lang="en-US" sz="1300" dirty="0">
                <a:solidFill>
                  <a:srgbClr val="444444"/>
                </a:solidFill>
                <a:latin typeface="Calibri" pitchFamily="34" charset="0"/>
                <a:ea typeface="Calibri" pitchFamily="34" charset="-122"/>
                <a:cs typeface="Calibri" pitchFamily="34" charset="-120"/>
              </a:rPr>
              <a:t>Simplicity of onboarding</a:t>
            </a:r>
            <a:endParaRPr lang="en-US" sz="1300" dirty="0"/>
          </a:p>
        </p:txBody>
      </p:sp>
      <p:sp>
        <p:nvSpPr>
          <p:cNvPr id="47" name="Shape 45"/>
          <p:cNvSpPr/>
          <p:nvPr/>
        </p:nvSpPr>
        <p:spPr>
          <a:xfrm>
            <a:off x="6400800" y="5212080"/>
            <a:ext cx="1463040" cy="777240"/>
          </a:xfrm>
          <a:prstGeom prst="rect">
            <a:avLst/>
          </a:prstGeom>
          <a:solidFill>
            <a:srgbClr val="111111"/>
          </a:solidFill>
          <a:ln w="12700">
            <a:solidFill>
              <a:srgbClr val="111111"/>
            </a:solidFill>
            <a:prstDash val="solid"/>
          </a:ln>
        </p:spPr>
      </p:sp>
      <p:sp>
        <p:nvSpPr>
          <p:cNvPr id="48" name="Text 46"/>
          <p:cNvSpPr/>
          <p:nvPr/>
        </p:nvSpPr>
        <p:spPr>
          <a:xfrm>
            <a:off x="6400800" y="5212080"/>
            <a:ext cx="1463040" cy="777240"/>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Calibri" pitchFamily="34" charset="0"/>
                <a:ea typeface="Calibri" pitchFamily="34" charset="-122"/>
                <a:cs typeface="Calibri" pitchFamily="34" charset="-120"/>
              </a:rPr>
              <a:t>Loyalty</a:t>
            </a:r>
            <a:endParaRPr lang="en-US" sz="1100" dirty="0"/>
          </a:p>
        </p:txBody>
      </p:sp>
      <p:sp>
        <p:nvSpPr>
          <p:cNvPr id="49" name="Text 47"/>
          <p:cNvSpPr/>
          <p:nvPr/>
        </p:nvSpPr>
        <p:spPr>
          <a:xfrm>
            <a:off x="8046720" y="5212080"/>
            <a:ext cx="3931920" cy="777240"/>
          </a:xfrm>
          <a:prstGeom prst="rect">
            <a:avLst/>
          </a:prstGeom>
          <a:noFill/>
          <a:ln/>
        </p:spPr>
        <p:txBody>
          <a:bodyPr wrap="square" lIns="0" tIns="0" rIns="0" bIns="0" rtlCol="0" anchor="ctr"/>
          <a:lstStyle/>
          <a:p>
            <a:pPr indent="0" marL="0">
              <a:buNone/>
            </a:pPr>
            <a:r>
              <a:rPr lang="en-US" sz="1300" dirty="0">
                <a:solidFill>
                  <a:srgbClr val="444444"/>
                </a:solidFill>
                <a:latin typeface="Calibri" pitchFamily="34" charset="0"/>
                <a:ea typeface="Calibri" pitchFamily="34" charset="-122"/>
                <a:cs typeface="Calibri" pitchFamily="34" charset="-120"/>
              </a:rPr>
              <a:t>Support and loyalty journeys</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20040" y="182880"/>
            <a:ext cx="1417320" cy="438912"/>
          </a:xfrm>
          <a:prstGeom prst="rect">
            <a:avLst/>
          </a:prstGeom>
          <a:solidFill>
            <a:srgbClr val="111111"/>
          </a:solidFill>
          <a:ln w="12700">
            <a:solidFill>
              <a:srgbClr val="111111"/>
            </a:solidFill>
            <a:prstDash val="solid"/>
          </a:ln>
        </p:spPr>
      </p:sp>
      <p:sp>
        <p:nvSpPr>
          <p:cNvPr id="3" name="Text 1"/>
          <p:cNvSpPr/>
          <p:nvPr/>
        </p:nvSpPr>
        <p:spPr>
          <a:xfrm>
            <a:off x="320040" y="182880"/>
            <a:ext cx="1417320" cy="438912"/>
          </a:xfrm>
          <a:prstGeom prst="rect">
            <a:avLst/>
          </a:prstGeom>
          <a:noFill/>
          <a:ln/>
        </p:spPr>
        <p:txBody>
          <a:bodyPr wrap="square" lIns="0" tIns="0" rIns="0" bIns="0" rtlCol="0" anchor="ctr"/>
          <a:lstStyle/>
          <a:p>
            <a:pPr algn="ctr" indent="0" marL="0">
              <a:buNone/>
            </a:pPr>
            <a:r>
              <a:rPr lang="en-US" sz="1500" b="1" spc="400" kern="0" dirty="0">
                <a:solidFill>
                  <a:srgbClr val="FFFFFF"/>
                </a:solidFill>
                <a:latin typeface="Calibri" pitchFamily="34" charset="0"/>
                <a:ea typeface="Calibri" pitchFamily="34" charset="-122"/>
                <a:cs typeface="Calibri" pitchFamily="34" charset="-120"/>
              </a:rPr>
              <a:t>ARENA
</a:t>
            </a:r>
            <a:pPr algn="ctr" indent="0" marL="0">
              <a:buNone/>
            </a:pPr>
            <a:r>
              <a:rPr lang="en-US" sz="600" spc="400" kern="0" dirty="0">
                <a:solidFill>
                  <a:srgbClr val="FFFFFF"/>
                </a:solidFill>
                <a:latin typeface="Calibri" pitchFamily="34" charset="0"/>
                <a:ea typeface="Calibri" pitchFamily="34" charset="-122"/>
                <a:cs typeface="Calibri" pitchFamily="34" charset="-120"/>
              </a:rPr>
              <a:t>H O L D I N G S</a:t>
            </a:r>
            <a:endParaRPr lang="en-US" sz="1500" dirty="0"/>
          </a:p>
        </p:txBody>
      </p:sp>
      <p:sp>
        <p:nvSpPr>
          <p:cNvPr id="4" name="Shape 2"/>
          <p:cNvSpPr/>
          <p:nvPr/>
        </p:nvSpPr>
        <p:spPr>
          <a:xfrm>
            <a:off x="9677095" y="246888"/>
            <a:ext cx="201168" cy="201168"/>
          </a:xfrm>
          <a:prstGeom prst="ellipse">
            <a:avLst/>
          </a:prstGeom>
          <a:solidFill>
            <a:srgbClr val="111111"/>
          </a:solidFill>
          <a:ln w="12700">
            <a:solidFill>
              <a:srgbClr val="111111"/>
            </a:solidFill>
            <a:prstDash val="solid"/>
          </a:ln>
        </p:spPr>
      </p:sp>
      <p:sp>
        <p:nvSpPr>
          <p:cNvPr id="5" name="Text 3"/>
          <p:cNvSpPr/>
          <p:nvPr/>
        </p:nvSpPr>
        <p:spPr>
          <a:xfrm>
            <a:off x="9923983" y="210312"/>
            <a:ext cx="2011680" cy="274320"/>
          </a:xfrm>
          <a:prstGeom prst="rect">
            <a:avLst/>
          </a:prstGeom>
          <a:noFill/>
          <a:ln/>
        </p:spPr>
        <p:txBody>
          <a:bodyPr wrap="square" lIns="0" tIns="0" rIns="0" bIns="0" rtlCol="0" anchor="ctr"/>
          <a:lstStyle/>
          <a:p>
            <a:pPr algn="l" indent="0" marL="0">
              <a:buNone/>
            </a:pPr>
            <a:r>
              <a:rPr lang="en-US" sz="1000" b="1" i="1" dirty="0">
                <a:solidFill>
                  <a:srgbClr val="111111"/>
                </a:solidFill>
                <a:latin typeface="Calibri" pitchFamily="34" charset="0"/>
                <a:ea typeface="Calibri" pitchFamily="34" charset="-122"/>
                <a:cs typeface="Calibri" pitchFamily="34" charset="-120"/>
              </a:rPr>
              <a:t>#DoingSomethingGreat</a:t>
            </a:r>
            <a:endParaRPr lang="en-US" sz="1000" dirty="0"/>
          </a:p>
        </p:txBody>
      </p:sp>
      <p:sp>
        <p:nvSpPr>
          <p:cNvPr id="6" name="Shape 4"/>
          <p:cNvSpPr/>
          <p:nvPr/>
        </p:nvSpPr>
        <p:spPr>
          <a:xfrm>
            <a:off x="5973775" y="0"/>
            <a:ext cx="6217920" cy="1463040"/>
          </a:xfrm>
          <a:prstGeom prst="rect">
            <a:avLst/>
          </a:prstGeom>
          <a:solidFill>
            <a:srgbClr val="F5F5F5"/>
          </a:solidFill>
          <a:ln w="12700">
            <a:solidFill>
              <a:srgbClr val="F5F5F5"/>
            </a:solidFill>
            <a:prstDash val="solid"/>
          </a:ln>
        </p:spPr>
      </p:sp>
      <p:sp>
        <p:nvSpPr>
          <p:cNvPr id="7" name="Shape 5"/>
          <p:cNvSpPr/>
          <p:nvPr/>
        </p:nvSpPr>
        <p:spPr>
          <a:xfrm>
            <a:off x="6248095" y="0"/>
            <a:ext cx="-1280160" cy="1280160"/>
          </a:xfrm>
          <a:prstGeom prst="line">
            <a:avLst/>
          </a:prstGeom>
          <a:noFill/>
          <a:ln w="9525">
            <a:solidFill>
              <a:srgbClr val="EDEDED"/>
            </a:solidFill>
            <a:prstDash val="solid"/>
          </a:ln>
        </p:spPr>
      </p:sp>
      <p:sp>
        <p:nvSpPr>
          <p:cNvPr id="8" name="Shape 6"/>
          <p:cNvSpPr/>
          <p:nvPr/>
        </p:nvSpPr>
        <p:spPr>
          <a:xfrm>
            <a:off x="6659575" y="0"/>
            <a:ext cx="-1280160" cy="1280160"/>
          </a:xfrm>
          <a:prstGeom prst="line">
            <a:avLst/>
          </a:prstGeom>
          <a:noFill/>
          <a:ln w="9525">
            <a:solidFill>
              <a:srgbClr val="EDEDED"/>
            </a:solidFill>
            <a:prstDash val="solid"/>
          </a:ln>
        </p:spPr>
      </p:sp>
      <p:sp>
        <p:nvSpPr>
          <p:cNvPr id="9" name="Shape 7"/>
          <p:cNvSpPr/>
          <p:nvPr/>
        </p:nvSpPr>
        <p:spPr>
          <a:xfrm>
            <a:off x="7071055" y="0"/>
            <a:ext cx="-1280160" cy="1280160"/>
          </a:xfrm>
          <a:prstGeom prst="line">
            <a:avLst/>
          </a:prstGeom>
          <a:noFill/>
          <a:ln w="9525">
            <a:solidFill>
              <a:srgbClr val="EDEDED"/>
            </a:solidFill>
            <a:prstDash val="solid"/>
          </a:ln>
        </p:spPr>
      </p:sp>
      <p:sp>
        <p:nvSpPr>
          <p:cNvPr id="10" name="Shape 8"/>
          <p:cNvSpPr/>
          <p:nvPr/>
        </p:nvSpPr>
        <p:spPr>
          <a:xfrm>
            <a:off x="7482535" y="0"/>
            <a:ext cx="-1280160" cy="1280160"/>
          </a:xfrm>
          <a:prstGeom prst="line">
            <a:avLst/>
          </a:prstGeom>
          <a:noFill/>
          <a:ln w="9525">
            <a:solidFill>
              <a:srgbClr val="EDEDED"/>
            </a:solidFill>
            <a:prstDash val="solid"/>
          </a:ln>
        </p:spPr>
      </p:sp>
      <p:sp>
        <p:nvSpPr>
          <p:cNvPr id="11" name="Shape 9"/>
          <p:cNvSpPr/>
          <p:nvPr/>
        </p:nvSpPr>
        <p:spPr>
          <a:xfrm>
            <a:off x="7894015" y="0"/>
            <a:ext cx="-1280160" cy="1280160"/>
          </a:xfrm>
          <a:prstGeom prst="line">
            <a:avLst/>
          </a:prstGeom>
          <a:noFill/>
          <a:ln w="9525">
            <a:solidFill>
              <a:srgbClr val="EDEDED"/>
            </a:solidFill>
            <a:prstDash val="solid"/>
          </a:ln>
        </p:spPr>
      </p:sp>
      <p:sp>
        <p:nvSpPr>
          <p:cNvPr id="12" name="Shape 10"/>
          <p:cNvSpPr/>
          <p:nvPr/>
        </p:nvSpPr>
        <p:spPr>
          <a:xfrm>
            <a:off x="8305495" y="0"/>
            <a:ext cx="-1280160" cy="1280160"/>
          </a:xfrm>
          <a:prstGeom prst="line">
            <a:avLst/>
          </a:prstGeom>
          <a:noFill/>
          <a:ln w="9525">
            <a:solidFill>
              <a:srgbClr val="EDEDED"/>
            </a:solidFill>
            <a:prstDash val="solid"/>
          </a:ln>
        </p:spPr>
      </p:sp>
      <p:sp>
        <p:nvSpPr>
          <p:cNvPr id="13" name="Shape 11"/>
          <p:cNvSpPr/>
          <p:nvPr/>
        </p:nvSpPr>
        <p:spPr>
          <a:xfrm>
            <a:off x="8716975" y="0"/>
            <a:ext cx="-1280160" cy="1280160"/>
          </a:xfrm>
          <a:prstGeom prst="line">
            <a:avLst/>
          </a:prstGeom>
          <a:noFill/>
          <a:ln w="9525">
            <a:solidFill>
              <a:srgbClr val="EDEDED"/>
            </a:solidFill>
            <a:prstDash val="solid"/>
          </a:ln>
        </p:spPr>
      </p:sp>
      <p:sp>
        <p:nvSpPr>
          <p:cNvPr id="14" name="Shape 12"/>
          <p:cNvSpPr/>
          <p:nvPr/>
        </p:nvSpPr>
        <p:spPr>
          <a:xfrm>
            <a:off x="9128455" y="0"/>
            <a:ext cx="-1280160" cy="1280160"/>
          </a:xfrm>
          <a:prstGeom prst="line">
            <a:avLst/>
          </a:prstGeom>
          <a:noFill/>
          <a:ln w="9525">
            <a:solidFill>
              <a:srgbClr val="EDEDED"/>
            </a:solidFill>
            <a:prstDash val="solid"/>
          </a:ln>
        </p:spPr>
      </p:sp>
      <p:sp>
        <p:nvSpPr>
          <p:cNvPr id="15" name="Shape 13"/>
          <p:cNvSpPr/>
          <p:nvPr/>
        </p:nvSpPr>
        <p:spPr>
          <a:xfrm>
            <a:off x="9539935" y="0"/>
            <a:ext cx="-1280160" cy="1280160"/>
          </a:xfrm>
          <a:prstGeom prst="line">
            <a:avLst/>
          </a:prstGeom>
          <a:noFill/>
          <a:ln w="9525">
            <a:solidFill>
              <a:srgbClr val="EDEDED"/>
            </a:solidFill>
            <a:prstDash val="solid"/>
          </a:ln>
        </p:spPr>
      </p:sp>
      <p:sp>
        <p:nvSpPr>
          <p:cNvPr id="16" name="Shape 14"/>
          <p:cNvSpPr/>
          <p:nvPr/>
        </p:nvSpPr>
        <p:spPr>
          <a:xfrm>
            <a:off x="9951415" y="0"/>
            <a:ext cx="-1280160" cy="1280160"/>
          </a:xfrm>
          <a:prstGeom prst="line">
            <a:avLst/>
          </a:prstGeom>
          <a:noFill/>
          <a:ln w="9525">
            <a:solidFill>
              <a:srgbClr val="EDEDED"/>
            </a:solidFill>
            <a:prstDash val="solid"/>
          </a:ln>
        </p:spPr>
      </p:sp>
      <p:sp>
        <p:nvSpPr>
          <p:cNvPr id="17" name="Shape 15"/>
          <p:cNvSpPr/>
          <p:nvPr/>
        </p:nvSpPr>
        <p:spPr>
          <a:xfrm>
            <a:off x="10362895" y="0"/>
            <a:ext cx="-1280160" cy="1280160"/>
          </a:xfrm>
          <a:prstGeom prst="line">
            <a:avLst/>
          </a:prstGeom>
          <a:noFill/>
          <a:ln w="9525">
            <a:solidFill>
              <a:srgbClr val="EDEDED"/>
            </a:solidFill>
            <a:prstDash val="solid"/>
          </a:ln>
        </p:spPr>
      </p:sp>
      <p:sp>
        <p:nvSpPr>
          <p:cNvPr id="18" name="Shape 16"/>
          <p:cNvSpPr/>
          <p:nvPr/>
        </p:nvSpPr>
        <p:spPr>
          <a:xfrm>
            <a:off x="10774375" y="0"/>
            <a:ext cx="-1280160" cy="1280160"/>
          </a:xfrm>
          <a:prstGeom prst="line">
            <a:avLst/>
          </a:prstGeom>
          <a:noFill/>
          <a:ln w="9525">
            <a:solidFill>
              <a:srgbClr val="EDEDED"/>
            </a:solidFill>
            <a:prstDash val="solid"/>
          </a:ln>
        </p:spPr>
      </p:sp>
      <p:sp>
        <p:nvSpPr>
          <p:cNvPr id="19" name="Shape 17"/>
          <p:cNvSpPr/>
          <p:nvPr/>
        </p:nvSpPr>
        <p:spPr>
          <a:xfrm>
            <a:off x="11185855" y="0"/>
            <a:ext cx="-1280160" cy="1280160"/>
          </a:xfrm>
          <a:prstGeom prst="line">
            <a:avLst/>
          </a:prstGeom>
          <a:noFill/>
          <a:ln w="9525">
            <a:solidFill>
              <a:srgbClr val="EDEDED"/>
            </a:solidFill>
            <a:prstDash val="solid"/>
          </a:ln>
        </p:spPr>
      </p:sp>
      <p:sp>
        <p:nvSpPr>
          <p:cNvPr id="20" name="Shape 18"/>
          <p:cNvSpPr/>
          <p:nvPr/>
        </p:nvSpPr>
        <p:spPr>
          <a:xfrm>
            <a:off x="11597335" y="0"/>
            <a:ext cx="-1280160" cy="1280160"/>
          </a:xfrm>
          <a:prstGeom prst="line">
            <a:avLst/>
          </a:prstGeom>
          <a:noFill/>
          <a:ln w="9525">
            <a:solidFill>
              <a:srgbClr val="EDEDED"/>
            </a:solidFill>
            <a:prstDash val="solid"/>
          </a:ln>
        </p:spPr>
      </p:sp>
      <p:sp>
        <p:nvSpPr>
          <p:cNvPr id="21" name="Shape 19"/>
          <p:cNvSpPr/>
          <p:nvPr/>
        </p:nvSpPr>
        <p:spPr>
          <a:xfrm>
            <a:off x="320040" y="1481328"/>
            <a:ext cx="11551615" cy="0"/>
          </a:xfrm>
          <a:prstGeom prst="line">
            <a:avLst/>
          </a:prstGeom>
          <a:noFill/>
          <a:ln w="15875">
            <a:solidFill>
              <a:srgbClr val="111111"/>
            </a:solidFill>
            <a:prstDash val="solid"/>
          </a:ln>
        </p:spPr>
      </p:sp>
      <p:sp>
        <p:nvSpPr>
          <p:cNvPr id="22" name="Text 20"/>
          <p:cNvSpPr/>
          <p:nvPr/>
        </p:nvSpPr>
        <p:spPr>
          <a:xfrm>
            <a:off x="5486400" y="292608"/>
            <a:ext cx="6309360" cy="685800"/>
          </a:xfrm>
          <a:prstGeom prst="rect">
            <a:avLst/>
          </a:prstGeom>
          <a:noFill/>
          <a:ln/>
        </p:spPr>
        <p:txBody>
          <a:bodyPr wrap="square" lIns="0" tIns="0" rIns="0" bIns="0" rtlCol="0" anchor="ctr"/>
          <a:lstStyle/>
          <a:p>
            <a:pPr algn="r" indent="0" marL="0">
              <a:buNone/>
            </a:pPr>
            <a:r>
              <a:rPr lang="en-US" sz="2600" b="1" dirty="0">
                <a:solidFill>
                  <a:srgbClr val="111111"/>
                </a:solidFill>
                <a:latin typeface="Calibri" pitchFamily="34" charset="0"/>
                <a:ea typeface="Calibri" pitchFamily="34" charset="-122"/>
                <a:cs typeface="Calibri" pitchFamily="34" charset="-120"/>
              </a:rPr>
              <a:t>The Strategic Role of VAS</a:t>
            </a:r>
            <a:endParaRPr lang="en-US" sz="2600" dirty="0"/>
          </a:p>
        </p:txBody>
      </p:sp>
      <p:sp>
        <p:nvSpPr>
          <p:cNvPr id="23" name="Text 21"/>
          <p:cNvSpPr/>
          <p:nvPr/>
        </p:nvSpPr>
        <p:spPr>
          <a:xfrm>
            <a:off x="5486400" y="960120"/>
            <a:ext cx="6309360" cy="365760"/>
          </a:xfrm>
          <a:prstGeom prst="rect">
            <a:avLst/>
          </a:prstGeom>
          <a:noFill/>
          <a:ln/>
        </p:spPr>
        <p:txBody>
          <a:bodyPr wrap="square" lIns="0" tIns="0" rIns="0" bIns="0" rtlCol="0" anchor="ctr"/>
          <a:lstStyle/>
          <a:p>
            <a:pPr algn="r" indent="0" marL="0">
              <a:buNone/>
            </a:pPr>
            <a:r>
              <a:rPr lang="en-US" sz="1200" i="1" dirty="0">
                <a:solidFill>
                  <a:srgbClr val="6B6B6B"/>
                </a:solidFill>
                <a:latin typeface="Calibri" pitchFamily="34" charset="0"/>
                <a:ea typeface="Calibri" pitchFamily="34" charset="-122"/>
                <a:cs typeface="Calibri" pitchFamily="34" charset="-120"/>
              </a:rPr>
              <a:t>MVNOs can lift ARPU by 20–40% through layered services</a:t>
            </a:r>
            <a:endParaRPr lang="en-US" sz="1200" dirty="0"/>
          </a:p>
        </p:txBody>
      </p:sp>
      <p:sp>
        <p:nvSpPr>
          <p:cNvPr id="24" name="Shape 22"/>
          <p:cNvSpPr/>
          <p:nvPr/>
        </p:nvSpPr>
        <p:spPr>
          <a:xfrm>
            <a:off x="320040" y="6355080"/>
            <a:ext cx="11551615" cy="0"/>
          </a:xfrm>
          <a:prstGeom prst="line">
            <a:avLst/>
          </a:prstGeom>
          <a:noFill/>
          <a:ln w="6350">
            <a:solidFill>
              <a:srgbClr val="BFBFBF"/>
            </a:solidFill>
            <a:prstDash val="solid"/>
          </a:ln>
        </p:spPr>
      </p:sp>
      <p:sp>
        <p:nvSpPr>
          <p:cNvPr id="25" name="Shape 23"/>
          <p:cNvSpPr/>
          <p:nvPr/>
        </p:nvSpPr>
        <p:spPr>
          <a:xfrm>
            <a:off x="320040" y="6473952"/>
            <a:ext cx="502920" cy="237744"/>
          </a:xfrm>
          <a:prstGeom prst="rect">
            <a:avLst/>
          </a:prstGeom>
          <a:solidFill>
            <a:srgbClr val="111111"/>
          </a:solidFill>
          <a:ln w="12700">
            <a:solidFill>
              <a:srgbClr val="111111"/>
            </a:solidFill>
            <a:prstDash val="solid"/>
          </a:ln>
        </p:spPr>
      </p:sp>
      <p:sp>
        <p:nvSpPr>
          <p:cNvPr id="26" name="Text 24"/>
          <p:cNvSpPr/>
          <p:nvPr/>
        </p:nvSpPr>
        <p:spPr>
          <a:xfrm>
            <a:off x="320040" y="6473952"/>
            <a:ext cx="502920" cy="237744"/>
          </a:xfrm>
          <a:prstGeom prst="rect">
            <a:avLst/>
          </a:prstGeom>
          <a:noFill/>
          <a:ln/>
        </p:spPr>
        <p:txBody>
          <a:bodyPr wrap="square" lIns="0" tIns="0" rIns="0" bIns="0" rtlCol="0" anchor="ctr"/>
          <a:lstStyle/>
          <a:p>
            <a:pPr algn="ctr" indent="0" marL="0">
              <a:buNone/>
            </a:pPr>
            <a:r>
              <a:rPr lang="en-US" sz="900" b="1" spc="200" kern="0" dirty="0">
                <a:solidFill>
                  <a:srgbClr val="FFFFFF"/>
                </a:solidFill>
                <a:latin typeface="Calibri" pitchFamily="34" charset="0"/>
                <a:ea typeface="Calibri" pitchFamily="34" charset="-122"/>
                <a:cs typeface="Calibri" pitchFamily="34" charset="-120"/>
              </a:rPr>
              <a:t>DSG</a:t>
            </a:r>
            <a:endParaRPr lang="en-US" sz="900" dirty="0"/>
          </a:p>
        </p:txBody>
      </p:sp>
      <p:sp>
        <p:nvSpPr>
          <p:cNvPr id="27" name="Text 25"/>
          <p:cNvSpPr/>
          <p:nvPr/>
        </p:nvSpPr>
        <p:spPr>
          <a:xfrm>
            <a:off x="868680" y="6473952"/>
            <a:ext cx="2194560" cy="237744"/>
          </a:xfrm>
          <a:prstGeom prst="rect">
            <a:avLst/>
          </a:prstGeom>
          <a:noFill/>
          <a:ln/>
        </p:spPr>
        <p:txBody>
          <a:bodyPr wrap="square" lIns="0" tIns="0" rIns="0" bIns="0" rtlCol="0" anchor="ctr"/>
          <a:lstStyle/>
          <a:p>
            <a:pPr indent="0" marL="0">
              <a:buNone/>
            </a:pPr>
            <a:r>
              <a:rPr lang="en-US" sz="650" spc="200" kern="0" dirty="0">
                <a:solidFill>
                  <a:srgbClr val="6B6B6B"/>
                </a:solidFill>
                <a:latin typeface="Calibri" pitchFamily="34" charset="0"/>
                <a:ea typeface="Calibri" pitchFamily="34" charset="-122"/>
                <a:cs typeface="Calibri" pitchFamily="34" charset="-120"/>
              </a:rPr>
              <a:t>DIGITAL SOLUTIONS GROUP</a:t>
            </a:r>
            <a:endParaRPr lang="en-US" sz="650" dirty="0"/>
          </a:p>
        </p:txBody>
      </p:sp>
      <p:sp>
        <p:nvSpPr>
          <p:cNvPr id="28" name="Text 26"/>
          <p:cNvSpPr/>
          <p:nvPr/>
        </p:nvSpPr>
        <p:spPr>
          <a:xfrm>
            <a:off x="4754880" y="6473952"/>
            <a:ext cx="2743200" cy="237744"/>
          </a:xfrm>
          <a:prstGeom prst="rect">
            <a:avLst/>
          </a:prstGeom>
          <a:noFill/>
          <a:ln/>
        </p:spPr>
        <p:txBody>
          <a:bodyPr wrap="square" lIns="0" tIns="0" rIns="0" bIns="0" rtlCol="0" anchor="ctr"/>
          <a:lstStyle/>
          <a:p>
            <a:pPr algn="ctr" indent="0" marL="0">
              <a:buNone/>
            </a:pPr>
            <a:r>
              <a:rPr lang="en-US" sz="1100" b="1" dirty="0">
                <a:solidFill>
                  <a:srgbClr val="111111"/>
                </a:solidFill>
                <a:latin typeface="Calibri" pitchFamily="34" charset="0"/>
                <a:ea typeface="Calibri" pitchFamily="34" charset="-122"/>
                <a:cs typeface="Calibri" pitchFamily="34" charset="-120"/>
              </a:rPr>
              <a:t>digital</a:t>
            </a:r>
            <a:pPr algn="ctr" indent="0" marL="0">
              <a:buNone/>
            </a:pPr>
            <a:r>
              <a:rPr lang="en-US" sz="1100" b="1" dirty="0">
                <a:solidFill>
                  <a:srgbClr val="6B6B6B"/>
                </a:solidFill>
                <a:latin typeface="Calibri" pitchFamily="34" charset="0"/>
                <a:ea typeface="Calibri" pitchFamily="34" charset="-122"/>
                <a:cs typeface="Calibri" pitchFamily="34" charset="-120"/>
              </a:rPr>
              <a:t>mobile</a:t>
            </a:r>
            <a:endParaRPr lang="en-US" sz="1100" dirty="0"/>
          </a:p>
        </p:txBody>
      </p:sp>
      <p:sp>
        <p:nvSpPr>
          <p:cNvPr id="29" name="Shape 27"/>
          <p:cNvSpPr/>
          <p:nvPr/>
        </p:nvSpPr>
        <p:spPr>
          <a:xfrm>
            <a:off x="8595360" y="6519672"/>
            <a:ext cx="146304" cy="146304"/>
          </a:xfrm>
          <a:prstGeom prst="ellipse">
            <a:avLst/>
          </a:prstGeom>
          <a:solidFill>
            <a:srgbClr val="111111"/>
          </a:solidFill>
          <a:ln w="12700">
            <a:solidFill>
              <a:srgbClr val="111111"/>
            </a:solidFill>
            <a:prstDash val="solid"/>
          </a:ln>
        </p:spPr>
      </p:sp>
      <p:sp>
        <p:nvSpPr>
          <p:cNvPr id="30" name="Text 28"/>
          <p:cNvSpPr/>
          <p:nvPr/>
        </p:nvSpPr>
        <p:spPr>
          <a:xfrm>
            <a:off x="8778240" y="6473952"/>
            <a:ext cx="2194560" cy="237744"/>
          </a:xfrm>
          <a:prstGeom prst="rect">
            <a:avLst/>
          </a:prstGeom>
          <a:noFill/>
          <a:ln/>
        </p:spPr>
        <p:txBody>
          <a:bodyPr wrap="square" lIns="0" tIns="0" rIns="0" bIns="0" rtlCol="0" anchor="ctr"/>
          <a:lstStyle/>
          <a:p>
            <a:pPr indent="0" marL="0">
              <a:buNone/>
            </a:pPr>
            <a:r>
              <a:rPr lang="en-US" sz="900" i="1" dirty="0">
                <a:solidFill>
                  <a:srgbClr val="111111"/>
                </a:solidFill>
                <a:latin typeface="Calibri" pitchFamily="34" charset="0"/>
                <a:ea typeface="Calibri" pitchFamily="34" charset="-122"/>
                <a:cs typeface="Calibri" pitchFamily="34" charset="-120"/>
              </a:rPr>
              <a:t>#DoingSomethingGreat</a:t>
            </a:r>
            <a:endParaRPr lang="en-US" sz="900" dirty="0"/>
          </a:p>
        </p:txBody>
      </p:sp>
      <p:sp>
        <p:nvSpPr>
          <p:cNvPr id="31" name="Text 29"/>
          <p:cNvSpPr/>
          <p:nvPr/>
        </p:nvSpPr>
        <p:spPr>
          <a:xfrm>
            <a:off x="11002975" y="6473952"/>
            <a:ext cx="914400" cy="237744"/>
          </a:xfrm>
          <a:prstGeom prst="rect">
            <a:avLst/>
          </a:prstGeom>
          <a:noFill/>
          <a:ln/>
        </p:spPr>
        <p:txBody>
          <a:bodyPr wrap="square" lIns="0" tIns="0" rIns="0" bIns="0" rtlCol="0" anchor="ctr"/>
          <a:lstStyle/>
          <a:p>
            <a:pPr algn="r" indent="0" marL="0">
              <a:buNone/>
            </a:pPr>
            <a:r>
              <a:rPr lang="en-US" sz="800" dirty="0">
                <a:solidFill>
                  <a:srgbClr val="6B6B6B"/>
                </a:solidFill>
                <a:latin typeface="Calibri" pitchFamily="34" charset="0"/>
                <a:ea typeface="Calibri" pitchFamily="34" charset="-122"/>
                <a:cs typeface="Calibri" pitchFamily="34" charset="-120"/>
              </a:rPr>
              <a:t>11 / 20</a:t>
            </a:r>
            <a:endParaRPr lang="en-US" sz="800" dirty="0"/>
          </a:p>
        </p:txBody>
      </p:sp>
      <p:sp>
        <p:nvSpPr>
          <p:cNvPr id="32" name="Shape 30"/>
          <p:cNvSpPr/>
          <p:nvPr/>
        </p:nvSpPr>
        <p:spPr>
          <a:xfrm>
            <a:off x="502920" y="1828800"/>
            <a:ext cx="4572000" cy="4389120"/>
          </a:xfrm>
          <a:prstGeom prst="rect">
            <a:avLst/>
          </a:prstGeom>
          <a:solidFill>
            <a:srgbClr val="111111"/>
          </a:solidFill>
          <a:ln w="12700">
            <a:solidFill>
              <a:srgbClr val="111111"/>
            </a:solidFill>
            <a:prstDash val="solid"/>
          </a:ln>
        </p:spPr>
      </p:sp>
      <p:sp>
        <p:nvSpPr>
          <p:cNvPr id="33" name="Text 31"/>
          <p:cNvSpPr/>
          <p:nvPr/>
        </p:nvSpPr>
        <p:spPr>
          <a:xfrm>
            <a:off x="731520" y="2194560"/>
            <a:ext cx="4114800" cy="1463040"/>
          </a:xfrm>
          <a:prstGeom prst="rect">
            <a:avLst/>
          </a:prstGeom>
          <a:noFill/>
          <a:ln/>
        </p:spPr>
        <p:txBody>
          <a:bodyPr wrap="square" lIns="0" tIns="0" rIns="0" bIns="0" rtlCol="0" anchor="ctr"/>
          <a:lstStyle/>
          <a:p>
            <a:pPr indent="0" marL="0">
              <a:buNone/>
            </a:pPr>
            <a:r>
              <a:rPr lang="en-US" sz="7200" b="1" dirty="0">
                <a:solidFill>
                  <a:srgbClr val="FFFFFF"/>
                </a:solidFill>
                <a:latin typeface="Georgia" pitchFamily="34" charset="0"/>
                <a:ea typeface="Georgia" pitchFamily="34" charset="-122"/>
                <a:cs typeface="Georgia" pitchFamily="34" charset="-120"/>
              </a:rPr>
              <a:t>20–40%</a:t>
            </a:r>
            <a:endParaRPr lang="en-US" sz="7200" dirty="0"/>
          </a:p>
        </p:txBody>
      </p:sp>
      <p:sp>
        <p:nvSpPr>
          <p:cNvPr id="34" name="Text 32"/>
          <p:cNvSpPr/>
          <p:nvPr/>
        </p:nvSpPr>
        <p:spPr>
          <a:xfrm>
            <a:off x="731520" y="3703320"/>
            <a:ext cx="4114800" cy="320040"/>
          </a:xfrm>
          <a:prstGeom prst="rect">
            <a:avLst/>
          </a:prstGeom>
          <a:noFill/>
          <a:ln/>
        </p:spPr>
        <p:txBody>
          <a:bodyPr wrap="square" lIns="0" tIns="0" rIns="0" bIns="0" rtlCol="0" anchor="ctr"/>
          <a:lstStyle/>
          <a:p>
            <a:pPr indent="0" marL="0">
              <a:buNone/>
            </a:pPr>
            <a:r>
              <a:rPr lang="en-US" sz="1100" b="1" spc="400" kern="0" dirty="0">
                <a:solidFill>
                  <a:srgbClr val="D9D9D9"/>
                </a:solidFill>
                <a:latin typeface="Calibri" pitchFamily="34" charset="0"/>
                <a:ea typeface="Calibri" pitchFamily="34" charset="-122"/>
                <a:cs typeface="Calibri" pitchFamily="34" charset="-120"/>
              </a:rPr>
              <a:t>ARPU UPLIFT</a:t>
            </a:r>
            <a:endParaRPr lang="en-US" sz="1100" dirty="0"/>
          </a:p>
        </p:txBody>
      </p:sp>
      <p:sp>
        <p:nvSpPr>
          <p:cNvPr id="35" name="Shape 33"/>
          <p:cNvSpPr/>
          <p:nvPr/>
        </p:nvSpPr>
        <p:spPr>
          <a:xfrm>
            <a:off x="731520" y="4160520"/>
            <a:ext cx="731520" cy="0"/>
          </a:xfrm>
          <a:prstGeom prst="line">
            <a:avLst/>
          </a:prstGeom>
          <a:noFill/>
          <a:ln w="12700">
            <a:solidFill>
              <a:srgbClr val="FFFFFF"/>
            </a:solidFill>
            <a:prstDash val="solid"/>
          </a:ln>
        </p:spPr>
      </p:sp>
      <p:sp>
        <p:nvSpPr>
          <p:cNvPr id="36" name="Text 34"/>
          <p:cNvSpPr/>
          <p:nvPr/>
        </p:nvSpPr>
        <p:spPr>
          <a:xfrm>
            <a:off x="731520" y="4343400"/>
            <a:ext cx="4114800" cy="1645920"/>
          </a:xfrm>
          <a:prstGeom prst="rect">
            <a:avLst/>
          </a:prstGeom>
          <a:noFill/>
          <a:ln/>
        </p:spPr>
        <p:txBody>
          <a:bodyPr wrap="square" lIns="0" tIns="0" rIns="0" bIns="0" rtlCol="0" anchor="ctr"/>
          <a:lstStyle/>
          <a:p>
            <a:pPr indent="0" marL="0">
              <a:buNone/>
            </a:pPr>
            <a:r>
              <a:rPr lang="en-US" sz="1200" i="1" dirty="0">
                <a:solidFill>
                  <a:srgbClr val="D9D9D9"/>
                </a:solidFill>
                <a:latin typeface="Calibri" pitchFamily="34" charset="0"/>
                <a:ea typeface="Calibri" pitchFamily="34" charset="-122"/>
                <a:cs typeface="Calibri" pitchFamily="34" charset="-120"/>
              </a:rPr>
              <a:t>Through layered value-added services — insurance, security, eSIM, loyalty — MVNOs consistently outperform voice/data-only peers.</a:t>
            </a:r>
            <a:endParaRPr lang="en-US" sz="1200" dirty="0"/>
          </a:p>
        </p:txBody>
      </p:sp>
      <p:sp>
        <p:nvSpPr>
          <p:cNvPr id="37" name="Text 35"/>
          <p:cNvSpPr/>
          <p:nvPr/>
        </p:nvSpPr>
        <p:spPr>
          <a:xfrm>
            <a:off x="5486400" y="1828800"/>
            <a:ext cx="6217920" cy="365760"/>
          </a:xfrm>
          <a:prstGeom prst="rect">
            <a:avLst/>
          </a:prstGeom>
          <a:noFill/>
          <a:ln/>
        </p:spPr>
        <p:txBody>
          <a:bodyPr wrap="square" lIns="0" tIns="0" rIns="0" bIns="0" rtlCol="0" anchor="ctr"/>
          <a:lstStyle/>
          <a:p>
            <a:pPr indent="0" marL="0">
              <a:buNone/>
            </a:pPr>
            <a:r>
              <a:rPr lang="en-US" sz="1300" b="1" dirty="0">
                <a:solidFill>
                  <a:srgbClr val="111111"/>
                </a:solidFill>
                <a:latin typeface="Calibri" pitchFamily="34" charset="0"/>
                <a:ea typeface="Calibri" pitchFamily="34" charset="-122"/>
                <a:cs typeface="Calibri" pitchFamily="34" charset="-120"/>
              </a:rPr>
              <a:t>MVNOs win when they:</a:t>
            </a:r>
            <a:endParaRPr lang="en-US" sz="1300" dirty="0"/>
          </a:p>
        </p:txBody>
      </p:sp>
      <p:sp>
        <p:nvSpPr>
          <p:cNvPr id="38" name="Shape 36"/>
          <p:cNvSpPr/>
          <p:nvPr/>
        </p:nvSpPr>
        <p:spPr>
          <a:xfrm>
            <a:off x="5486400" y="2514600"/>
            <a:ext cx="502920" cy="502920"/>
          </a:xfrm>
          <a:prstGeom prst="ellipse">
            <a:avLst/>
          </a:prstGeom>
          <a:solidFill>
            <a:srgbClr val="111111"/>
          </a:solidFill>
          <a:ln w="12700">
            <a:solidFill>
              <a:srgbClr val="111111"/>
            </a:solidFill>
            <a:prstDash val="solid"/>
          </a:ln>
        </p:spPr>
      </p:sp>
      <p:sp>
        <p:nvSpPr>
          <p:cNvPr id="39" name="Text 37"/>
          <p:cNvSpPr/>
          <p:nvPr/>
        </p:nvSpPr>
        <p:spPr>
          <a:xfrm>
            <a:off x="5486400" y="2514600"/>
            <a:ext cx="50292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40" name="Text 38"/>
          <p:cNvSpPr/>
          <p:nvPr/>
        </p:nvSpPr>
        <p:spPr>
          <a:xfrm>
            <a:off x="6172200" y="2377440"/>
            <a:ext cx="5669280" cy="777240"/>
          </a:xfrm>
          <a:prstGeom prst="rect">
            <a:avLst/>
          </a:prstGeom>
          <a:noFill/>
          <a:ln/>
        </p:spPr>
        <p:txBody>
          <a:bodyPr wrap="square" lIns="0" tIns="0" rIns="0" bIns="0" rtlCol="0" anchor="ctr"/>
          <a:lstStyle/>
          <a:p>
            <a:pPr indent="0" marL="0">
              <a:buNone/>
            </a:pPr>
            <a:r>
              <a:rPr lang="en-US" sz="1500" dirty="0">
                <a:solidFill>
                  <a:srgbClr val="111111"/>
                </a:solidFill>
                <a:latin typeface="Calibri" pitchFamily="34" charset="0"/>
                <a:ea typeface="Calibri" pitchFamily="34" charset="-122"/>
                <a:cs typeface="Calibri" pitchFamily="34" charset="-120"/>
              </a:rPr>
              <a:t>Monetise beyond connectivity</a:t>
            </a:r>
            <a:endParaRPr lang="en-US" sz="1500" dirty="0"/>
          </a:p>
        </p:txBody>
      </p:sp>
      <p:sp>
        <p:nvSpPr>
          <p:cNvPr id="41" name="Shape 39"/>
          <p:cNvSpPr/>
          <p:nvPr/>
        </p:nvSpPr>
        <p:spPr>
          <a:xfrm>
            <a:off x="6172200" y="3154680"/>
            <a:ext cx="5486400" cy="0"/>
          </a:xfrm>
          <a:prstGeom prst="line">
            <a:avLst/>
          </a:prstGeom>
          <a:noFill/>
          <a:ln w="5080">
            <a:solidFill>
              <a:srgbClr val="BFBFBF"/>
            </a:solidFill>
            <a:prstDash val="solid"/>
          </a:ln>
        </p:spPr>
      </p:sp>
      <p:sp>
        <p:nvSpPr>
          <p:cNvPr id="42" name="Shape 40"/>
          <p:cNvSpPr/>
          <p:nvPr/>
        </p:nvSpPr>
        <p:spPr>
          <a:xfrm>
            <a:off x="5486400" y="3474720"/>
            <a:ext cx="502920" cy="502920"/>
          </a:xfrm>
          <a:prstGeom prst="ellipse">
            <a:avLst/>
          </a:prstGeom>
          <a:solidFill>
            <a:srgbClr val="111111"/>
          </a:solidFill>
          <a:ln w="12700">
            <a:solidFill>
              <a:srgbClr val="111111"/>
            </a:solidFill>
            <a:prstDash val="solid"/>
          </a:ln>
        </p:spPr>
      </p:sp>
      <p:sp>
        <p:nvSpPr>
          <p:cNvPr id="43" name="Text 41"/>
          <p:cNvSpPr/>
          <p:nvPr/>
        </p:nvSpPr>
        <p:spPr>
          <a:xfrm>
            <a:off x="5486400" y="3474720"/>
            <a:ext cx="50292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44" name="Text 42"/>
          <p:cNvSpPr/>
          <p:nvPr/>
        </p:nvSpPr>
        <p:spPr>
          <a:xfrm>
            <a:off x="6172200" y="3337560"/>
            <a:ext cx="5669280" cy="777240"/>
          </a:xfrm>
          <a:prstGeom prst="rect">
            <a:avLst/>
          </a:prstGeom>
          <a:noFill/>
          <a:ln/>
        </p:spPr>
        <p:txBody>
          <a:bodyPr wrap="square" lIns="0" tIns="0" rIns="0" bIns="0" rtlCol="0" anchor="ctr"/>
          <a:lstStyle/>
          <a:p>
            <a:pPr indent="0" marL="0">
              <a:buNone/>
            </a:pPr>
            <a:r>
              <a:rPr lang="en-US" sz="1500" dirty="0">
                <a:solidFill>
                  <a:srgbClr val="111111"/>
                </a:solidFill>
                <a:latin typeface="Calibri" pitchFamily="34" charset="0"/>
                <a:ea typeface="Calibri" pitchFamily="34" charset="-122"/>
                <a:cs typeface="Calibri" pitchFamily="34" charset="-120"/>
              </a:rPr>
              <a:t>Address lifestyle needs</a:t>
            </a:r>
            <a:endParaRPr lang="en-US" sz="1500" dirty="0"/>
          </a:p>
        </p:txBody>
      </p:sp>
      <p:sp>
        <p:nvSpPr>
          <p:cNvPr id="45" name="Shape 43"/>
          <p:cNvSpPr/>
          <p:nvPr/>
        </p:nvSpPr>
        <p:spPr>
          <a:xfrm>
            <a:off x="6172200" y="4114800"/>
            <a:ext cx="5486400" cy="0"/>
          </a:xfrm>
          <a:prstGeom prst="line">
            <a:avLst/>
          </a:prstGeom>
          <a:noFill/>
          <a:ln w="5080">
            <a:solidFill>
              <a:srgbClr val="BFBFBF"/>
            </a:solidFill>
            <a:prstDash val="solid"/>
          </a:ln>
        </p:spPr>
      </p:sp>
      <p:sp>
        <p:nvSpPr>
          <p:cNvPr id="46" name="Shape 44"/>
          <p:cNvSpPr/>
          <p:nvPr/>
        </p:nvSpPr>
        <p:spPr>
          <a:xfrm>
            <a:off x="5486400" y="4434840"/>
            <a:ext cx="502920" cy="502920"/>
          </a:xfrm>
          <a:prstGeom prst="ellipse">
            <a:avLst/>
          </a:prstGeom>
          <a:solidFill>
            <a:srgbClr val="111111"/>
          </a:solidFill>
          <a:ln w="12700">
            <a:solidFill>
              <a:srgbClr val="111111"/>
            </a:solidFill>
            <a:prstDash val="solid"/>
          </a:ln>
        </p:spPr>
      </p:sp>
      <p:sp>
        <p:nvSpPr>
          <p:cNvPr id="47" name="Text 45"/>
          <p:cNvSpPr/>
          <p:nvPr/>
        </p:nvSpPr>
        <p:spPr>
          <a:xfrm>
            <a:off x="5486400" y="4434840"/>
            <a:ext cx="50292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48" name="Text 46"/>
          <p:cNvSpPr/>
          <p:nvPr/>
        </p:nvSpPr>
        <p:spPr>
          <a:xfrm>
            <a:off x="6172200" y="4297680"/>
            <a:ext cx="5669280" cy="777240"/>
          </a:xfrm>
          <a:prstGeom prst="rect">
            <a:avLst/>
          </a:prstGeom>
          <a:noFill/>
          <a:ln/>
        </p:spPr>
        <p:txBody>
          <a:bodyPr wrap="square" lIns="0" tIns="0" rIns="0" bIns="0" rtlCol="0" anchor="ctr"/>
          <a:lstStyle/>
          <a:p>
            <a:pPr indent="0" marL="0">
              <a:buNone/>
            </a:pPr>
            <a:r>
              <a:rPr lang="en-US" sz="1500" dirty="0">
                <a:solidFill>
                  <a:srgbClr val="111111"/>
                </a:solidFill>
                <a:latin typeface="Calibri" pitchFamily="34" charset="0"/>
                <a:ea typeface="Calibri" pitchFamily="34" charset="-122"/>
                <a:cs typeface="Calibri" pitchFamily="34" charset="-120"/>
              </a:rPr>
              <a:t>Build stickiness and lifetime value</a:t>
            </a:r>
            <a:endParaRPr lang="en-US" sz="1500" dirty="0"/>
          </a:p>
        </p:txBody>
      </p:sp>
      <p:sp>
        <p:nvSpPr>
          <p:cNvPr id="49" name="Shape 47"/>
          <p:cNvSpPr/>
          <p:nvPr/>
        </p:nvSpPr>
        <p:spPr>
          <a:xfrm>
            <a:off x="6172200" y="5074920"/>
            <a:ext cx="5486400" cy="0"/>
          </a:xfrm>
          <a:prstGeom prst="line">
            <a:avLst/>
          </a:prstGeom>
          <a:noFill/>
          <a:ln w="5080">
            <a:solidFill>
              <a:srgbClr val="BFBFBF"/>
            </a:solidFill>
            <a:prstDash val="solid"/>
          </a:ln>
        </p:spPr>
      </p:sp>
      <p:sp>
        <p:nvSpPr>
          <p:cNvPr id="50" name="Shape 48"/>
          <p:cNvSpPr/>
          <p:nvPr/>
        </p:nvSpPr>
        <p:spPr>
          <a:xfrm>
            <a:off x="5486400" y="5394960"/>
            <a:ext cx="502920" cy="502920"/>
          </a:xfrm>
          <a:prstGeom prst="ellipse">
            <a:avLst/>
          </a:prstGeom>
          <a:solidFill>
            <a:srgbClr val="111111"/>
          </a:solidFill>
          <a:ln w="12700">
            <a:solidFill>
              <a:srgbClr val="111111"/>
            </a:solidFill>
            <a:prstDash val="solid"/>
          </a:ln>
        </p:spPr>
      </p:sp>
      <p:sp>
        <p:nvSpPr>
          <p:cNvPr id="51" name="Text 49"/>
          <p:cNvSpPr/>
          <p:nvPr/>
        </p:nvSpPr>
        <p:spPr>
          <a:xfrm>
            <a:off x="5486400" y="5394960"/>
            <a:ext cx="50292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52" name="Text 50"/>
          <p:cNvSpPr/>
          <p:nvPr/>
        </p:nvSpPr>
        <p:spPr>
          <a:xfrm>
            <a:off x="6172200" y="5257800"/>
            <a:ext cx="5669280" cy="777240"/>
          </a:xfrm>
          <a:prstGeom prst="rect">
            <a:avLst/>
          </a:prstGeom>
          <a:noFill/>
          <a:ln/>
        </p:spPr>
        <p:txBody>
          <a:bodyPr wrap="square" lIns="0" tIns="0" rIns="0" bIns="0" rtlCol="0" anchor="ctr"/>
          <a:lstStyle/>
          <a:p>
            <a:pPr indent="0" marL="0">
              <a:buNone/>
            </a:pPr>
            <a:r>
              <a:rPr lang="en-US" sz="1500" dirty="0">
                <a:solidFill>
                  <a:srgbClr val="111111"/>
                </a:solidFill>
                <a:latin typeface="Calibri" pitchFamily="34" charset="0"/>
                <a:ea typeface="Calibri" pitchFamily="34" charset="-122"/>
                <a:cs typeface="Calibri" pitchFamily="34" charset="-120"/>
              </a:rPr>
              <a:t>Create margin-enhancing revenue streams</a:t>
            </a:r>
            <a:endParaRPr lang="en-US" sz="1500" dirty="0"/>
          </a:p>
        </p:txBody>
      </p:sp>
      <p:sp>
        <p:nvSpPr>
          <p:cNvPr id="53" name="Shape 51"/>
          <p:cNvSpPr/>
          <p:nvPr/>
        </p:nvSpPr>
        <p:spPr>
          <a:xfrm>
            <a:off x="6172200" y="6035040"/>
            <a:ext cx="5486400" cy="0"/>
          </a:xfrm>
          <a:prstGeom prst="line">
            <a:avLst/>
          </a:prstGeom>
          <a:noFill/>
          <a:ln w="5080">
            <a:solidFill>
              <a:srgbClr val="BFBFBF"/>
            </a:solidFill>
            <a:prstDash val="solid"/>
          </a:ln>
        </p:spPr>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20040" y="182880"/>
            <a:ext cx="1417320" cy="438912"/>
          </a:xfrm>
          <a:prstGeom prst="rect">
            <a:avLst/>
          </a:prstGeom>
          <a:solidFill>
            <a:srgbClr val="111111"/>
          </a:solidFill>
          <a:ln w="12700">
            <a:solidFill>
              <a:srgbClr val="111111"/>
            </a:solidFill>
            <a:prstDash val="solid"/>
          </a:ln>
        </p:spPr>
      </p:sp>
      <p:sp>
        <p:nvSpPr>
          <p:cNvPr id="3" name="Text 1"/>
          <p:cNvSpPr/>
          <p:nvPr/>
        </p:nvSpPr>
        <p:spPr>
          <a:xfrm>
            <a:off x="320040" y="182880"/>
            <a:ext cx="1417320" cy="438912"/>
          </a:xfrm>
          <a:prstGeom prst="rect">
            <a:avLst/>
          </a:prstGeom>
          <a:noFill/>
          <a:ln/>
        </p:spPr>
        <p:txBody>
          <a:bodyPr wrap="square" lIns="0" tIns="0" rIns="0" bIns="0" rtlCol="0" anchor="ctr"/>
          <a:lstStyle/>
          <a:p>
            <a:pPr algn="ctr" indent="0" marL="0">
              <a:buNone/>
            </a:pPr>
            <a:r>
              <a:rPr lang="en-US" sz="1500" b="1" spc="400" kern="0" dirty="0">
                <a:solidFill>
                  <a:srgbClr val="FFFFFF"/>
                </a:solidFill>
                <a:latin typeface="Calibri" pitchFamily="34" charset="0"/>
                <a:ea typeface="Calibri" pitchFamily="34" charset="-122"/>
                <a:cs typeface="Calibri" pitchFamily="34" charset="-120"/>
              </a:rPr>
              <a:t>ARENA
</a:t>
            </a:r>
            <a:pPr algn="ctr" indent="0" marL="0">
              <a:buNone/>
            </a:pPr>
            <a:r>
              <a:rPr lang="en-US" sz="600" spc="400" kern="0" dirty="0">
                <a:solidFill>
                  <a:srgbClr val="FFFFFF"/>
                </a:solidFill>
                <a:latin typeface="Calibri" pitchFamily="34" charset="0"/>
                <a:ea typeface="Calibri" pitchFamily="34" charset="-122"/>
                <a:cs typeface="Calibri" pitchFamily="34" charset="-120"/>
              </a:rPr>
              <a:t>H O L D I N G S</a:t>
            </a:r>
            <a:endParaRPr lang="en-US" sz="1500" dirty="0"/>
          </a:p>
        </p:txBody>
      </p:sp>
      <p:sp>
        <p:nvSpPr>
          <p:cNvPr id="4" name="Shape 2"/>
          <p:cNvSpPr/>
          <p:nvPr/>
        </p:nvSpPr>
        <p:spPr>
          <a:xfrm>
            <a:off x="9677095" y="246888"/>
            <a:ext cx="201168" cy="201168"/>
          </a:xfrm>
          <a:prstGeom prst="ellipse">
            <a:avLst/>
          </a:prstGeom>
          <a:solidFill>
            <a:srgbClr val="111111"/>
          </a:solidFill>
          <a:ln w="12700">
            <a:solidFill>
              <a:srgbClr val="111111"/>
            </a:solidFill>
            <a:prstDash val="solid"/>
          </a:ln>
        </p:spPr>
      </p:sp>
      <p:sp>
        <p:nvSpPr>
          <p:cNvPr id="5" name="Text 3"/>
          <p:cNvSpPr/>
          <p:nvPr/>
        </p:nvSpPr>
        <p:spPr>
          <a:xfrm>
            <a:off x="9923983" y="210312"/>
            <a:ext cx="2011680" cy="274320"/>
          </a:xfrm>
          <a:prstGeom prst="rect">
            <a:avLst/>
          </a:prstGeom>
          <a:noFill/>
          <a:ln/>
        </p:spPr>
        <p:txBody>
          <a:bodyPr wrap="square" lIns="0" tIns="0" rIns="0" bIns="0" rtlCol="0" anchor="ctr"/>
          <a:lstStyle/>
          <a:p>
            <a:pPr algn="l" indent="0" marL="0">
              <a:buNone/>
            </a:pPr>
            <a:r>
              <a:rPr lang="en-US" sz="1000" b="1" i="1" dirty="0">
                <a:solidFill>
                  <a:srgbClr val="111111"/>
                </a:solidFill>
                <a:latin typeface="Calibri" pitchFamily="34" charset="0"/>
                <a:ea typeface="Calibri" pitchFamily="34" charset="-122"/>
                <a:cs typeface="Calibri" pitchFamily="34" charset="-120"/>
              </a:rPr>
              <a:t>#DoingSomethingGreat</a:t>
            </a:r>
            <a:endParaRPr lang="en-US" sz="1000" dirty="0"/>
          </a:p>
        </p:txBody>
      </p:sp>
      <p:sp>
        <p:nvSpPr>
          <p:cNvPr id="6" name="Shape 4"/>
          <p:cNvSpPr/>
          <p:nvPr/>
        </p:nvSpPr>
        <p:spPr>
          <a:xfrm>
            <a:off x="5973775" y="0"/>
            <a:ext cx="6217920" cy="1463040"/>
          </a:xfrm>
          <a:prstGeom prst="rect">
            <a:avLst/>
          </a:prstGeom>
          <a:solidFill>
            <a:srgbClr val="F5F5F5"/>
          </a:solidFill>
          <a:ln w="12700">
            <a:solidFill>
              <a:srgbClr val="F5F5F5"/>
            </a:solidFill>
            <a:prstDash val="solid"/>
          </a:ln>
        </p:spPr>
      </p:sp>
      <p:sp>
        <p:nvSpPr>
          <p:cNvPr id="7" name="Shape 5"/>
          <p:cNvSpPr/>
          <p:nvPr/>
        </p:nvSpPr>
        <p:spPr>
          <a:xfrm>
            <a:off x="6248095" y="0"/>
            <a:ext cx="-1280160" cy="1280160"/>
          </a:xfrm>
          <a:prstGeom prst="line">
            <a:avLst/>
          </a:prstGeom>
          <a:noFill/>
          <a:ln w="9525">
            <a:solidFill>
              <a:srgbClr val="EDEDED"/>
            </a:solidFill>
            <a:prstDash val="solid"/>
          </a:ln>
        </p:spPr>
      </p:sp>
      <p:sp>
        <p:nvSpPr>
          <p:cNvPr id="8" name="Shape 6"/>
          <p:cNvSpPr/>
          <p:nvPr/>
        </p:nvSpPr>
        <p:spPr>
          <a:xfrm>
            <a:off x="6659575" y="0"/>
            <a:ext cx="-1280160" cy="1280160"/>
          </a:xfrm>
          <a:prstGeom prst="line">
            <a:avLst/>
          </a:prstGeom>
          <a:noFill/>
          <a:ln w="9525">
            <a:solidFill>
              <a:srgbClr val="EDEDED"/>
            </a:solidFill>
            <a:prstDash val="solid"/>
          </a:ln>
        </p:spPr>
      </p:sp>
      <p:sp>
        <p:nvSpPr>
          <p:cNvPr id="9" name="Shape 7"/>
          <p:cNvSpPr/>
          <p:nvPr/>
        </p:nvSpPr>
        <p:spPr>
          <a:xfrm>
            <a:off x="7071055" y="0"/>
            <a:ext cx="-1280160" cy="1280160"/>
          </a:xfrm>
          <a:prstGeom prst="line">
            <a:avLst/>
          </a:prstGeom>
          <a:noFill/>
          <a:ln w="9525">
            <a:solidFill>
              <a:srgbClr val="EDEDED"/>
            </a:solidFill>
            <a:prstDash val="solid"/>
          </a:ln>
        </p:spPr>
      </p:sp>
      <p:sp>
        <p:nvSpPr>
          <p:cNvPr id="10" name="Shape 8"/>
          <p:cNvSpPr/>
          <p:nvPr/>
        </p:nvSpPr>
        <p:spPr>
          <a:xfrm>
            <a:off x="7482535" y="0"/>
            <a:ext cx="-1280160" cy="1280160"/>
          </a:xfrm>
          <a:prstGeom prst="line">
            <a:avLst/>
          </a:prstGeom>
          <a:noFill/>
          <a:ln w="9525">
            <a:solidFill>
              <a:srgbClr val="EDEDED"/>
            </a:solidFill>
            <a:prstDash val="solid"/>
          </a:ln>
        </p:spPr>
      </p:sp>
      <p:sp>
        <p:nvSpPr>
          <p:cNvPr id="11" name="Shape 9"/>
          <p:cNvSpPr/>
          <p:nvPr/>
        </p:nvSpPr>
        <p:spPr>
          <a:xfrm>
            <a:off x="7894015" y="0"/>
            <a:ext cx="-1280160" cy="1280160"/>
          </a:xfrm>
          <a:prstGeom prst="line">
            <a:avLst/>
          </a:prstGeom>
          <a:noFill/>
          <a:ln w="9525">
            <a:solidFill>
              <a:srgbClr val="EDEDED"/>
            </a:solidFill>
            <a:prstDash val="solid"/>
          </a:ln>
        </p:spPr>
      </p:sp>
      <p:sp>
        <p:nvSpPr>
          <p:cNvPr id="12" name="Shape 10"/>
          <p:cNvSpPr/>
          <p:nvPr/>
        </p:nvSpPr>
        <p:spPr>
          <a:xfrm>
            <a:off x="8305495" y="0"/>
            <a:ext cx="-1280160" cy="1280160"/>
          </a:xfrm>
          <a:prstGeom prst="line">
            <a:avLst/>
          </a:prstGeom>
          <a:noFill/>
          <a:ln w="9525">
            <a:solidFill>
              <a:srgbClr val="EDEDED"/>
            </a:solidFill>
            <a:prstDash val="solid"/>
          </a:ln>
        </p:spPr>
      </p:sp>
      <p:sp>
        <p:nvSpPr>
          <p:cNvPr id="13" name="Shape 11"/>
          <p:cNvSpPr/>
          <p:nvPr/>
        </p:nvSpPr>
        <p:spPr>
          <a:xfrm>
            <a:off x="8716975" y="0"/>
            <a:ext cx="-1280160" cy="1280160"/>
          </a:xfrm>
          <a:prstGeom prst="line">
            <a:avLst/>
          </a:prstGeom>
          <a:noFill/>
          <a:ln w="9525">
            <a:solidFill>
              <a:srgbClr val="EDEDED"/>
            </a:solidFill>
            <a:prstDash val="solid"/>
          </a:ln>
        </p:spPr>
      </p:sp>
      <p:sp>
        <p:nvSpPr>
          <p:cNvPr id="14" name="Shape 12"/>
          <p:cNvSpPr/>
          <p:nvPr/>
        </p:nvSpPr>
        <p:spPr>
          <a:xfrm>
            <a:off x="9128455" y="0"/>
            <a:ext cx="-1280160" cy="1280160"/>
          </a:xfrm>
          <a:prstGeom prst="line">
            <a:avLst/>
          </a:prstGeom>
          <a:noFill/>
          <a:ln w="9525">
            <a:solidFill>
              <a:srgbClr val="EDEDED"/>
            </a:solidFill>
            <a:prstDash val="solid"/>
          </a:ln>
        </p:spPr>
      </p:sp>
      <p:sp>
        <p:nvSpPr>
          <p:cNvPr id="15" name="Shape 13"/>
          <p:cNvSpPr/>
          <p:nvPr/>
        </p:nvSpPr>
        <p:spPr>
          <a:xfrm>
            <a:off x="9539935" y="0"/>
            <a:ext cx="-1280160" cy="1280160"/>
          </a:xfrm>
          <a:prstGeom prst="line">
            <a:avLst/>
          </a:prstGeom>
          <a:noFill/>
          <a:ln w="9525">
            <a:solidFill>
              <a:srgbClr val="EDEDED"/>
            </a:solidFill>
            <a:prstDash val="solid"/>
          </a:ln>
        </p:spPr>
      </p:sp>
      <p:sp>
        <p:nvSpPr>
          <p:cNvPr id="16" name="Shape 14"/>
          <p:cNvSpPr/>
          <p:nvPr/>
        </p:nvSpPr>
        <p:spPr>
          <a:xfrm>
            <a:off x="9951415" y="0"/>
            <a:ext cx="-1280160" cy="1280160"/>
          </a:xfrm>
          <a:prstGeom prst="line">
            <a:avLst/>
          </a:prstGeom>
          <a:noFill/>
          <a:ln w="9525">
            <a:solidFill>
              <a:srgbClr val="EDEDED"/>
            </a:solidFill>
            <a:prstDash val="solid"/>
          </a:ln>
        </p:spPr>
      </p:sp>
      <p:sp>
        <p:nvSpPr>
          <p:cNvPr id="17" name="Shape 15"/>
          <p:cNvSpPr/>
          <p:nvPr/>
        </p:nvSpPr>
        <p:spPr>
          <a:xfrm>
            <a:off x="10362895" y="0"/>
            <a:ext cx="-1280160" cy="1280160"/>
          </a:xfrm>
          <a:prstGeom prst="line">
            <a:avLst/>
          </a:prstGeom>
          <a:noFill/>
          <a:ln w="9525">
            <a:solidFill>
              <a:srgbClr val="EDEDED"/>
            </a:solidFill>
            <a:prstDash val="solid"/>
          </a:ln>
        </p:spPr>
      </p:sp>
      <p:sp>
        <p:nvSpPr>
          <p:cNvPr id="18" name="Shape 16"/>
          <p:cNvSpPr/>
          <p:nvPr/>
        </p:nvSpPr>
        <p:spPr>
          <a:xfrm>
            <a:off x="10774375" y="0"/>
            <a:ext cx="-1280160" cy="1280160"/>
          </a:xfrm>
          <a:prstGeom prst="line">
            <a:avLst/>
          </a:prstGeom>
          <a:noFill/>
          <a:ln w="9525">
            <a:solidFill>
              <a:srgbClr val="EDEDED"/>
            </a:solidFill>
            <a:prstDash val="solid"/>
          </a:ln>
        </p:spPr>
      </p:sp>
      <p:sp>
        <p:nvSpPr>
          <p:cNvPr id="19" name="Shape 17"/>
          <p:cNvSpPr/>
          <p:nvPr/>
        </p:nvSpPr>
        <p:spPr>
          <a:xfrm>
            <a:off x="11185855" y="0"/>
            <a:ext cx="-1280160" cy="1280160"/>
          </a:xfrm>
          <a:prstGeom prst="line">
            <a:avLst/>
          </a:prstGeom>
          <a:noFill/>
          <a:ln w="9525">
            <a:solidFill>
              <a:srgbClr val="EDEDED"/>
            </a:solidFill>
            <a:prstDash val="solid"/>
          </a:ln>
        </p:spPr>
      </p:sp>
      <p:sp>
        <p:nvSpPr>
          <p:cNvPr id="20" name="Shape 18"/>
          <p:cNvSpPr/>
          <p:nvPr/>
        </p:nvSpPr>
        <p:spPr>
          <a:xfrm>
            <a:off x="11597335" y="0"/>
            <a:ext cx="-1280160" cy="1280160"/>
          </a:xfrm>
          <a:prstGeom prst="line">
            <a:avLst/>
          </a:prstGeom>
          <a:noFill/>
          <a:ln w="9525">
            <a:solidFill>
              <a:srgbClr val="EDEDED"/>
            </a:solidFill>
            <a:prstDash val="solid"/>
          </a:ln>
        </p:spPr>
      </p:sp>
      <p:sp>
        <p:nvSpPr>
          <p:cNvPr id="21" name="Shape 19"/>
          <p:cNvSpPr/>
          <p:nvPr/>
        </p:nvSpPr>
        <p:spPr>
          <a:xfrm>
            <a:off x="320040" y="1481328"/>
            <a:ext cx="11551615" cy="0"/>
          </a:xfrm>
          <a:prstGeom prst="line">
            <a:avLst/>
          </a:prstGeom>
          <a:noFill/>
          <a:ln w="15875">
            <a:solidFill>
              <a:srgbClr val="111111"/>
            </a:solidFill>
            <a:prstDash val="solid"/>
          </a:ln>
        </p:spPr>
      </p:sp>
      <p:sp>
        <p:nvSpPr>
          <p:cNvPr id="22" name="Text 20"/>
          <p:cNvSpPr/>
          <p:nvPr/>
        </p:nvSpPr>
        <p:spPr>
          <a:xfrm>
            <a:off x="5486400" y="292608"/>
            <a:ext cx="6309360" cy="685800"/>
          </a:xfrm>
          <a:prstGeom prst="rect">
            <a:avLst/>
          </a:prstGeom>
          <a:noFill/>
          <a:ln/>
        </p:spPr>
        <p:txBody>
          <a:bodyPr wrap="square" lIns="0" tIns="0" rIns="0" bIns="0" rtlCol="0" anchor="ctr"/>
          <a:lstStyle/>
          <a:p>
            <a:pPr algn="r" indent="0" marL="0">
              <a:buNone/>
            </a:pPr>
            <a:r>
              <a:rPr lang="en-US" sz="2600" b="1" dirty="0">
                <a:solidFill>
                  <a:srgbClr val="111111"/>
                </a:solidFill>
                <a:latin typeface="Calibri" pitchFamily="34" charset="0"/>
                <a:ea typeface="Calibri" pitchFamily="34" charset="-122"/>
                <a:cs typeface="Calibri" pitchFamily="34" charset="-120"/>
              </a:rPr>
              <a:t>VAS = Revenue + Differentiation + Retention</a:t>
            </a:r>
            <a:endParaRPr lang="en-US" sz="2600" dirty="0"/>
          </a:p>
        </p:txBody>
      </p:sp>
      <p:sp>
        <p:nvSpPr>
          <p:cNvPr id="23" name="Text 21"/>
          <p:cNvSpPr/>
          <p:nvPr/>
        </p:nvSpPr>
        <p:spPr>
          <a:xfrm>
            <a:off x="5486400" y="960120"/>
            <a:ext cx="6309360" cy="365760"/>
          </a:xfrm>
          <a:prstGeom prst="rect">
            <a:avLst/>
          </a:prstGeom>
          <a:noFill/>
          <a:ln/>
        </p:spPr>
        <p:txBody>
          <a:bodyPr wrap="square" lIns="0" tIns="0" rIns="0" bIns="0" rtlCol="0" anchor="ctr"/>
          <a:lstStyle/>
          <a:p>
            <a:pPr algn="r" indent="0" marL="0">
              <a:buNone/>
            </a:pPr>
            <a:r>
              <a:rPr lang="en-US" sz="1200" i="1" dirty="0">
                <a:solidFill>
                  <a:srgbClr val="6B6B6B"/>
                </a:solidFill>
                <a:latin typeface="Calibri" pitchFamily="34" charset="0"/>
                <a:ea typeface="Calibri" pitchFamily="34" charset="-122"/>
                <a:cs typeface="Calibri" pitchFamily="34" charset="-120"/>
              </a:rPr>
              <a:t>Every VAS category maps to a strategic outcome</a:t>
            </a:r>
            <a:endParaRPr lang="en-US" sz="1200" dirty="0"/>
          </a:p>
        </p:txBody>
      </p:sp>
      <p:sp>
        <p:nvSpPr>
          <p:cNvPr id="24" name="Shape 22"/>
          <p:cNvSpPr/>
          <p:nvPr/>
        </p:nvSpPr>
        <p:spPr>
          <a:xfrm>
            <a:off x="320040" y="6355080"/>
            <a:ext cx="11551615" cy="0"/>
          </a:xfrm>
          <a:prstGeom prst="line">
            <a:avLst/>
          </a:prstGeom>
          <a:noFill/>
          <a:ln w="6350">
            <a:solidFill>
              <a:srgbClr val="BFBFBF"/>
            </a:solidFill>
            <a:prstDash val="solid"/>
          </a:ln>
        </p:spPr>
      </p:sp>
      <p:sp>
        <p:nvSpPr>
          <p:cNvPr id="25" name="Shape 23"/>
          <p:cNvSpPr/>
          <p:nvPr/>
        </p:nvSpPr>
        <p:spPr>
          <a:xfrm>
            <a:off x="320040" y="6473952"/>
            <a:ext cx="502920" cy="237744"/>
          </a:xfrm>
          <a:prstGeom prst="rect">
            <a:avLst/>
          </a:prstGeom>
          <a:solidFill>
            <a:srgbClr val="111111"/>
          </a:solidFill>
          <a:ln w="12700">
            <a:solidFill>
              <a:srgbClr val="111111"/>
            </a:solidFill>
            <a:prstDash val="solid"/>
          </a:ln>
        </p:spPr>
      </p:sp>
      <p:sp>
        <p:nvSpPr>
          <p:cNvPr id="26" name="Text 24"/>
          <p:cNvSpPr/>
          <p:nvPr/>
        </p:nvSpPr>
        <p:spPr>
          <a:xfrm>
            <a:off x="320040" y="6473952"/>
            <a:ext cx="502920" cy="237744"/>
          </a:xfrm>
          <a:prstGeom prst="rect">
            <a:avLst/>
          </a:prstGeom>
          <a:noFill/>
          <a:ln/>
        </p:spPr>
        <p:txBody>
          <a:bodyPr wrap="square" lIns="0" tIns="0" rIns="0" bIns="0" rtlCol="0" anchor="ctr"/>
          <a:lstStyle/>
          <a:p>
            <a:pPr algn="ctr" indent="0" marL="0">
              <a:buNone/>
            </a:pPr>
            <a:r>
              <a:rPr lang="en-US" sz="900" b="1" spc="200" kern="0" dirty="0">
                <a:solidFill>
                  <a:srgbClr val="FFFFFF"/>
                </a:solidFill>
                <a:latin typeface="Calibri" pitchFamily="34" charset="0"/>
                <a:ea typeface="Calibri" pitchFamily="34" charset="-122"/>
                <a:cs typeface="Calibri" pitchFamily="34" charset="-120"/>
              </a:rPr>
              <a:t>DSG</a:t>
            </a:r>
            <a:endParaRPr lang="en-US" sz="900" dirty="0"/>
          </a:p>
        </p:txBody>
      </p:sp>
      <p:sp>
        <p:nvSpPr>
          <p:cNvPr id="27" name="Text 25"/>
          <p:cNvSpPr/>
          <p:nvPr/>
        </p:nvSpPr>
        <p:spPr>
          <a:xfrm>
            <a:off x="868680" y="6473952"/>
            <a:ext cx="2194560" cy="237744"/>
          </a:xfrm>
          <a:prstGeom prst="rect">
            <a:avLst/>
          </a:prstGeom>
          <a:noFill/>
          <a:ln/>
        </p:spPr>
        <p:txBody>
          <a:bodyPr wrap="square" lIns="0" tIns="0" rIns="0" bIns="0" rtlCol="0" anchor="ctr"/>
          <a:lstStyle/>
          <a:p>
            <a:pPr indent="0" marL="0">
              <a:buNone/>
            </a:pPr>
            <a:r>
              <a:rPr lang="en-US" sz="650" spc="200" kern="0" dirty="0">
                <a:solidFill>
                  <a:srgbClr val="6B6B6B"/>
                </a:solidFill>
                <a:latin typeface="Calibri" pitchFamily="34" charset="0"/>
                <a:ea typeface="Calibri" pitchFamily="34" charset="-122"/>
                <a:cs typeface="Calibri" pitchFamily="34" charset="-120"/>
              </a:rPr>
              <a:t>DIGITAL SOLUTIONS GROUP</a:t>
            </a:r>
            <a:endParaRPr lang="en-US" sz="650" dirty="0"/>
          </a:p>
        </p:txBody>
      </p:sp>
      <p:sp>
        <p:nvSpPr>
          <p:cNvPr id="28" name="Text 26"/>
          <p:cNvSpPr/>
          <p:nvPr/>
        </p:nvSpPr>
        <p:spPr>
          <a:xfrm>
            <a:off x="4754880" y="6473952"/>
            <a:ext cx="2743200" cy="237744"/>
          </a:xfrm>
          <a:prstGeom prst="rect">
            <a:avLst/>
          </a:prstGeom>
          <a:noFill/>
          <a:ln/>
        </p:spPr>
        <p:txBody>
          <a:bodyPr wrap="square" lIns="0" tIns="0" rIns="0" bIns="0" rtlCol="0" anchor="ctr"/>
          <a:lstStyle/>
          <a:p>
            <a:pPr algn="ctr" indent="0" marL="0">
              <a:buNone/>
            </a:pPr>
            <a:r>
              <a:rPr lang="en-US" sz="1100" b="1" dirty="0">
                <a:solidFill>
                  <a:srgbClr val="111111"/>
                </a:solidFill>
                <a:latin typeface="Calibri" pitchFamily="34" charset="0"/>
                <a:ea typeface="Calibri" pitchFamily="34" charset="-122"/>
                <a:cs typeface="Calibri" pitchFamily="34" charset="-120"/>
              </a:rPr>
              <a:t>digital</a:t>
            </a:r>
            <a:pPr algn="ctr" indent="0" marL="0">
              <a:buNone/>
            </a:pPr>
            <a:r>
              <a:rPr lang="en-US" sz="1100" b="1" dirty="0">
                <a:solidFill>
                  <a:srgbClr val="6B6B6B"/>
                </a:solidFill>
                <a:latin typeface="Calibri" pitchFamily="34" charset="0"/>
                <a:ea typeface="Calibri" pitchFamily="34" charset="-122"/>
                <a:cs typeface="Calibri" pitchFamily="34" charset="-120"/>
              </a:rPr>
              <a:t>mobile</a:t>
            </a:r>
            <a:endParaRPr lang="en-US" sz="1100" dirty="0"/>
          </a:p>
        </p:txBody>
      </p:sp>
      <p:sp>
        <p:nvSpPr>
          <p:cNvPr id="29" name="Shape 27"/>
          <p:cNvSpPr/>
          <p:nvPr/>
        </p:nvSpPr>
        <p:spPr>
          <a:xfrm>
            <a:off x="8595360" y="6519672"/>
            <a:ext cx="146304" cy="146304"/>
          </a:xfrm>
          <a:prstGeom prst="ellipse">
            <a:avLst/>
          </a:prstGeom>
          <a:solidFill>
            <a:srgbClr val="111111"/>
          </a:solidFill>
          <a:ln w="12700">
            <a:solidFill>
              <a:srgbClr val="111111"/>
            </a:solidFill>
            <a:prstDash val="solid"/>
          </a:ln>
        </p:spPr>
      </p:sp>
      <p:sp>
        <p:nvSpPr>
          <p:cNvPr id="30" name="Text 28"/>
          <p:cNvSpPr/>
          <p:nvPr/>
        </p:nvSpPr>
        <p:spPr>
          <a:xfrm>
            <a:off x="8778240" y="6473952"/>
            <a:ext cx="2194560" cy="237744"/>
          </a:xfrm>
          <a:prstGeom prst="rect">
            <a:avLst/>
          </a:prstGeom>
          <a:noFill/>
          <a:ln/>
        </p:spPr>
        <p:txBody>
          <a:bodyPr wrap="square" lIns="0" tIns="0" rIns="0" bIns="0" rtlCol="0" anchor="ctr"/>
          <a:lstStyle/>
          <a:p>
            <a:pPr indent="0" marL="0">
              <a:buNone/>
            </a:pPr>
            <a:r>
              <a:rPr lang="en-US" sz="900" i="1" dirty="0">
                <a:solidFill>
                  <a:srgbClr val="111111"/>
                </a:solidFill>
                <a:latin typeface="Calibri" pitchFamily="34" charset="0"/>
                <a:ea typeface="Calibri" pitchFamily="34" charset="-122"/>
                <a:cs typeface="Calibri" pitchFamily="34" charset="-120"/>
              </a:rPr>
              <a:t>#DoingSomethingGreat</a:t>
            </a:r>
            <a:endParaRPr lang="en-US" sz="900" dirty="0"/>
          </a:p>
        </p:txBody>
      </p:sp>
      <p:sp>
        <p:nvSpPr>
          <p:cNvPr id="31" name="Text 29"/>
          <p:cNvSpPr/>
          <p:nvPr/>
        </p:nvSpPr>
        <p:spPr>
          <a:xfrm>
            <a:off x="11002975" y="6473952"/>
            <a:ext cx="914400" cy="237744"/>
          </a:xfrm>
          <a:prstGeom prst="rect">
            <a:avLst/>
          </a:prstGeom>
          <a:noFill/>
          <a:ln/>
        </p:spPr>
        <p:txBody>
          <a:bodyPr wrap="square" lIns="0" tIns="0" rIns="0" bIns="0" rtlCol="0" anchor="ctr"/>
          <a:lstStyle/>
          <a:p>
            <a:pPr algn="r" indent="0" marL="0">
              <a:buNone/>
            </a:pPr>
            <a:r>
              <a:rPr lang="en-US" sz="800" dirty="0">
                <a:solidFill>
                  <a:srgbClr val="6B6B6B"/>
                </a:solidFill>
                <a:latin typeface="Calibri" pitchFamily="34" charset="0"/>
                <a:ea typeface="Calibri" pitchFamily="34" charset="-122"/>
                <a:cs typeface="Calibri" pitchFamily="34" charset="-120"/>
              </a:rPr>
              <a:t>12 / 20</a:t>
            </a:r>
            <a:endParaRPr lang="en-US" sz="800" dirty="0"/>
          </a:p>
        </p:txBody>
      </p:sp>
      <p:sp>
        <p:nvSpPr>
          <p:cNvPr id="32" name="Shape 30"/>
          <p:cNvSpPr/>
          <p:nvPr/>
        </p:nvSpPr>
        <p:spPr>
          <a:xfrm>
            <a:off x="502920" y="1828800"/>
            <a:ext cx="11155680" cy="685800"/>
          </a:xfrm>
          <a:prstGeom prst="rect">
            <a:avLst/>
          </a:prstGeom>
          <a:solidFill>
            <a:srgbClr val="111111"/>
          </a:solidFill>
          <a:ln w="12700">
            <a:solidFill>
              <a:srgbClr val="111111"/>
            </a:solidFill>
            <a:prstDash val="solid"/>
          </a:ln>
        </p:spPr>
      </p:sp>
      <p:sp>
        <p:nvSpPr>
          <p:cNvPr id="33" name="Text 31"/>
          <p:cNvSpPr/>
          <p:nvPr/>
        </p:nvSpPr>
        <p:spPr>
          <a:xfrm>
            <a:off x="502920" y="1828800"/>
            <a:ext cx="11155680" cy="68580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VAS  =  </a:t>
            </a:r>
            <a:pPr algn="ctr" indent="0" marL="0">
              <a:buNone/>
            </a:pPr>
            <a:r>
              <a:rPr lang="en-US" sz="2000" b="1" i="1" dirty="0">
                <a:solidFill>
                  <a:srgbClr val="FFFFFF"/>
                </a:solidFill>
                <a:latin typeface="Calibri" pitchFamily="34" charset="0"/>
                <a:ea typeface="Calibri" pitchFamily="34" charset="-122"/>
                <a:cs typeface="Calibri" pitchFamily="34" charset="-120"/>
              </a:rPr>
              <a:t>Revenue</a:t>
            </a:r>
            <a:pPr algn="ctr" indent="0" marL="0">
              <a:buNone/>
            </a:pPr>
            <a:r>
              <a:rPr lang="en-US" sz="2000" b="1" dirty="0">
                <a:solidFill>
                  <a:srgbClr val="D9D9D9"/>
                </a:solidFill>
                <a:latin typeface="Calibri" pitchFamily="34" charset="0"/>
                <a:ea typeface="Calibri" pitchFamily="34" charset="-122"/>
                <a:cs typeface="Calibri" pitchFamily="34" charset="-120"/>
              </a:rPr>
              <a:t>  +  </a:t>
            </a:r>
            <a:pPr algn="ctr" indent="0" marL="0">
              <a:buNone/>
            </a:pPr>
            <a:r>
              <a:rPr lang="en-US" sz="2000" b="1" i="1" dirty="0">
                <a:solidFill>
                  <a:srgbClr val="FFFFFF"/>
                </a:solidFill>
                <a:latin typeface="Calibri" pitchFamily="34" charset="0"/>
                <a:ea typeface="Calibri" pitchFamily="34" charset="-122"/>
                <a:cs typeface="Calibri" pitchFamily="34" charset="-120"/>
              </a:rPr>
              <a:t>Differentiation</a:t>
            </a:r>
            <a:pPr algn="ctr" indent="0" marL="0">
              <a:buNone/>
            </a:pPr>
            <a:r>
              <a:rPr lang="en-US" sz="2000" b="1" dirty="0">
                <a:solidFill>
                  <a:srgbClr val="D9D9D9"/>
                </a:solidFill>
                <a:latin typeface="Calibri" pitchFamily="34" charset="0"/>
                <a:ea typeface="Calibri" pitchFamily="34" charset="-122"/>
                <a:cs typeface="Calibri" pitchFamily="34" charset="-120"/>
              </a:rPr>
              <a:t>  +  </a:t>
            </a:r>
            <a:pPr algn="ctr" indent="0" marL="0">
              <a:buNone/>
            </a:pPr>
            <a:r>
              <a:rPr lang="en-US" sz="2000" b="1" i="1" dirty="0">
                <a:solidFill>
                  <a:srgbClr val="FFFFFF"/>
                </a:solidFill>
                <a:latin typeface="Calibri" pitchFamily="34" charset="0"/>
                <a:ea typeface="Calibri" pitchFamily="34" charset="-122"/>
                <a:cs typeface="Calibri" pitchFamily="34" charset="-120"/>
              </a:rPr>
              <a:t>Retention</a:t>
            </a:r>
            <a:endParaRPr lang="en-US" sz="20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02920" y="2834640"/>
          <a:ext cx="11155680" cy="914400"/>
        </p:xfrm>
        <a:graphic>
          <a:graphicData uri="http://schemas.openxmlformats.org/drawingml/2006/table">
            <a:tbl>
              <a:tblPr/>
              <a:tblGrid>
                <a:gridCol w="3840480"/>
                <a:gridCol w="7315200"/>
              </a:tblGrid>
              <a:tr h="50292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Strategic outcome</a:t>
                      </a:r>
                      <a:endParaRPr lang="en-US" sz="1100" dirty="0">
                        <a:latin typeface="Calibri" charset="0"/>
                        <a:ea typeface="Calibri" charset="0"/>
                        <a:cs typeface="Calibri" charset="0"/>
                      </a:endParaRPr>
                    </a:p>
                  </a:txBody>
                  <a:tcPr marL="76200" marR="76200" marT="76200" marB="762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11111"/>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VAS enablers</a:t>
                      </a:r>
                      <a:endParaRPr lang="en-US" sz="1100" dirty="0">
                        <a:latin typeface="Calibri" charset="0"/>
                        <a:ea typeface="Calibri" charset="0"/>
                        <a:cs typeface="Calibri" charset="0"/>
                      </a:endParaRPr>
                    </a:p>
                  </a:txBody>
                  <a:tcPr marL="76200" marR="76200" marT="76200" marB="762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11111"/>
                    </a:solidFill>
                  </a:tcPr>
                </a:tc>
              </a:tr>
              <a:tr h="502920">
                <a:tc>
                  <a:txBody>
                    <a:bodyPr/>
                    <a:lstStyle/>
                    <a:p>
                      <a:pPr indent="0" marL="0">
                        <a:buNone/>
                      </a:pPr>
                      <a:r>
                        <a:rPr lang="en-US" sz="1200" b="1" dirty="0">
                          <a:solidFill>
                            <a:srgbClr val="111111"/>
                          </a:solidFill>
                          <a:latin typeface="Calibri" pitchFamily="34" charset="0"/>
                          <a:ea typeface="Calibri" pitchFamily="34" charset="-122"/>
                          <a:cs typeface="Calibri" pitchFamily="34" charset="-120"/>
                        </a:rPr>
                        <a:t>New revenue streams</a:t>
                      </a:r>
                      <a:endParaRPr lang="en-US" sz="1200" dirty="0">
                        <a:latin typeface="Calibri" charset="0"/>
                        <a:ea typeface="Calibri" charset="0"/>
                        <a:cs typeface="Calibri" charset="0"/>
                      </a:endParaRPr>
                    </a:p>
                  </a:txBody>
                  <a:tcPr marL="76200" marR="76200" marT="76200" marB="762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200" dirty="0">
                          <a:solidFill>
                            <a:srgbClr val="444444"/>
                          </a:solidFill>
                          <a:latin typeface="Calibri" pitchFamily="34" charset="0"/>
                          <a:ea typeface="Calibri" pitchFamily="34" charset="-122"/>
                          <a:cs typeface="Calibri" pitchFamily="34" charset="-120"/>
                        </a:rPr>
                        <a:t>Insurance, OTT, cloud storage, security, eSIM</a:t>
                      </a:r>
                      <a:endParaRPr lang="en-US" sz="1200" dirty="0">
                        <a:latin typeface="Calibri" charset="0"/>
                        <a:ea typeface="Calibri" charset="0"/>
                        <a:cs typeface="Calibri" charset="0"/>
                      </a:endParaRPr>
                    </a:p>
                  </a:txBody>
                  <a:tcPr marL="76200" marR="76200" marT="76200" marB="762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r>
              <a:tr h="502920">
                <a:tc>
                  <a:txBody>
                    <a:bodyPr/>
                    <a:lstStyle/>
                    <a:p>
                      <a:pPr indent="0" marL="0">
                        <a:buNone/>
                      </a:pPr>
                      <a:r>
                        <a:rPr lang="en-US" sz="1200" b="1" dirty="0">
                          <a:solidFill>
                            <a:srgbClr val="111111"/>
                          </a:solidFill>
                          <a:latin typeface="Calibri" pitchFamily="34" charset="0"/>
                          <a:ea typeface="Calibri" pitchFamily="34" charset="-122"/>
                          <a:cs typeface="Calibri" pitchFamily="34" charset="-120"/>
                        </a:rPr>
                        <a:t>Customer stickiness</a:t>
                      </a:r>
                      <a:endParaRPr lang="en-US" sz="1200" dirty="0">
                        <a:latin typeface="Calibri" charset="0"/>
                        <a:ea typeface="Calibri" charset="0"/>
                        <a:cs typeface="Calibri" charset="0"/>
                      </a:endParaRPr>
                    </a:p>
                  </a:txBody>
                  <a:tcPr marL="76200" marR="76200" marT="76200" marB="762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5F5F5"/>
                    </a:solidFill>
                  </a:tcPr>
                </a:tc>
                <a:tc>
                  <a:txBody>
                    <a:bodyPr/>
                    <a:lstStyle/>
                    <a:p>
                      <a:pPr indent="0" marL="0">
                        <a:buNone/>
                      </a:pPr>
                      <a:r>
                        <a:rPr lang="en-US" sz="1200" dirty="0">
                          <a:solidFill>
                            <a:srgbClr val="444444"/>
                          </a:solidFill>
                          <a:latin typeface="Calibri" pitchFamily="34" charset="0"/>
                          <a:ea typeface="Calibri" pitchFamily="34" charset="-122"/>
                          <a:cs typeface="Calibri" pitchFamily="34" charset="-120"/>
                        </a:rPr>
                        <a:t>Loyalty programs, device financing, Safe Family</a:t>
                      </a:r>
                      <a:endParaRPr lang="en-US" sz="1200" dirty="0">
                        <a:latin typeface="Calibri" charset="0"/>
                        <a:ea typeface="Calibri" charset="0"/>
                        <a:cs typeface="Calibri" charset="0"/>
                      </a:endParaRPr>
                    </a:p>
                  </a:txBody>
                  <a:tcPr marL="76200" marR="76200" marT="76200" marB="762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5F5F5"/>
                    </a:solidFill>
                  </a:tcPr>
                </a:tc>
              </a:tr>
              <a:tr h="502920">
                <a:tc>
                  <a:txBody>
                    <a:bodyPr/>
                    <a:lstStyle/>
                    <a:p>
                      <a:pPr indent="0" marL="0">
                        <a:buNone/>
                      </a:pPr>
                      <a:r>
                        <a:rPr lang="en-US" sz="1200" b="1" dirty="0">
                          <a:solidFill>
                            <a:srgbClr val="111111"/>
                          </a:solidFill>
                          <a:latin typeface="Calibri" pitchFamily="34" charset="0"/>
                          <a:ea typeface="Calibri" pitchFamily="34" charset="-122"/>
                          <a:cs typeface="Calibri" pitchFamily="34" charset="-120"/>
                        </a:rPr>
                        <a:t>Higher margins</a:t>
                      </a:r>
                      <a:endParaRPr lang="en-US" sz="1200" dirty="0">
                        <a:latin typeface="Calibri" charset="0"/>
                        <a:ea typeface="Calibri" charset="0"/>
                        <a:cs typeface="Calibri" charset="0"/>
                      </a:endParaRPr>
                    </a:p>
                  </a:txBody>
                  <a:tcPr marL="76200" marR="76200" marT="76200" marB="762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200" dirty="0">
                          <a:solidFill>
                            <a:srgbClr val="444444"/>
                          </a:solidFill>
                          <a:latin typeface="Calibri" pitchFamily="34" charset="0"/>
                          <a:ea typeface="Calibri" pitchFamily="34" charset="-122"/>
                          <a:cs typeface="Calibri" pitchFamily="34" charset="-120"/>
                        </a:rPr>
                        <a:t>Digital-only delivery, low support cost</a:t>
                      </a:r>
                      <a:endParaRPr lang="en-US" sz="1200" dirty="0">
                        <a:latin typeface="Calibri" charset="0"/>
                        <a:ea typeface="Calibri" charset="0"/>
                        <a:cs typeface="Calibri" charset="0"/>
                      </a:endParaRPr>
                    </a:p>
                  </a:txBody>
                  <a:tcPr marL="76200" marR="76200" marT="76200" marB="762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r>
              <a:tr h="502920">
                <a:tc>
                  <a:txBody>
                    <a:bodyPr/>
                    <a:lstStyle/>
                    <a:p>
                      <a:pPr indent="0" marL="0">
                        <a:buNone/>
                      </a:pPr>
                      <a:r>
                        <a:rPr lang="en-US" sz="1200" b="1" dirty="0">
                          <a:solidFill>
                            <a:srgbClr val="111111"/>
                          </a:solidFill>
                          <a:latin typeface="Calibri" pitchFamily="34" charset="0"/>
                          <a:ea typeface="Calibri" pitchFamily="34" charset="-122"/>
                          <a:cs typeface="Calibri" pitchFamily="34" charset="-120"/>
                        </a:rPr>
                        <a:t>Brand differentiation</a:t>
                      </a:r>
                      <a:endParaRPr lang="en-US" sz="1200" dirty="0">
                        <a:latin typeface="Calibri" charset="0"/>
                        <a:ea typeface="Calibri" charset="0"/>
                        <a:cs typeface="Calibri" charset="0"/>
                      </a:endParaRPr>
                    </a:p>
                  </a:txBody>
                  <a:tcPr marL="76200" marR="76200" marT="76200" marB="762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5F5F5"/>
                    </a:solidFill>
                  </a:tcPr>
                </a:tc>
                <a:tc>
                  <a:txBody>
                    <a:bodyPr/>
                    <a:lstStyle/>
                    <a:p>
                      <a:pPr indent="0" marL="0">
                        <a:buNone/>
                      </a:pPr>
                      <a:r>
                        <a:rPr lang="en-US" sz="1200" dirty="0">
                          <a:solidFill>
                            <a:srgbClr val="444444"/>
                          </a:solidFill>
                          <a:latin typeface="Calibri" pitchFamily="34" charset="0"/>
                          <a:ea typeface="Calibri" pitchFamily="34" charset="-122"/>
                          <a:cs typeface="Calibri" pitchFamily="34" charset="-120"/>
                        </a:rPr>
                        <a:t>Tailored bundles, segment-specific CVPs</a:t>
                      </a:r>
                      <a:endParaRPr lang="en-US" sz="1200" dirty="0">
                        <a:latin typeface="Calibri" charset="0"/>
                        <a:ea typeface="Calibri" charset="0"/>
                        <a:cs typeface="Calibri" charset="0"/>
                      </a:endParaRPr>
                    </a:p>
                  </a:txBody>
                  <a:tcPr marL="76200" marR="76200" marT="76200" marB="762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5F5F5"/>
                    </a:solidFill>
                  </a:tcPr>
                </a:tc>
              </a:tr>
              <a:tr h="502920">
                <a:tc>
                  <a:txBody>
                    <a:bodyPr/>
                    <a:lstStyle/>
                    <a:p>
                      <a:pPr indent="0" marL="0">
                        <a:buNone/>
                      </a:pPr>
                      <a:r>
                        <a:rPr lang="en-US" sz="1200" b="1" dirty="0">
                          <a:solidFill>
                            <a:srgbClr val="111111"/>
                          </a:solidFill>
                          <a:latin typeface="Calibri" pitchFamily="34" charset="0"/>
                          <a:ea typeface="Calibri" pitchFamily="34" charset="-122"/>
                          <a:cs typeface="Calibri" pitchFamily="34" charset="-120"/>
                        </a:rPr>
                        <a:t>Lower churn</a:t>
                      </a:r>
                      <a:endParaRPr lang="en-US" sz="1200" dirty="0">
                        <a:latin typeface="Calibri" charset="0"/>
                        <a:ea typeface="Calibri" charset="0"/>
                        <a:cs typeface="Calibri" charset="0"/>
                      </a:endParaRPr>
                    </a:p>
                  </a:txBody>
                  <a:tcPr marL="76200" marR="76200" marT="76200" marB="762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200" dirty="0">
                          <a:solidFill>
                            <a:srgbClr val="444444"/>
                          </a:solidFill>
                          <a:latin typeface="Calibri" pitchFamily="34" charset="0"/>
                          <a:ea typeface="Calibri" pitchFamily="34" charset="-122"/>
                          <a:cs typeface="Calibri" pitchFamily="34" charset="-120"/>
                        </a:rPr>
                        <a:t>Relevant services — daily / weekly use reinforced</a:t>
                      </a:r>
                      <a:endParaRPr lang="en-US" sz="1200" dirty="0">
                        <a:latin typeface="Calibri" charset="0"/>
                        <a:ea typeface="Calibri" charset="0"/>
                        <a:cs typeface="Calibri" charset="0"/>
                      </a:endParaRPr>
                    </a:p>
                  </a:txBody>
                  <a:tcPr marL="76200" marR="76200" marT="76200" marB="762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20040" y="182880"/>
            <a:ext cx="1417320" cy="438912"/>
          </a:xfrm>
          <a:prstGeom prst="rect">
            <a:avLst/>
          </a:prstGeom>
          <a:solidFill>
            <a:srgbClr val="111111"/>
          </a:solidFill>
          <a:ln w="12700">
            <a:solidFill>
              <a:srgbClr val="111111"/>
            </a:solidFill>
            <a:prstDash val="solid"/>
          </a:ln>
        </p:spPr>
      </p:sp>
      <p:sp>
        <p:nvSpPr>
          <p:cNvPr id="3" name="Text 1"/>
          <p:cNvSpPr/>
          <p:nvPr/>
        </p:nvSpPr>
        <p:spPr>
          <a:xfrm>
            <a:off x="320040" y="182880"/>
            <a:ext cx="1417320" cy="438912"/>
          </a:xfrm>
          <a:prstGeom prst="rect">
            <a:avLst/>
          </a:prstGeom>
          <a:noFill/>
          <a:ln/>
        </p:spPr>
        <p:txBody>
          <a:bodyPr wrap="square" lIns="0" tIns="0" rIns="0" bIns="0" rtlCol="0" anchor="ctr"/>
          <a:lstStyle/>
          <a:p>
            <a:pPr algn="ctr" indent="0" marL="0">
              <a:buNone/>
            </a:pPr>
            <a:r>
              <a:rPr lang="en-US" sz="1500" b="1" spc="400" kern="0" dirty="0">
                <a:solidFill>
                  <a:srgbClr val="FFFFFF"/>
                </a:solidFill>
                <a:latin typeface="Calibri" pitchFamily="34" charset="0"/>
                <a:ea typeface="Calibri" pitchFamily="34" charset="-122"/>
                <a:cs typeface="Calibri" pitchFamily="34" charset="-120"/>
              </a:rPr>
              <a:t>ARENA
</a:t>
            </a:r>
            <a:pPr algn="ctr" indent="0" marL="0">
              <a:buNone/>
            </a:pPr>
            <a:r>
              <a:rPr lang="en-US" sz="600" spc="400" kern="0" dirty="0">
                <a:solidFill>
                  <a:srgbClr val="FFFFFF"/>
                </a:solidFill>
                <a:latin typeface="Calibri" pitchFamily="34" charset="0"/>
                <a:ea typeface="Calibri" pitchFamily="34" charset="-122"/>
                <a:cs typeface="Calibri" pitchFamily="34" charset="-120"/>
              </a:rPr>
              <a:t>H O L D I N G S</a:t>
            </a:r>
            <a:endParaRPr lang="en-US" sz="1500" dirty="0"/>
          </a:p>
        </p:txBody>
      </p:sp>
      <p:sp>
        <p:nvSpPr>
          <p:cNvPr id="4" name="Shape 2"/>
          <p:cNvSpPr/>
          <p:nvPr/>
        </p:nvSpPr>
        <p:spPr>
          <a:xfrm>
            <a:off x="9677095" y="246888"/>
            <a:ext cx="201168" cy="201168"/>
          </a:xfrm>
          <a:prstGeom prst="ellipse">
            <a:avLst/>
          </a:prstGeom>
          <a:solidFill>
            <a:srgbClr val="111111"/>
          </a:solidFill>
          <a:ln w="12700">
            <a:solidFill>
              <a:srgbClr val="111111"/>
            </a:solidFill>
            <a:prstDash val="solid"/>
          </a:ln>
        </p:spPr>
      </p:sp>
      <p:sp>
        <p:nvSpPr>
          <p:cNvPr id="5" name="Text 3"/>
          <p:cNvSpPr/>
          <p:nvPr/>
        </p:nvSpPr>
        <p:spPr>
          <a:xfrm>
            <a:off x="9923983" y="210312"/>
            <a:ext cx="2011680" cy="274320"/>
          </a:xfrm>
          <a:prstGeom prst="rect">
            <a:avLst/>
          </a:prstGeom>
          <a:noFill/>
          <a:ln/>
        </p:spPr>
        <p:txBody>
          <a:bodyPr wrap="square" lIns="0" tIns="0" rIns="0" bIns="0" rtlCol="0" anchor="ctr"/>
          <a:lstStyle/>
          <a:p>
            <a:pPr algn="l" indent="0" marL="0">
              <a:buNone/>
            </a:pPr>
            <a:r>
              <a:rPr lang="en-US" sz="1000" b="1" i="1" dirty="0">
                <a:solidFill>
                  <a:srgbClr val="111111"/>
                </a:solidFill>
                <a:latin typeface="Calibri" pitchFamily="34" charset="0"/>
                <a:ea typeface="Calibri" pitchFamily="34" charset="-122"/>
                <a:cs typeface="Calibri" pitchFamily="34" charset="-120"/>
              </a:rPr>
              <a:t>#DoingSomethingGreat</a:t>
            </a:r>
            <a:endParaRPr lang="en-US" sz="1000" dirty="0"/>
          </a:p>
        </p:txBody>
      </p:sp>
      <p:sp>
        <p:nvSpPr>
          <p:cNvPr id="6" name="Shape 4"/>
          <p:cNvSpPr/>
          <p:nvPr/>
        </p:nvSpPr>
        <p:spPr>
          <a:xfrm>
            <a:off x="5973775" y="0"/>
            <a:ext cx="6217920" cy="1463040"/>
          </a:xfrm>
          <a:prstGeom prst="rect">
            <a:avLst/>
          </a:prstGeom>
          <a:solidFill>
            <a:srgbClr val="F5F5F5"/>
          </a:solidFill>
          <a:ln w="12700">
            <a:solidFill>
              <a:srgbClr val="F5F5F5"/>
            </a:solidFill>
            <a:prstDash val="solid"/>
          </a:ln>
        </p:spPr>
      </p:sp>
      <p:sp>
        <p:nvSpPr>
          <p:cNvPr id="7" name="Shape 5"/>
          <p:cNvSpPr/>
          <p:nvPr/>
        </p:nvSpPr>
        <p:spPr>
          <a:xfrm>
            <a:off x="6248095" y="0"/>
            <a:ext cx="-1280160" cy="1280160"/>
          </a:xfrm>
          <a:prstGeom prst="line">
            <a:avLst/>
          </a:prstGeom>
          <a:noFill/>
          <a:ln w="9525">
            <a:solidFill>
              <a:srgbClr val="EDEDED"/>
            </a:solidFill>
            <a:prstDash val="solid"/>
          </a:ln>
        </p:spPr>
      </p:sp>
      <p:sp>
        <p:nvSpPr>
          <p:cNvPr id="8" name="Shape 6"/>
          <p:cNvSpPr/>
          <p:nvPr/>
        </p:nvSpPr>
        <p:spPr>
          <a:xfrm>
            <a:off x="6659575" y="0"/>
            <a:ext cx="-1280160" cy="1280160"/>
          </a:xfrm>
          <a:prstGeom prst="line">
            <a:avLst/>
          </a:prstGeom>
          <a:noFill/>
          <a:ln w="9525">
            <a:solidFill>
              <a:srgbClr val="EDEDED"/>
            </a:solidFill>
            <a:prstDash val="solid"/>
          </a:ln>
        </p:spPr>
      </p:sp>
      <p:sp>
        <p:nvSpPr>
          <p:cNvPr id="9" name="Shape 7"/>
          <p:cNvSpPr/>
          <p:nvPr/>
        </p:nvSpPr>
        <p:spPr>
          <a:xfrm>
            <a:off x="7071055" y="0"/>
            <a:ext cx="-1280160" cy="1280160"/>
          </a:xfrm>
          <a:prstGeom prst="line">
            <a:avLst/>
          </a:prstGeom>
          <a:noFill/>
          <a:ln w="9525">
            <a:solidFill>
              <a:srgbClr val="EDEDED"/>
            </a:solidFill>
            <a:prstDash val="solid"/>
          </a:ln>
        </p:spPr>
      </p:sp>
      <p:sp>
        <p:nvSpPr>
          <p:cNvPr id="10" name="Shape 8"/>
          <p:cNvSpPr/>
          <p:nvPr/>
        </p:nvSpPr>
        <p:spPr>
          <a:xfrm>
            <a:off x="7482535" y="0"/>
            <a:ext cx="-1280160" cy="1280160"/>
          </a:xfrm>
          <a:prstGeom prst="line">
            <a:avLst/>
          </a:prstGeom>
          <a:noFill/>
          <a:ln w="9525">
            <a:solidFill>
              <a:srgbClr val="EDEDED"/>
            </a:solidFill>
            <a:prstDash val="solid"/>
          </a:ln>
        </p:spPr>
      </p:sp>
      <p:sp>
        <p:nvSpPr>
          <p:cNvPr id="11" name="Shape 9"/>
          <p:cNvSpPr/>
          <p:nvPr/>
        </p:nvSpPr>
        <p:spPr>
          <a:xfrm>
            <a:off x="7894015" y="0"/>
            <a:ext cx="-1280160" cy="1280160"/>
          </a:xfrm>
          <a:prstGeom prst="line">
            <a:avLst/>
          </a:prstGeom>
          <a:noFill/>
          <a:ln w="9525">
            <a:solidFill>
              <a:srgbClr val="EDEDED"/>
            </a:solidFill>
            <a:prstDash val="solid"/>
          </a:ln>
        </p:spPr>
      </p:sp>
      <p:sp>
        <p:nvSpPr>
          <p:cNvPr id="12" name="Shape 10"/>
          <p:cNvSpPr/>
          <p:nvPr/>
        </p:nvSpPr>
        <p:spPr>
          <a:xfrm>
            <a:off x="8305495" y="0"/>
            <a:ext cx="-1280160" cy="1280160"/>
          </a:xfrm>
          <a:prstGeom prst="line">
            <a:avLst/>
          </a:prstGeom>
          <a:noFill/>
          <a:ln w="9525">
            <a:solidFill>
              <a:srgbClr val="EDEDED"/>
            </a:solidFill>
            <a:prstDash val="solid"/>
          </a:ln>
        </p:spPr>
      </p:sp>
      <p:sp>
        <p:nvSpPr>
          <p:cNvPr id="13" name="Shape 11"/>
          <p:cNvSpPr/>
          <p:nvPr/>
        </p:nvSpPr>
        <p:spPr>
          <a:xfrm>
            <a:off x="8716975" y="0"/>
            <a:ext cx="-1280160" cy="1280160"/>
          </a:xfrm>
          <a:prstGeom prst="line">
            <a:avLst/>
          </a:prstGeom>
          <a:noFill/>
          <a:ln w="9525">
            <a:solidFill>
              <a:srgbClr val="EDEDED"/>
            </a:solidFill>
            <a:prstDash val="solid"/>
          </a:ln>
        </p:spPr>
      </p:sp>
      <p:sp>
        <p:nvSpPr>
          <p:cNvPr id="14" name="Shape 12"/>
          <p:cNvSpPr/>
          <p:nvPr/>
        </p:nvSpPr>
        <p:spPr>
          <a:xfrm>
            <a:off x="9128455" y="0"/>
            <a:ext cx="-1280160" cy="1280160"/>
          </a:xfrm>
          <a:prstGeom prst="line">
            <a:avLst/>
          </a:prstGeom>
          <a:noFill/>
          <a:ln w="9525">
            <a:solidFill>
              <a:srgbClr val="EDEDED"/>
            </a:solidFill>
            <a:prstDash val="solid"/>
          </a:ln>
        </p:spPr>
      </p:sp>
      <p:sp>
        <p:nvSpPr>
          <p:cNvPr id="15" name="Shape 13"/>
          <p:cNvSpPr/>
          <p:nvPr/>
        </p:nvSpPr>
        <p:spPr>
          <a:xfrm>
            <a:off x="9539935" y="0"/>
            <a:ext cx="-1280160" cy="1280160"/>
          </a:xfrm>
          <a:prstGeom prst="line">
            <a:avLst/>
          </a:prstGeom>
          <a:noFill/>
          <a:ln w="9525">
            <a:solidFill>
              <a:srgbClr val="EDEDED"/>
            </a:solidFill>
            <a:prstDash val="solid"/>
          </a:ln>
        </p:spPr>
      </p:sp>
      <p:sp>
        <p:nvSpPr>
          <p:cNvPr id="16" name="Shape 14"/>
          <p:cNvSpPr/>
          <p:nvPr/>
        </p:nvSpPr>
        <p:spPr>
          <a:xfrm>
            <a:off x="9951415" y="0"/>
            <a:ext cx="-1280160" cy="1280160"/>
          </a:xfrm>
          <a:prstGeom prst="line">
            <a:avLst/>
          </a:prstGeom>
          <a:noFill/>
          <a:ln w="9525">
            <a:solidFill>
              <a:srgbClr val="EDEDED"/>
            </a:solidFill>
            <a:prstDash val="solid"/>
          </a:ln>
        </p:spPr>
      </p:sp>
      <p:sp>
        <p:nvSpPr>
          <p:cNvPr id="17" name="Shape 15"/>
          <p:cNvSpPr/>
          <p:nvPr/>
        </p:nvSpPr>
        <p:spPr>
          <a:xfrm>
            <a:off x="10362895" y="0"/>
            <a:ext cx="-1280160" cy="1280160"/>
          </a:xfrm>
          <a:prstGeom prst="line">
            <a:avLst/>
          </a:prstGeom>
          <a:noFill/>
          <a:ln w="9525">
            <a:solidFill>
              <a:srgbClr val="EDEDED"/>
            </a:solidFill>
            <a:prstDash val="solid"/>
          </a:ln>
        </p:spPr>
      </p:sp>
      <p:sp>
        <p:nvSpPr>
          <p:cNvPr id="18" name="Shape 16"/>
          <p:cNvSpPr/>
          <p:nvPr/>
        </p:nvSpPr>
        <p:spPr>
          <a:xfrm>
            <a:off x="10774375" y="0"/>
            <a:ext cx="-1280160" cy="1280160"/>
          </a:xfrm>
          <a:prstGeom prst="line">
            <a:avLst/>
          </a:prstGeom>
          <a:noFill/>
          <a:ln w="9525">
            <a:solidFill>
              <a:srgbClr val="EDEDED"/>
            </a:solidFill>
            <a:prstDash val="solid"/>
          </a:ln>
        </p:spPr>
      </p:sp>
      <p:sp>
        <p:nvSpPr>
          <p:cNvPr id="19" name="Shape 17"/>
          <p:cNvSpPr/>
          <p:nvPr/>
        </p:nvSpPr>
        <p:spPr>
          <a:xfrm>
            <a:off x="11185855" y="0"/>
            <a:ext cx="-1280160" cy="1280160"/>
          </a:xfrm>
          <a:prstGeom prst="line">
            <a:avLst/>
          </a:prstGeom>
          <a:noFill/>
          <a:ln w="9525">
            <a:solidFill>
              <a:srgbClr val="EDEDED"/>
            </a:solidFill>
            <a:prstDash val="solid"/>
          </a:ln>
        </p:spPr>
      </p:sp>
      <p:sp>
        <p:nvSpPr>
          <p:cNvPr id="20" name="Shape 18"/>
          <p:cNvSpPr/>
          <p:nvPr/>
        </p:nvSpPr>
        <p:spPr>
          <a:xfrm>
            <a:off x="11597335" y="0"/>
            <a:ext cx="-1280160" cy="1280160"/>
          </a:xfrm>
          <a:prstGeom prst="line">
            <a:avLst/>
          </a:prstGeom>
          <a:noFill/>
          <a:ln w="9525">
            <a:solidFill>
              <a:srgbClr val="EDEDED"/>
            </a:solidFill>
            <a:prstDash val="solid"/>
          </a:ln>
        </p:spPr>
      </p:sp>
      <p:sp>
        <p:nvSpPr>
          <p:cNvPr id="21" name="Shape 19"/>
          <p:cNvSpPr/>
          <p:nvPr/>
        </p:nvSpPr>
        <p:spPr>
          <a:xfrm>
            <a:off x="320040" y="1481328"/>
            <a:ext cx="11551615" cy="0"/>
          </a:xfrm>
          <a:prstGeom prst="line">
            <a:avLst/>
          </a:prstGeom>
          <a:noFill/>
          <a:ln w="15875">
            <a:solidFill>
              <a:srgbClr val="111111"/>
            </a:solidFill>
            <a:prstDash val="solid"/>
          </a:ln>
        </p:spPr>
      </p:sp>
      <p:sp>
        <p:nvSpPr>
          <p:cNvPr id="22" name="Text 20"/>
          <p:cNvSpPr/>
          <p:nvPr/>
        </p:nvSpPr>
        <p:spPr>
          <a:xfrm>
            <a:off x="5486400" y="292608"/>
            <a:ext cx="6309360" cy="685800"/>
          </a:xfrm>
          <a:prstGeom prst="rect">
            <a:avLst/>
          </a:prstGeom>
          <a:noFill/>
          <a:ln/>
        </p:spPr>
        <p:txBody>
          <a:bodyPr wrap="square" lIns="0" tIns="0" rIns="0" bIns="0" rtlCol="0" anchor="ctr"/>
          <a:lstStyle/>
          <a:p>
            <a:pPr algn="r" indent="0" marL="0">
              <a:buNone/>
            </a:pPr>
            <a:r>
              <a:rPr lang="en-US" sz="2600" b="1" dirty="0">
                <a:solidFill>
                  <a:srgbClr val="111111"/>
                </a:solidFill>
                <a:latin typeface="Calibri" pitchFamily="34" charset="0"/>
                <a:ea typeface="Calibri" pitchFamily="34" charset="-122"/>
                <a:cs typeface="Calibri" pitchFamily="34" charset="-120"/>
              </a:rPr>
              <a:t>MVNO Strategic CX Imperatives</a:t>
            </a:r>
            <a:endParaRPr lang="en-US" sz="2600" dirty="0"/>
          </a:p>
        </p:txBody>
      </p:sp>
      <p:sp>
        <p:nvSpPr>
          <p:cNvPr id="23" name="Text 21"/>
          <p:cNvSpPr/>
          <p:nvPr/>
        </p:nvSpPr>
        <p:spPr>
          <a:xfrm>
            <a:off x="5486400" y="960120"/>
            <a:ext cx="6309360" cy="365760"/>
          </a:xfrm>
          <a:prstGeom prst="rect">
            <a:avLst/>
          </a:prstGeom>
          <a:noFill/>
          <a:ln/>
        </p:spPr>
        <p:txBody>
          <a:bodyPr wrap="square" lIns="0" tIns="0" rIns="0" bIns="0" rtlCol="0" anchor="ctr"/>
          <a:lstStyle/>
          <a:p>
            <a:pPr algn="r" indent="0" marL="0">
              <a:buNone/>
            </a:pPr>
            <a:r>
              <a:rPr lang="en-US" sz="1200" i="1" dirty="0">
                <a:solidFill>
                  <a:srgbClr val="6B6B6B"/>
                </a:solidFill>
                <a:latin typeface="Calibri" pitchFamily="34" charset="0"/>
                <a:ea typeface="Calibri" pitchFamily="34" charset="-122"/>
                <a:cs typeface="Calibri" pitchFamily="34" charset="-120"/>
              </a:rPr>
              <a:t>Integrated CX across every touchpoint</a:t>
            </a:r>
            <a:endParaRPr lang="en-US" sz="1200" dirty="0"/>
          </a:p>
        </p:txBody>
      </p:sp>
      <p:sp>
        <p:nvSpPr>
          <p:cNvPr id="24" name="Shape 22"/>
          <p:cNvSpPr/>
          <p:nvPr/>
        </p:nvSpPr>
        <p:spPr>
          <a:xfrm>
            <a:off x="320040" y="6355080"/>
            <a:ext cx="11551615" cy="0"/>
          </a:xfrm>
          <a:prstGeom prst="line">
            <a:avLst/>
          </a:prstGeom>
          <a:noFill/>
          <a:ln w="6350">
            <a:solidFill>
              <a:srgbClr val="BFBFBF"/>
            </a:solidFill>
            <a:prstDash val="solid"/>
          </a:ln>
        </p:spPr>
      </p:sp>
      <p:sp>
        <p:nvSpPr>
          <p:cNvPr id="25" name="Shape 23"/>
          <p:cNvSpPr/>
          <p:nvPr/>
        </p:nvSpPr>
        <p:spPr>
          <a:xfrm>
            <a:off x="320040" y="6473952"/>
            <a:ext cx="502920" cy="237744"/>
          </a:xfrm>
          <a:prstGeom prst="rect">
            <a:avLst/>
          </a:prstGeom>
          <a:solidFill>
            <a:srgbClr val="111111"/>
          </a:solidFill>
          <a:ln w="12700">
            <a:solidFill>
              <a:srgbClr val="111111"/>
            </a:solidFill>
            <a:prstDash val="solid"/>
          </a:ln>
        </p:spPr>
      </p:sp>
      <p:sp>
        <p:nvSpPr>
          <p:cNvPr id="26" name="Text 24"/>
          <p:cNvSpPr/>
          <p:nvPr/>
        </p:nvSpPr>
        <p:spPr>
          <a:xfrm>
            <a:off x="320040" y="6473952"/>
            <a:ext cx="502920" cy="237744"/>
          </a:xfrm>
          <a:prstGeom prst="rect">
            <a:avLst/>
          </a:prstGeom>
          <a:noFill/>
          <a:ln/>
        </p:spPr>
        <p:txBody>
          <a:bodyPr wrap="square" lIns="0" tIns="0" rIns="0" bIns="0" rtlCol="0" anchor="ctr"/>
          <a:lstStyle/>
          <a:p>
            <a:pPr algn="ctr" indent="0" marL="0">
              <a:buNone/>
            </a:pPr>
            <a:r>
              <a:rPr lang="en-US" sz="900" b="1" spc="200" kern="0" dirty="0">
                <a:solidFill>
                  <a:srgbClr val="FFFFFF"/>
                </a:solidFill>
                <a:latin typeface="Calibri" pitchFamily="34" charset="0"/>
                <a:ea typeface="Calibri" pitchFamily="34" charset="-122"/>
                <a:cs typeface="Calibri" pitchFamily="34" charset="-120"/>
              </a:rPr>
              <a:t>DSG</a:t>
            </a:r>
            <a:endParaRPr lang="en-US" sz="900" dirty="0"/>
          </a:p>
        </p:txBody>
      </p:sp>
      <p:sp>
        <p:nvSpPr>
          <p:cNvPr id="27" name="Text 25"/>
          <p:cNvSpPr/>
          <p:nvPr/>
        </p:nvSpPr>
        <p:spPr>
          <a:xfrm>
            <a:off x="868680" y="6473952"/>
            <a:ext cx="2194560" cy="237744"/>
          </a:xfrm>
          <a:prstGeom prst="rect">
            <a:avLst/>
          </a:prstGeom>
          <a:noFill/>
          <a:ln/>
        </p:spPr>
        <p:txBody>
          <a:bodyPr wrap="square" lIns="0" tIns="0" rIns="0" bIns="0" rtlCol="0" anchor="ctr"/>
          <a:lstStyle/>
          <a:p>
            <a:pPr indent="0" marL="0">
              <a:buNone/>
            </a:pPr>
            <a:r>
              <a:rPr lang="en-US" sz="650" spc="200" kern="0" dirty="0">
                <a:solidFill>
                  <a:srgbClr val="6B6B6B"/>
                </a:solidFill>
                <a:latin typeface="Calibri" pitchFamily="34" charset="0"/>
                <a:ea typeface="Calibri" pitchFamily="34" charset="-122"/>
                <a:cs typeface="Calibri" pitchFamily="34" charset="-120"/>
              </a:rPr>
              <a:t>DIGITAL SOLUTIONS GROUP</a:t>
            </a:r>
            <a:endParaRPr lang="en-US" sz="650" dirty="0"/>
          </a:p>
        </p:txBody>
      </p:sp>
      <p:sp>
        <p:nvSpPr>
          <p:cNvPr id="28" name="Text 26"/>
          <p:cNvSpPr/>
          <p:nvPr/>
        </p:nvSpPr>
        <p:spPr>
          <a:xfrm>
            <a:off x="4754880" y="6473952"/>
            <a:ext cx="2743200" cy="237744"/>
          </a:xfrm>
          <a:prstGeom prst="rect">
            <a:avLst/>
          </a:prstGeom>
          <a:noFill/>
          <a:ln/>
        </p:spPr>
        <p:txBody>
          <a:bodyPr wrap="square" lIns="0" tIns="0" rIns="0" bIns="0" rtlCol="0" anchor="ctr"/>
          <a:lstStyle/>
          <a:p>
            <a:pPr algn="ctr" indent="0" marL="0">
              <a:buNone/>
            </a:pPr>
            <a:r>
              <a:rPr lang="en-US" sz="1100" b="1" dirty="0">
                <a:solidFill>
                  <a:srgbClr val="111111"/>
                </a:solidFill>
                <a:latin typeface="Calibri" pitchFamily="34" charset="0"/>
                <a:ea typeface="Calibri" pitchFamily="34" charset="-122"/>
                <a:cs typeface="Calibri" pitchFamily="34" charset="-120"/>
              </a:rPr>
              <a:t>digital</a:t>
            </a:r>
            <a:pPr algn="ctr" indent="0" marL="0">
              <a:buNone/>
            </a:pPr>
            <a:r>
              <a:rPr lang="en-US" sz="1100" b="1" dirty="0">
                <a:solidFill>
                  <a:srgbClr val="6B6B6B"/>
                </a:solidFill>
                <a:latin typeface="Calibri" pitchFamily="34" charset="0"/>
                <a:ea typeface="Calibri" pitchFamily="34" charset="-122"/>
                <a:cs typeface="Calibri" pitchFamily="34" charset="-120"/>
              </a:rPr>
              <a:t>mobile</a:t>
            </a:r>
            <a:endParaRPr lang="en-US" sz="1100" dirty="0"/>
          </a:p>
        </p:txBody>
      </p:sp>
      <p:sp>
        <p:nvSpPr>
          <p:cNvPr id="29" name="Shape 27"/>
          <p:cNvSpPr/>
          <p:nvPr/>
        </p:nvSpPr>
        <p:spPr>
          <a:xfrm>
            <a:off x="8595360" y="6519672"/>
            <a:ext cx="146304" cy="146304"/>
          </a:xfrm>
          <a:prstGeom prst="ellipse">
            <a:avLst/>
          </a:prstGeom>
          <a:solidFill>
            <a:srgbClr val="111111"/>
          </a:solidFill>
          <a:ln w="12700">
            <a:solidFill>
              <a:srgbClr val="111111"/>
            </a:solidFill>
            <a:prstDash val="solid"/>
          </a:ln>
        </p:spPr>
      </p:sp>
      <p:sp>
        <p:nvSpPr>
          <p:cNvPr id="30" name="Text 28"/>
          <p:cNvSpPr/>
          <p:nvPr/>
        </p:nvSpPr>
        <p:spPr>
          <a:xfrm>
            <a:off x="8778240" y="6473952"/>
            <a:ext cx="2194560" cy="237744"/>
          </a:xfrm>
          <a:prstGeom prst="rect">
            <a:avLst/>
          </a:prstGeom>
          <a:noFill/>
          <a:ln/>
        </p:spPr>
        <p:txBody>
          <a:bodyPr wrap="square" lIns="0" tIns="0" rIns="0" bIns="0" rtlCol="0" anchor="ctr"/>
          <a:lstStyle/>
          <a:p>
            <a:pPr indent="0" marL="0">
              <a:buNone/>
            </a:pPr>
            <a:r>
              <a:rPr lang="en-US" sz="900" i="1" dirty="0">
                <a:solidFill>
                  <a:srgbClr val="111111"/>
                </a:solidFill>
                <a:latin typeface="Calibri" pitchFamily="34" charset="0"/>
                <a:ea typeface="Calibri" pitchFamily="34" charset="-122"/>
                <a:cs typeface="Calibri" pitchFamily="34" charset="-120"/>
              </a:rPr>
              <a:t>#DoingSomethingGreat</a:t>
            </a:r>
            <a:endParaRPr lang="en-US" sz="900" dirty="0"/>
          </a:p>
        </p:txBody>
      </p:sp>
      <p:sp>
        <p:nvSpPr>
          <p:cNvPr id="31" name="Text 29"/>
          <p:cNvSpPr/>
          <p:nvPr/>
        </p:nvSpPr>
        <p:spPr>
          <a:xfrm>
            <a:off x="11002975" y="6473952"/>
            <a:ext cx="914400" cy="237744"/>
          </a:xfrm>
          <a:prstGeom prst="rect">
            <a:avLst/>
          </a:prstGeom>
          <a:noFill/>
          <a:ln/>
        </p:spPr>
        <p:txBody>
          <a:bodyPr wrap="square" lIns="0" tIns="0" rIns="0" bIns="0" rtlCol="0" anchor="ctr"/>
          <a:lstStyle/>
          <a:p>
            <a:pPr algn="r" indent="0" marL="0">
              <a:buNone/>
            </a:pPr>
            <a:r>
              <a:rPr lang="en-US" sz="800" dirty="0">
                <a:solidFill>
                  <a:srgbClr val="6B6B6B"/>
                </a:solidFill>
                <a:latin typeface="Calibri" pitchFamily="34" charset="0"/>
                <a:ea typeface="Calibri" pitchFamily="34" charset="-122"/>
                <a:cs typeface="Calibri" pitchFamily="34" charset="-120"/>
              </a:rPr>
              <a:t>13 / 20</a:t>
            </a:r>
            <a:endParaRPr lang="en-US" sz="800" dirty="0"/>
          </a:p>
        </p:txBody>
      </p:sp>
      <p:sp>
        <p:nvSpPr>
          <p:cNvPr id="32" name="Shape 30"/>
          <p:cNvSpPr/>
          <p:nvPr/>
        </p:nvSpPr>
        <p:spPr>
          <a:xfrm>
            <a:off x="502920" y="2011680"/>
            <a:ext cx="2194560" cy="4114800"/>
          </a:xfrm>
          <a:prstGeom prst="rect">
            <a:avLst/>
          </a:prstGeom>
          <a:solidFill>
            <a:srgbClr val="FFFFFF"/>
          </a:solidFill>
          <a:ln w="9525">
            <a:solidFill>
              <a:srgbClr val="111111"/>
            </a:solidFill>
            <a:prstDash val="solid"/>
          </a:ln>
        </p:spPr>
      </p:sp>
      <p:sp>
        <p:nvSpPr>
          <p:cNvPr id="33" name="Shape 31"/>
          <p:cNvSpPr/>
          <p:nvPr/>
        </p:nvSpPr>
        <p:spPr>
          <a:xfrm>
            <a:off x="502920" y="2011680"/>
            <a:ext cx="2194560" cy="1097280"/>
          </a:xfrm>
          <a:prstGeom prst="rect">
            <a:avLst/>
          </a:prstGeom>
          <a:solidFill>
            <a:srgbClr val="111111"/>
          </a:solidFill>
          <a:ln w="12700">
            <a:solidFill>
              <a:srgbClr val="111111"/>
            </a:solidFill>
            <a:prstDash val="solid"/>
          </a:ln>
        </p:spPr>
      </p:sp>
      <p:sp>
        <p:nvSpPr>
          <p:cNvPr id="34" name="Text 32"/>
          <p:cNvSpPr/>
          <p:nvPr/>
        </p:nvSpPr>
        <p:spPr>
          <a:xfrm>
            <a:off x="502920" y="2148840"/>
            <a:ext cx="2194560" cy="822960"/>
          </a:xfrm>
          <a:prstGeom prst="rect">
            <a:avLst/>
          </a:prstGeom>
          <a:noFill/>
          <a:ln/>
        </p:spPr>
        <p:txBody>
          <a:bodyPr wrap="square" lIns="0" tIns="0" rIns="0" bIns="0" rtlCol="0" anchor="ctr"/>
          <a:lstStyle/>
          <a:p>
            <a:pPr algn="ctr" indent="0" marL="0">
              <a:buNone/>
            </a:pPr>
            <a:r>
              <a:rPr lang="en-US" sz="4800" b="1" dirty="0">
                <a:solidFill>
                  <a:srgbClr val="FFFFFF"/>
                </a:solidFill>
                <a:latin typeface="Georgia" pitchFamily="34" charset="0"/>
                <a:ea typeface="Georgia" pitchFamily="34" charset="-122"/>
                <a:cs typeface="Georgia" pitchFamily="34" charset="-120"/>
              </a:rPr>
              <a:t>1</a:t>
            </a:r>
            <a:endParaRPr lang="en-US" sz="4800" dirty="0"/>
          </a:p>
        </p:txBody>
      </p:sp>
      <p:sp>
        <p:nvSpPr>
          <p:cNvPr id="35" name="Text 33"/>
          <p:cNvSpPr/>
          <p:nvPr/>
        </p:nvSpPr>
        <p:spPr>
          <a:xfrm>
            <a:off x="685800" y="3246120"/>
            <a:ext cx="1828800" cy="2743200"/>
          </a:xfrm>
          <a:prstGeom prst="rect">
            <a:avLst/>
          </a:prstGeom>
          <a:noFill/>
          <a:ln/>
        </p:spPr>
        <p:txBody>
          <a:bodyPr wrap="square" lIns="0" tIns="0" rIns="0" bIns="0" rtlCol="0" anchor="ctr"/>
          <a:lstStyle/>
          <a:p>
            <a:pPr algn="ctr" indent="0" marL="0">
              <a:buNone/>
            </a:pPr>
            <a:r>
              <a:rPr lang="en-US" sz="1200" dirty="0">
                <a:solidFill>
                  <a:srgbClr val="444444"/>
                </a:solidFill>
                <a:latin typeface="Calibri" pitchFamily="34" charset="0"/>
                <a:ea typeface="Calibri" pitchFamily="34" charset="-122"/>
                <a:cs typeface="Calibri" pitchFamily="34" charset="-120"/>
              </a:rPr>
              <a:t>Integrated channels — meeting Stage 3 &amp; 4 MVNO CX maturity</a:t>
            </a:r>
            <a:endParaRPr lang="en-US" sz="1200" dirty="0"/>
          </a:p>
        </p:txBody>
      </p:sp>
      <p:sp>
        <p:nvSpPr>
          <p:cNvPr id="36" name="Shape 34"/>
          <p:cNvSpPr/>
          <p:nvPr/>
        </p:nvSpPr>
        <p:spPr>
          <a:xfrm>
            <a:off x="2807208" y="2011680"/>
            <a:ext cx="2194560" cy="4114800"/>
          </a:xfrm>
          <a:prstGeom prst="rect">
            <a:avLst/>
          </a:prstGeom>
          <a:solidFill>
            <a:srgbClr val="FFFFFF"/>
          </a:solidFill>
          <a:ln w="9525">
            <a:solidFill>
              <a:srgbClr val="111111"/>
            </a:solidFill>
            <a:prstDash val="solid"/>
          </a:ln>
        </p:spPr>
      </p:sp>
      <p:sp>
        <p:nvSpPr>
          <p:cNvPr id="37" name="Shape 35"/>
          <p:cNvSpPr/>
          <p:nvPr/>
        </p:nvSpPr>
        <p:spPr>
          <a:xfrm>
            <a:off x="2807208" y="2011680"/>
            <a:ext cx="2194560" cy="1097280"/>
          </a:xfrm>
          <a:prstGeom prst="rect">
            <a:avLst/>
          </a:prstGeom>
          <a:solidFill>
            <a:srgbClr val="111111"/>
          </a:solidFill>
          <a:ln w="12700">
            <a:solidFill>
              <a:srgbClr val="111111"/>
            </a:solidFill>
            <a:prstDash val="solid"/>
          </a:ln>
        </p:spPr>
      </p:sp>
      <p:sp>
        <p:nvSpPr>
          <p:cNvPr id="38" name="Text 36"/>
          <p:cNvSpPr/>
          <p:nvPr/>
        </p:nvSpPr>
        <p:spPr>
          <a:xfrm>
            <a:off x="2807208" y="2148840"/>
            <a:ext cx="2194560" cy="822960"/>
          </a:xfrm>
          <a:prstGeom prst="rect">
            <a:avLst/>
          </a:prstGeom>
          <a:noFill/>
          <a:ln/>
        </p:spPr>
        <p:txBody>
          <a:bodyPr wrap="square" lIns="0" tIns="0" rIns="0" bIns="0" rtlCol="0" anchor="ctr"/>
          <a:lstStyle/>
          <a:p>
            <a:pPr algn="ctr" indent="0" marL="0">
              <a:buNone/>
            </a:pPr>
            <a:r>
              <a:rPr lang="en-US" sz="4800" b="1" dirty="0">
                <a:solidFill>
                  <a:srgbClr val="FFFFFF"/>
                </a:solidFill>
                <a:latin typeface="Georgia" pitchFamily="34" charset="0"/>
                <a:ea typeface="Georgia" pitchFamily="34" charset="-122"/>
                <a:cs typeface="Georgia" pitchFamily="34" charset="-120"/>
              </a:rPr>
              <a:t>2</a:t>
            </a:r>
            <a:endParaRPr lang="en-US" sz="4800" dirty="0"/>
          </a:p>
        </p:txBody>
      </p:sp>
      <p:sp>
        <p:nvSpPr>
          <p:cNvPr id="39" name="Text 37"/>
          <p:cNvSpPr/>
          <p:nvPr/>
        </p:nvSpPr>
        <p:spPr>
          <a:xfrm>
            <a:off x="2990088" y="3246120"/>
            <a:ext cx="1828800" cy="2743200"/>
          </a:xfrm>
          <a:prstGeom prst="rect">
            <a:avLst/>
          </a:prstGeom>
          <a:noFill/>
          <a:ln/>
        </p:spPr>
        <p:txBody>
          <a:bodyPr wrap="square" lIns="0" tIns="0" rIns="0" bIns="0" rtlCol="0" anchor="ctr"/>
          <a:lstStyle/>
          <a:p>
            <a:pPr algn="ctr" indent="0" marL="0">
              <a:buNone/>
            </a:pPr>
            <a:r>
              <a:rPr lang="en-US" sz="1200" dirty="0">
                <a:solidFill>
                  <a:srgbClr val="444444"/>
                </a:solidFill>
                <a:latin typeface="Calibri" pitchFamily="34" charset="0"/>
                <a:ea typeface="Calibri" pitchFamily="34" charset="-122"/>
                <a:cs typeface="Calibri" pitchFamily="34" charset="-120"/>
              </a:rPr>
              <a:t>Single Customer View across web, app, USSD, agent</a:t>
            </a:r>
            <a:endParaRPr lang="en-US" sz="1200" dirty="0"/>
          </a:p>
        </p:txBody>
      </p:sp>
      <p:sp>
        <p:nvSpPr>
          <p:cNvPr id="40" name="Shape 38"/>
          <p:cNvSpPr/>
          <p:nvPr/>
        </p:nvSpPr>
        <p:spPr>
          <a:xfrm>
            <a:off x="5111496" y="2011680"/>
            <a:ext cx="2194560" cy="4114800"/>
          </a:xfrm>
          <a:prstGeom prst="rect">
            <a:avLst/>
          </a:prstGeom>
          <a:solidFill>
            <a:srgbClr val="FFFFFF"/>
          </a:solidFill>
          <a:ln w="9525">
            <a:solidFill>
              <a:srgbClr val="111111"/>
            </a:solidFill>
            <a:prstDash val="solid"/>
          </a:ln>
        </p:spPr>
      </p:sp>
      <p:sp>
        <p:nvSpPr>
          <p:cNvPr id="41" name="Shape 39"/>
          <p:cNvSpPr/>
          <p:nvPr/>
        </p:nvSpPr>
        <p:spPr>
          <a:xfrm>
            <a:off x="5111496" y="2011680"/>
            <a:ext cx="2194560" cy="1097280"/>
          </a:xfrm>
          <a:prstGeom prst="rect">
            <a:avLst/>
          </a:prstGeom>
          <a:solidFill>
            <a:srgbClr val="111111"/>
          </a:solidFill>
          <a:ln w="12700">
            <a:solidFill>
              <a:srgbClr val="111111"/>
            </a:solidFill>
            <a:prstDash val="solid"/>
          </a:ln>
        </p:spPr>
      </p:sp>
      <p:sp>
        <p:nvSpPr>
          <p:cNvPr id="42" name="Text 40"/>
          <p:cNvSpPr/>
          <p:nvPr/>
        </p:nvSpPr>
        <p:spPr>
          <a:xfrm>
            <a:off x="5111496" y="2148840"/>
            <a:ext cx="2194560" cy="822960"/>
          </a:xfrm>
          <a:prstGeom prst="rect">
            <a:avLst/>
          </a:prstGeom>
          <a:noFill/>
          <a:ln/>
        </p:spPr>
        <p:txBody>
          <a:bodyPr wrap="square" lIns="0" tIns="0" rIns="0" bIns="0" rtlCol="0" anchor="ctr"/>
          <a:lstStyle/>
          <a:p>
            <a:pPr algn="ctr" indent="0" marL="0">
              <a:buNone/>
            </a:pPr>
            <a:r>
              <a:rPr lang="en-US" sz="4800" b="1" dirty="0">
                <a:solidFill>
                  <a:srgbClr val="FFFFFF"/>
                </a:solidFill>
                <a:latin typeface="Georgia" pitchFamily="34" charset="0"/>
                <a:ea typeface="Georgia" pitchFamily="34" charset="-122"/>
                <a:cs typeface="Georgia" pitchFamily="34" charset="-120"/>
              </a:rPr>
              <a:t>3</a:t>
            </a:r>
            <a:endParaRPr lang="en-US" sz="4800" dirty="0"/>
          </a:p>
        </p:txBody>
      </p:sp>
      <p:sp>
        <p:nvSpPr>
          <p:cNvPr id="43" name="Text 41"/>
          <p:cNvSpPr/>
          <p:nvPr/>
        </p:nvSpPr>
        <p:spPr>
          <a:xfrm>
            <a:off x="5294376" y="3246120"/>
            <a:ext cx="1828800" cy="2743200"/>
          </a:xfrm>
          <a:prstGeom prst="rect">
            <a:avLst/>
          </a:prstGeom>
          <a:noFill/>
          <a:ln/>
        </p:spPr>
        <p:txBody>
          <a:bodyPr wrap="square" lIns="0" tIns="0" rIns="0" bIns="0" rtlCol="0" anchor="ctr"/>
          <a:lstStyle/>
          <a:p>
            <a:pPr algn="ctr" indent="0" marL="0">
              <a:buNone/>
            </a:pPr>
            <a:r>
              <a:rPr lang="en-US" sz="1200" dirty="0">
                <a:solidFill>
                  <a:srgbClr val="444444"/>
                </a:solidFill>
                <a:latin typeface="Calibri" pitchFamily="34" charset="0"/>
                <a:ea typeface="Calibri" pitchFamily="34" charset="-122"/>
                <a:cs typeface="Calibri" pitchFamily="34" charset="-120"/>
              </a:rPr>
              <a:t>BOT and self-service delivering 70%+ of support interactions</a:t>
            </a:r>
            <a:endParaRPr lang="en-US" sz="1200" dirty="0"/>
          </a:p>
        </p:txBody>
      </p:sp>
      <p:sp>
        <p:nvSpPr>
          <p:cNvPr id="44" name="Shape 42"/>
          <p:cNvSpPr/>
          <p:nvPr/>
        </p:nvSpPr>
        <p:spPr>
          <a:xfrm>
            <a:off x="7415784" y="2011680"/>
            <a:ext cx="2194560" cy="4114800"/>
          </a:xfrm>
          <a:prstGeom prst="rect">
            <a:avLst/>
          </a:prstGeom>
          <a:solidFill>
            <a:srgbClr val="FFFFFF"/>
          </a:solidFill>
          <a:ln w="9525">
            <a:solidFill>
              <a:srgbClr val="111111"/>
            </a:solidFill>
            <a:prstDash val="solid"/>
          </a:ln>
        </p:spPr>
      </p:sp>
      <p:sp>
        <p:nvSpPr>
          <p:cNvPr id="45" name="Shape 43"/>
          <p:cNvSpPr/>
          <p:nvPr/>
        </p:nvSpPr>
        <p:spPr>
          <a:xfrm>
            <a:off x="7415784" y="2011680"/>
            <a:ext cx="2194560" cy="1097280"/>
          </a:xfrm>
          <a:prstGeom prst="rect">
            <a:avLst/>
          </a:prstGeom>
          <a:solidFill>
            <a:srgbClr val="111111"/>
          </a:solidFill>
          <a:ln w="12700">
            <a:solidFill>
              <a:srgbClr val="111111"/>
            </a:solidFill>
            <a:prstDash val="solid"/>
          </a:ln>
        </p:spPr>
      </p:sp>
      <p:sp>
        <p:nvSpPr>
          <p:cNvPr id="46" name="Text 44"/>
          <p:cNvSpPr/>
          <p:nvPr/>
        </p:nvSpPr>
        <p:spPr>
          <a:xfrm>
            <a:off x="7415784" y="2148840"/>
            <a:ext cx="2194560" cy="822960"/>
          </a:xfrm>
          <a:prstGeom prst="rect">
            <a:avLst/>
          </a:prstGeom>
          <a:noFill/>
          <a:ln/>
        </p:spPr>
        <p:txBody>
          <a:bodyPr wrap="square" lIns="0" tIns="0" rIns="0" bIns="0" rtlCol="0" anchor="ctr"/>
          <a:lstStyle/>
          <a:p>
            <a:pPr algn="ctr" indent="0" marL="0">
              <a:buNone/>
            </a:pPr>
            <a:r>
              <a:rPr lang="en-US" sz="4800" b="1" dirty="0">
                <a:solidFill>
                  <a:srgbClr val="FFFFFF"/>
                </a:solidFill>
                <a:latin typeface="Georgia" pitchFamily="34" charset="0"/>
                <a:ea typeface="Georgia" pitchFamily="34" charset="-122"/>
                <a:cs typeface="Georgia" pitchFamily="34" charset="-120"/>
              </a:rPr>
              <a:t>4</a:t>
            </a:r>
            <a:endParaRPr lang="en-US" sz="4800" dirty="0"/>
          </a:p>
        </p:txBody>
      </p:sp>
      <p:sp>
        <p:nvSpPr>
          <p:cNvPr id="47" name="Text 45"/>
          <p:cNvSpPr/>
          <p:nvPr/>
        </p:nvSpPr>
        <p:spPr>
          <a:xfrm>
            <a:off x="7598664" y="3246120"/>
            <a:ext cx="1828800" cy="2743200"/>
          </a:xfrm>
          <a:prstGeom prst="rect">
            <a:avLst/>
          </a:prstGeom>
          <a:noFill/>
          <a:ln/>
        </p:spPr>
        <p:txBody>
          <a:bodyPr wrap="square" lIns="0" tIns="0" rIns="0" bIns="0" rtlCol="0" anchor="ctr"/>
          <a:lstStyle/>
          <a:p>
            <a:pPr algn="ctr" indent="0" marL="0">
              <a:buNone/>
            </a:pPr>
            <a:r>
              <a:rPr lang="en-US" sz="1200" dirty="0">
                <a:solidFill>
                  <a:srgbClr val="444444"/>
                </a:solidFill>
                <a:latin typeface="Calibri" pitchFamily="34" charset="0"/>
                <a:ea typeface="Calibri" pitchFamily="34" charset="-122"/>
                <a:cs typeface="Calibri" pitchFamily="34" charset="-120"/>
              </a:rPr>
              <a:t>Hyper-personalised experiences powered by PersAIc</a:t>
            </a:r>
            <a:endParaRPr lang="en-US" sz="1200" dirty="0"/>
          </a:p>
        </p:txBody>
      </p:sp>
      <p:sp>
        <p:nvSpPr>
          <p:cNvPr id="48" name="Shape 46"/>
          <p:cNvSpPr/>
          <p:nvPr/>
        </p:nvSpPr>
        <p:spPr>
          <a:xfrm>
            <a:off x="9720072" y="2011680"/>
            <a:ext cx="2194560" cy="4114800"/>
          </a:xfrm>
          <a:prstGeom prst="rect">
            <a:avLst/>
          </a:prstGeom>
          <a:solidFill>
            <a:srgbClr val="FFFFFF"/>
          </a:solidFill>
          <a:ln w="9525">
            <a:solidFill>
              <a:srgbClr val="111111"/>
            </a:solidFill>
            <a:prstDash val="solid"/>
          </a:ln>
        </p:spPr>
      </p:sp>
      <p:sp>
        <p:nvSpPr>
          <p:cNvPr id="49" name="Shape 47"/>
          <p:cNvSpPr/>
          <p:nvPr/>
        </p:nvSpPr>
        <p:spPr>
          <a:xfrm>
            <a:off x="9720072" y="2011680"/>
            <a:ext cx="2194560" cy="1097280"/>
          </a:xfrm>
          <a:prstGeom prst="rect">
            <a:avLst/>
          </a:prstGeom>
          <a:solidFill>
            <a:srgbClr val="111111"/>
          </a:solidFill>
          <a:ln w="12700">
            <a:solidFill>
              <a:srgbClr val="111111"/>
            </a:solidFill>
            <a:prstDash val="solid"/>
          </a:ln>
        </p:spPr>
      </p:sp>
      <p:sp>
        <p:nvSpPr>
          <p:cNvPr id="50" name="Text 48"/>
          <p:cNvSpPr/>
          <p:nvPr/>
        </p:nvSpPr>
        <p:spPr>
          <a:xfrm>
            <a:off x="9720072" y="2148840"/>
            <a:ext cx="2194560" cy="822960"/>
          </a:xfrm>
          <a:prstGeom prst="rect">
            <a:avLst/>
          </a:prstGeom>
          <a:noFill/>
          <a:ln/>
        </p:spPr>
        <p:txBody>
          <a:bodyPr wrap="square" lIns="0" tIns="0" rIns="0" bIns="0" rtlCol="0" anchor="ctr"/>
          <a:lstStyle/>
          <a:p>
            <a:pPr algn="ctr" indent="0" marL="0">
              <a:buNone/>
            </a:pPr>
            <a:r>
              <a:rPr lang="en-US" sz="4800" b="1" dirty="0">
                <a:solidFill>
                  <a:srgbClr val="FFFFFF"/>
                </a:solidFill>
                <a:latin typeface="Georgia" pitchFamily="34" charset="0"/>
                <a:ea typeface="Georgia" pitchFamily="34" charset="-122"/>
                <a:cs typeface="Georgia" pitchFamily="34" charset="-120"/>
              </a:rPr>
              <a:t>5</a:t>
            </a:r>
            <a:endParaRPr lang="en-US" sz="4800" dirty="0"/>
          </a:p>
        </p:txBody>
      </p:sp>
      <p:sp>
        <p:nvSpPr>
          <p:cNvPr id="51" name="Text 49"/>
          <p:cNvSpPr/>
          <p:nvPr/>
        </p:nvSpPr>
        <p:spPr>
          <a:xfrm>
            <a:off x="9902952" y="3246120"/>
            <a:ext cx="1828800" cy="2743200"/>
          </a:xfrm>
          <a:prstGeom prst="rect">
            <a:avLst/>
          </a:prstGeom>
          <a:noFill/>
          <a:ln/>
        </p:spPr>
        <p:txBody>
          <a:bodyPr wrap="square" lIns="0" tIns="0" rIns="0" bIns="0" rtlCol="0" anchor="ctr"/>
          <a:lstStyle/>
          <a:p>
            <a:pPr algn="ctr" indent="0" marL="0">
              <a:buNone/>
            </a:pPr>
            <a:r>
              <a:rPr lang="en-US" sz="1200" dirty="0">
                <a:solidFill>
                  <a:srgbClr val="444444"/>
                </a:solidFill>
                <a:latin typeface="Calibri" pitchFamily="34" charset="0"/>
                <a:ea typeface="Calibri" pitchFamily="34" charset="-122"/>
                <a:cs typeface="Calibri" pitchFamily="34" charset="-120"/>
              </a:rPr>
              <a:t>On-demand CX — no tickets, no queues</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20040" y="182880"/>
            <a:ext cx="1417320" cy="438912"/>
          </a:xfrm>
          <a:prstGeom prst="rect">
            <a:avLst/>
          </a:prstGeom>
          <a:solidFill>
            <a:srgbClr val="111111"/>
          </a:solidFill>
          <a:ln w="12700">
            <a:solidFill>
              <a:srgbClr val="111111"/>
            </a:solidFill>
            <a:prstDash val="solid"/>
          </a:ln>
        </p:spPr>
      </p:sp>
      <p:sp>
        <p:nvSpPr>
          <p:cNvPr id="3" name="Text 1"/>
          <p:cNvSpPr/>
          <p:nvPr/>
        </p:nvSpPr>
        <p:spPr>
          <a:xfrm>
            <a:off x="320040" y="182880"/>
            <a:ext cx="1417320" cy="438912"/>
          </a:xfrm>
          <a:prstGeom prst="rect">
            <a:avLst/>
          </a:prstGeom>
          <a:noFill/>
          <a:ln/>
        </p:spPr>
        <p:txBody>
          <a:bodyPr wrap="square" lIns="0" tIns="0" rIns="0" bIns="0" rtlCol="0" anchor="ctr"/>
          <a:lstStyle/>
          <a:p>
            <a:pPr algn="ctr" indent="0" marL="0">
              <a:buNone/>
            </a:pPr>
            <a:r>
              <a:rPr lang="en-US" sz="1500" b="1" spc="400" kern="0" dirty="0">
                <a:solidFill>
                  <a:srgbClr val="FFFFFF"/>
                </a:solidFill>
                <a:latin typeface="Calibri" pitchFamily="34" charset="0"/>
                <a:ea typeface="Calibri" pitchFamily="34" charset="-122"/>
                <a:cs typeface="Calibri" pitchFamily="34" charset="-120"/>
              </a:rPr>
              <a:t>ARENA
</a:t>
            </a:r>
            <a:pPr algn="ctr" indent="0" marL="0">
              <a:buNone/>
            </a:pPr>
            <a:r>
              <a:rPr lang="en-US" sz="600" spc="400" kern="0" dirty="0">
                <a:solidFill>
                  <a:srgbClr val="FFFFFF"/>
                </a:solidFill>
                <a:latin typeface="Calibri" pitchFamily="34" charset="0"/>
                <a:ea typeface="Calibri" pitchFamily="34" charset="-122"/>
                <a:cs typeface="Calibri" pitchFamily="34" charset="-120"/>
              </a:rPr>
              <a:t>H O L D I N G S</a:t>
            </a:r>
            <a:endParaRPr lang="en-US" sz="1500" dirty="0"/>
          </a:p>
        </p:txBody>
      </p:sp>
      <p:sp>
        <p:nvSpPr>
          <p:cNvPr id="4" name="Shape 2"/>
          <p:cNvSpPr/>
          <p:nvPr/>
        </p:nvSpPr>
        <p:spPr>
          <a:xfrm>
            <a:off x="9677095" y="246888"/>
            <a:ext cx="201168" cy="201168"/>
          </a:xfrm>
          <a:prstGeom prst="ellipse">
            <a:avLst/>
          </a:prstGeom>
          <a:solidFill>
            <a:srgbClr val="111111"/>
          </a:solidFill>
          <a:ln w="12700">
            <a:solidFill>
              <a:srgbClr val="111111"/>
            </a:solidFill>
            <a:prstDash val="solid"/>
          </a:ln>
        </p:spPr>
      </p:sp>
      <p:sp>
        <p:nvSpPr>
          <p:cNvPr id="5" name="Text 3"/>
          <p:cNvSpPr/>
          <p:nvPr/>
        </p:nvSpPr>
        <p:spPr>
          <a:xfrm>
            <a:off x="9923983" y="210312"/>
            <a:ext cx="2011680" cy="274320"/>
          </a:xfrm>
          <a:prstGeom prst="rect">
            <a:avLst/>
          </a:prstGeom>
          <a:noFill/>
          <a:ln/>
        </p:spPr>
        <p:txBody>
          <a:bodyPr wrap="square" lIns="0" tIns="0" rIns="0" bIns="0" rtlCol="0" anchor="ctr"/>
          <a:lstStyle/>
          <a:p>
            <a:pPr algn="l" indent="0" marL="0">
              <a:buNone/>
            </a:pPr>
            <a:r>
              <a:rPr lang="en-US" sz="1000" b="1" i="1" dirty="0">
                <a:solidFill>
                  <a:srgbClr val="111111"/>
                </a:solidFill>
                <a:latin typeface="Calibri" pitchFamily="34" charset="0"/>
                <a:ea typeface="Calibri" pitchFamily="34" charset="-122"/>
                <a:cs typeface="Calibri" pitchFamily="34" charset="-120"/>
              </a:rPr>
              <a:t>#DoingSomethingGreat</a:t>
            </a:r>
            <a:endParaRPr lang="en-US" sz="1000" dirty="0"/>
          </a:p>
        </p:txBody>
      </p:sp>
      <p:sp>
        <p:nvSpPr>
          <p:cNvPr id="6" name="Shape 4"/>
          <p:cNvSpPr/>
          <p:nvPr/>
        </p:nvSpPr>
        <p:spPr>
          <a:xfrm>
            <a:off x="5973775" y="0"/>
            <a:ext cx="6217920" cy="1463040"/>
          </a:xfrm>
          <a:prstGeom prst="rect">
            <a:avLst/>
          </a:prstGeom>
          <a:solidFill>
            <a:srgbClr val="F5F5F5"/>
          </a:solidFill>
          <a:ln w="12700">
            <a:solidFill>
              <a:srgbClr val="F5F5F5"/>
            </a:solidFill>
            <a:prstDash val="solid"/>
          </a:ln>
        </p:spPr>
      </p:sp>
      <p:sp>
        <p:nvSpPr>
          <p:cNvPr id="7" name="Shape 5"/>
          <p:cNvSpPr/>
          <p:nvPr/>
        </p:nvSpPr>
        <p:spPr>
          <a:xfrm>
            <a:off x="6248095" y="0"/>
            <a:ext cx="-1280160" cy="1280160"/>
          </a:xfrm>
          <a:prstGeom prst="line">
            <a:avLst/>
          </a:prstGeom>
          <a:noFill/>
          <a:ln w="9525">
            <a:solidFill>
              <a:srgbClr val="EDEDED"/>
            </a:solidFill>
            <a:prstDash val="solid"/>
          </a:ln>
        </p:spPr>
      </p:sp>
      <p:sp>
        <p:nvSpPr>
          <p:cNvPr id="8" name="Shape 6"/>
          <p:cNvSpPr/>
          <p:nvPr/>
        </p:nvSpPr>
        <p:spPr>
          <a:xfrm>
            <a:off x="6659575" y="0"/>
            <a:ext cx="-1280160" cy="1280160"/>
          </a:xfrm>
          <a:prstGeom prst="line">
            <a:avLst/>
          </a:prstGeom>
          <a:noFill/>
          <a:ln w="9525">
            <a:solidFill>
              <a:srgbClr val="EDEDED"/>
            </a:solidFill>
            <a:prstDash val="solid"/>
          </a:ln>
        </p:spPr>
      </p:sp>
      <p:sp>
        <p:nvSpPr>
          <p:cNvPr id="9" name="Shape 7"/>
          <p:cNvSpPr/>
          <p:nvPr/>
        </p:nvSpPr>
        <p:spPr>
          <a:xfrm>
            <a:off x="7071055" y="0"/>
            <a:ext cx="-1280160" cy="1280160"/>
          </a:xfrm>
          <a:prstGeom prst="line">
            <a:avLst/>
          </a:prstGeom>
          <a:noFill/>
          <a:ln w="9525">
            <a:solidFill>
              <a:srgbClr val="EDEDED"/>
            </a:solidFill>
            <a:prstDash val="solid"/>
          </a:ln>
        </p:spPr>
      </p:sp>
      <p:sp>
        <p:nvSpPr>
          <p:cNvPr id="10" name="Shape 8"/>
          <p:cNvSpPr/>
          <p:nvPr/>
        </p:nvSpPr>
        <p:spPr>
          <a:xfrm>
            <a:off x="7482535" y="0"/>
            <a:ext cx="-1280160" cy="1280160"/>
          </a:xfrm>
          <a:prstGeom prst="line">
            <a:avLst/>
          </a:prstGeom>
          <a:noFill/>
          <a:ln w="9525">
            <a:solidFill>
              <a:srgbClr val="EDEDED"/>
            </a:solidFill>
            <a:prstDash val="solid"/>
          </a:ln>
        </p:spPr>
      </p:sp>
      <p:sp>
        <p:nvSpPr>
          <p:cNvPr id="11" name="Shape 9"/>
          <p:cNvSpPr/>
          <p:nvPr/>
        </p:nvSpPr>
        <p:spPr>
          <a:xfrm>
            <a:off x="7894015" y="0"/>
            <a:ext cx="-1280160" cy="1280160"/>
          </a:xfrm>
          <a:prstGeom prst="line">
            <a:avLst/>
          </a:prstGeom>
          <a:noFill/>
          <a:ln w="9525">
            <a:solidFill>
              <a:srgbClr val="EDEDED"/>
            </a:solidFill>
            <a:prstDash val="solid"/>
          </a:ln>
        </p:spPr>
      </p:sp>
      <p:sp>
        <p:nvSpPr>
          <p:cNvPr id="12" name="Shape 10"/>
          <p:cNvSpPr/>
          <p:nvPr/>
        </p:nvSpPr>
        <p:spPr>
          <a:xfrm>
            <a:off x="8305495" y="0"/>
            <a:ext cx="-1280160" cy="1280160"/>
          </a:xfrm>
          <a:prstGeom prst="line">
            <a:avLst/>
          </a:prstGeom>
          <a:noFill/>
          <a:ln w="9525">
            <a:solidFill>
              <a:srgbClr val="EDEDED"/>
            </a:solidFill>
            <a:prstDash val="solid"/>
          </a:ln>
        </p:spPr>
      </p:sp>
      <p:sp>
        <p:nvSpPr>
          <p:cNvPr id="13" name="Shape 11"/>
          <p:cNvSpPr/>
          <p:nvPr/>
        </p:nvSpPr>
        <p:spPr>
          <a:xfrm>
            <a:off x="8716975" y="0"/>
            <a:ext cx="-1280160" cy="1280160"/>
          </a:xfrm>
          <a:prstGeom prst="line">
            <a:avLst/>
          </a:prstGeom>
          <a:noFill/>
          <a:ln w="9525">
            <a:solidFill>
              <a:srgbClr val="EDEDED"/>
            </a:solidFill>
            <a:prstDash val="solid"/>
          </a:ln>
        </p:spPr>
      </p:sp>
      <p:sp>
        <p:nvSpPr>
          <p:cNvPr id="14" name="Shape 12"/>
          <p:cNvSpPr/>
          <p:nvPr/>
        </p:nvSpPr>
        <p:spPr>
          <a:xfrm>
            <a:off x="9128455" y="0"/>
            <a:ext cx="-1280160" cy="1280160"/>
          </a:xfrm>
          <a:prstGeom prst="line">
            <a:avLst/>
          </a:prstGeom>
          <a:noFill/>
          <a:ln w="9525">
            <a:solidFill>
              <a:srgbClr val="EDEDED"/>
            </a:solidFill>
            <a:prstDash val="solid"/>
          </a:ln>
        </p:spPr>
      </p:sp>
      <p:sp>
        <p:nvSpPr>
          <p:cNvPr id="15" name="Shape 13"/>
          <p:cNvSpPr/>
          <p:nvPr/>
        </p:nvSpPr>
        <p:spPr>
          <a:xfrm>
            <a:off x="9539935" y="0"/>
            <a:ext cx="-1280160" cy="1280160"/>
          </a:xfrm>
          <a:prstGeom prst="line">
            <a:avLst/>
          </a:prstGeom>
          <a:noFill/>
          <a:ln w="9525">
            <a:solidFill>
              <a:srgbClr val="EDEDED"/>
            </a:solidFill>
            <a:prstDash val="solid"/>
          </a:ln>
        </p:spPr>
      </p:sp>
      <p:sp>
        <p:nvSpPr>
          <p:cNvPr id="16" name="Shape 14"/>
          <p:cNvSpPr/>
          <p:nvPr/>
        </p:nvSpPr>
        <p:spPr>
          <a:xfrm>
            <a:off x="9951415" y="0"/>
            <a:ext cx="-1280160" cy="1280160"/>
          </a:xfrm>
          <a:prstGeom prst="line">
            <a:avLst/>
          </a:prstGeom>
          <a:noFill/>
          <a:ln w="9525">
            <a:solidFill>
              <a:srgbClr val="EDEDED"/>
            </a:solidFill>
            <a:prstDash val="solid"/>
          </a:ln>
        </p:spPr>
      </p:sp>
      <p:sp>
        <p:nvSpPr>
          <p:cNvPr id="17" name="Shape 15"/>
          <p:cNvSpPr/>
          <p:nvPr/>
        </p:nvSpPr>
        <p:spPr>
          <a:xfrm>
            <a:off x="10362895" y="0"/>
            <a:ext cx="-1280160" cy="1280160"/>
          </a:xfrm>
          <a:prstGeom prst="line">
            <a:avLst/>
          </a:prstGeom>
          <a:noFill/>
          <a:ln w="9525">
            <a:solidFill>
              <a:srgbClr val="EDEDED"/>
            </a:solidFill>
            <a:prstDash val="solid"/>
          </a:ln>
        </p:spPr>
      </p:sp>
      <p:sp>
        <p:nvSpPr>
          <p:cNvPr id="18" name="Shape 16"/>
          <p:cNvSpPr/>
          <p:nvPr/>
        </p:nvSpPr>
        <p:spPr>
          <a:xfrm>
            <a:off x="10774375" y="0"/>
            <a:ext cx="-1280160" cy="1280160"/>
          </a:xfrm>
          <a:prstGeom prst="line">
            <a:avLst/>
          </a:prstGeom>
          <a:noFill/>
          <a:ln w="9525">
            <a:solidFill>
              <a:srgbClr val="EDEDED"/>
            </a:solidFill>
            <a:prstDash val="solid"/>
          </a:ln>
        </p:spPr>
      </p:sp>
      <p:sp>
        <p:nvSpPr>
          <p:cNvPr id="19" name="Shape 17"/>
          <p:cNvSpPr/>
          <p:nvPr/>
        </p:nvSpPr>
        <p:spPr>
          <a:xfrm>
            <a:off x="11185855" y="0"/>
            <a:ext cx="-1280160" cy="1280160"/>
          </a:xfrm>
          <a:prstGeom prst="line">
            <a:avLst/>
          </a:prstGeom>
          <a:noFill/>
          <a:ln w="9525">
            <a:solidFill>
              <a:srgbClr val="EDEDED"/>
            </a:solidFill>
            <a:prstDash val="solid"/>
          </a:ln>
        </p:spPr>
      </p:sp>
      <p:sp>
        <p:nvSpPr>
          <p:cNvPr id="20" name="Shape 18"/>
          <p:cNvSpPr/>
          <p:nvPr/>
        </p:nvSpPr>
        <p:spPr>
          <a:xfrm>
            <a:off x="11597335" y="0"/>
            <a:ext cx="-1280160" cy="1280160"/>
          </a:xfrm>
          <a:prstGeom prst="line">
            <a:avLst/>
          </a:prstGeom>
          <a:noFill/>
          <a:ln w="9525">
            <a:solidFill>
              <a:srgbClr val="EDEDED"/>
            </a:solidFill>
            <a:prstDash val="solid"/>
          </a:ln>
        </p:spPr>
      </p:sp>
      <p:sp>
        <p:nvSpPr>
          <p:cNvPr id="21" name="Shape 19"/>
          <p:cNvSpPr/>
          <p:nvPr/>
        </p:nvSpPr>
        <p:spPr>
          <a:xfrm>
            <a:off x="320040" y="1481328"/>
            <a:ext cx="11551615" cy="0"/>
          </a:xfrm>
          <a:prstGeom prst="line">
            <a:avLst/>
          </a:prstGeom>
          <a:noFill/>
          <a:ln w="15875">
            <a:solidFill>
              <a:srgbClr val="111111"/>
            </a:solidFill>
            <a:prstDash val="solid"/>
          </a:ln>
        </p:spPr>
      </p:sp>
      <p:sp>
        <p:nvSpPr>
          <p:cNvPr id="22" name="Text 20"/>
          <p:cNvSpPr/>
          <p:nvPr/>
        </p:nvSpPr>
        <p:spPr>
          <a:xfrm>
            <a:off x="5486400" y="292608"/>
            <a:ext cx="6309360" cy="685800"/>
          </a:xfrm>
          <a:prstGeom prst="rect">
            <a:avLst/>
          </a:prstGeom>
          <a:noFill/>
          <a:ln/>
        </p:spPr>
        <p:txBody>
          <a:bodyPr wrap="square" lIns="0" tIns="0" rIns="0" bIns="0" rtlCol="0" anchor="ctr"/>
          <a:lstStyle/>
          <a:p>
            <a:pPr algn="r" indent="0" marL="0">
              <a:buNone/>
            </a:pPr>
            <a:r>
              <a:rPr lang="en-US" sz="2600" b="1" dirty="0">
                <a:solidFill>
                  <a:srgbClr val="111111"/>
                </a:solidFill>
                <a:latin typeface="Calibri" pitchFamily="34" charset="0"/>
                <a:ea typeface="Calibri" pitchFamily="34" charset="-122"/>
                <a:cs typeface="Calibri" pitchFamily="34" charset="-120"/>
              </a:rPr>
              <a:t>Meet Xanite — the CVM engine</a:t>
            </a:r>
            <a:endParaRPr lang="en-US" sz="2600" dirty="0"/>
          </a:p>
        </p:txBody>
      </p:sp>
      <p:sp>
        <p:nvSpPr>
          <p:cNvPr id="23" name="Text 21"/>
          <p:cNvSpPr/>
          <p:nvPr/>
        </p:nvSpPr>
        <p:spPr>
          <a:xfrm>
            <a:off x="5486400" y="960120"/>
            <a:ext cx="6309360" cy="365760"/>
          </a:xfrm>
          <a:prstGeom prst="rect">
            <a:avLst/>
          </a:prstGeom>
          <a:noFill/>
          <a:ln/>
        </p:spPr>
        <p:txBody>
          <a:bodyPr wrap="square" lIns="0" tIns="0" rIns="0" bIns="0" rtlCol="0" anchor="ctr"/>
          <a:lstStyle/>
          <a:p>
            <a:pPr algn="r" indent="0" marL="0">
              <a:buNone/>
            </a:pPr>
            <a:r>
              <a:rPr lang="en-US" sz="1200" i="1" dirty="0">
                <a:solidFill>
                  <a:srgbClr val="6B6B6B"/>
                </a:solidFill>
                <a:latin typeface="Calibri" pitchFamily="34" charset="0"/>
                <a:ea typeface="Calibri" pitchFamily="34" charset="-122"/>
                <a:cs typeface="Calibri" pitchFamily="34" charset="-120"/>
              </a:rPr>
              <a:t>Designed for agility, scalability and impact</a:t>
            </a:r>
            <a:endParaRPr lang="en-US" sz="1200" dirty="0"/>
          </a:p>
        </p:txBody>
      </p:sp>
      <p:sp>
        <p:nvSpPr>
          <p:cNvPr id="24" name="Shape 22"/>
          <p:cNvSpPr/>
          <p:nvPr/>
        </p:nvSpPr>
        <p:spPr>
          <a:xfrm>
            <a:off x="320040" y="6355080"/>
            <a:ext cx="11551615" cy="0"/>
          </a:xfrm>
          <a:prstGeom prst="line">
            <a:avLst/>
          </a:prstGeom>
          <a:noFill/>
          <a:ln w="6350">
            <a:solidFill>
              <a:srgbClr val="BFBFBF"/>
            </a:solidFill>
            <a:prstDash val="solid"/>
          </a:ln>
        </p:spPr>
      </p:sp>
      <p:sp>
        <p:nvSpPr>
          <p:cNvPr id="25" name="Shape 23"/>
          <p:cNvSpPr/>
          <p:nvPr/>
        </p:nvSpPr>
        <p:spPr>
          <a:xfrm>
            <a:off x="320040" y="6473952"/>
            <a:ext cx="502920" cy="237744"/>
          </a:xfrm>
          <a:prstGeom prst="rect">
            <a:avLst/>
          </a:prstGeom>
          <a:solidFill>
            <a:srgbClr val="111111"/>
          </a:solidFill>
          <a:ln w="12700">
            <a:solidFill>
              <a:srgbClr val="111111"/>
            </a:solidFill>
            <a:prstDash val="solid"/>
          </a:ln>
        </p:spPr>
      </p:sp>
      <p:sp>
        <p:nvSpPr>
          <p:cNvPr id="26" name="Text 24"/>
          <p:cNvSpPr/>
          <p:nvPr/>
        </p:nvSpPr>
        <p:spPr>
          <a:xfrm>
            <a:off x="320040" y="6473952"/>
            <a:ext cx="502920" cy="237744"/>
          </a:xfrm>
          <a:prstGeom prst="rect">
            <a:avLst/>
          </a:prstGeom>
          <a:noFill/>
          <a:ln/>
        </p:spPr>
        <p:txBody>
          <a:bodyPr wrap="square" lIns="0" tIns="0" rIns="0" bIns="0" rtlCol="0" anchor="ctr"/>
          <a:lstStyle/>
          <a:p>
            <a:pPr algn="ctr" indent="0" marL="0">
              <a:buNone/>
            </a:pPr>
            <a:r>
              <a:rPr lang="en-US" sz="900" b="1" spc="200" kern="0" dirty="0">
                <a:solidFill>
                  <a:srgbClr val="FFFFFF"/>
                </a:solidFill>
                <a:latin typeface="Calibri" pitchFamily="34" charset="0"/>
                <a:ea typeface="Calibri" pitchFamily="34" charset="-122"/>
                <a:cs typeface="Calibri" pitchFamily="34" charset="-120"/>
              </a:rPr>
              <a:t>DSG</a:t>
            </a:r>
            <a:endParaRPr lang="en-US" sz="900" dirty="0"/>
          </a:p>
        </p:txBody>
      </p:sp>
      <p:sp>
        <p:nvSpPr>
          <p:cNvPr id="27" name="Text 25"/>
          <p:cNvSpPr/>
          <p:nvPr/>
        </p:nvSpPr>
        <p:spPr>
          <a:xfrm>
            <a:off x="868680" y="6473952"/>
            <a:ext cx="2194560" cy="237744"/>
          </a:xfrm>
          <a:prstGeom prst="rect">
            <a:avLst/>
          </a:prstGeom>
          <a:noFill/>
          <a:ln/>
        </p:spPr>
        <p:txBody>
          <a:bodyPr wrap="square" lIns="0" tIns="0" rIns="0" bIns="0" rtlCol="0" anchor="ctr"/>
          <a:lstStyle/>
          <a:p>
            <a:pPr indent="0" marL="0">
              <a:buNone/>
            </a:pPr>
            <a:r>
              <a:rPr lang="en-US" sz="650" spc="200" kern="0" dirty="0">
                <a:solidFill>
                  <a:srgbClr val="6B6B6B"/>
                </a:solidFill>
                <a:latin typeface="Calibri" pitchFamily="34" charset="0"/>
                <a:ea typeface="Calibri" pitchFamily="34" charset="-122"/>
                <a:cs typeface="Calibri" pitchFamily="34" charset="-120"/>
              </a:rPr>
              <a:t>DIGITAL SOLUTIONS GROUP</a:t>
            </a:r>
            <a:endParaRPr lang="en-US" sz="650" dirty="0"/>
          </a:p>
        </p:txBody>
      </p:sp>
      <p:sp>
        <p:nvSpPr>
          <p:cNvPr id="28" name="Text 26"/>
          <p:cNvSpPr/>
          <p:nvPr/>
        </p:nvSpPr>
        <p:spPr>
          <a:xfrm>
            <a:off x="4754880" y="6473952"/>
            <a:ext cx="2743200" cy="237744"/>
          </a:xfrm>
          <a:prstGeom prst="rect">
            <a:avLst/>
          </a:prstGeom>
          <a:noFill/>
          <a:ln/>
        </p:spPr>
        <p:txBody>
          <a:bodyPr wrap="square" lIns="0" tIns="0" rIns="0" bIns="0" rtlCol="0" anchor="ctr"/>
          <a:lstStyle/>
          <a:p>
            <a:pPr algn="ctr" indent="0" marL="0">
              <a:buNone/>
            </a:pPr>
            <a:r>
              <a:rPr lang="en-US" sz="1100" b="1" dirty="0">
                <a:solidFill>
                  <a:srgbClr val="111111"/>
                </a:solidFill>
                <a:latin typeface="Calibri" pitchFamily="34" charset="0"/>
                <a:ea typeface="Calibri" pitchFamily="34" charset="-122"/>
                <a:cs typeface="Calibri" pitchFamily="34" charset="-120"/>
              </a:rPr>
              <a:t>digital</a:t>
            </a:r>
            <a:pPr algn="ctr" indent="0" marL="0">
              <a:buNone/>
            </a:pPr>
            <a:r>
              <a:rPr lang="en-US" sz="1100" b="1" dirty="0">
                <a:solidFill>
                  <a:srgbClr val="6B6B6B"/>
                </a:solidFill>
                <a:latin typeface="Calibri" pitchFamily="34" charset="0"/>
                <a:ea typeface="Calibri" pitchFamily="34" charset="-122"/>
                <a:cs typeface="Calibri" pitchFamily="34" charset="-120"/>
              </a:rPr>
              <a:t>mobile</a:t>
            </a:r>
            <a:endParaRPr lang="en-US" sz="1100" dirty="0"/>
          </a:p>
        </p:txBody>
      </p:sp>
      <p:sp>
        <p:nvSpPr>
          <p:cNvPr id="29" name="Shape 27"/>
          <p:cNvSpPr/>
          <p:nvPr/>
        </p:nvSpPr>
        <p:spPr>
          <a:xfrm>
            <a:off x="8595360" y="6519672"/>
            <a:ext cx="146304" cy="146304"/>
          </a:xfrm>
          <a:prstGeom prst="ellipse">
            <a:avLst/>
          </a:prstGeom>
          <a:solidFill>
            <a:srgbClr val="111111"/>
          </a:solidFill>
          <a:ln w="12700">
            <a:solidFill>
              <a:srgbClr val="111111"/>
            </a:solidFill>
            <a:prstDash val="solid"/>
          </a:ln>
        </p:spPr>
      </p:sp>
      <p:sp>
        <p:nvSpPr>
          <p:cNvPr id="30" name="Text 28"/>
          <p:cNvSpPr/>
          <p:nvPr/>
        </p:nvSpPr>
        <p:spPr>
          <a:xfrm>
            <a:off x="8778240" y="6473952"/>
            <a:ext cx="2194560" cy="237744"/>
          </a:xfrm>
          <a:prstGeom prst="rect">
            <a:avLst/>
          </a:prstGeom>
          <a:noFill/>
          <a:ln/>
        </p:spPr>
        <p:txBody>
          <a:bodyPr wrap="square" lIns="0" tIns="0" rIns="0" bIns="0" rtlCol="0" anchor="ctr"/>
          <a:lstStyle/>
          <a:p>
            <a:pPr indent="0" marL="0">
              <a:buNone/>
            </a:pPr>
            <a:r>
              <a:rPr lang="en-US" sz="900" i="1" dirty="0">
                <a:solidFill>
                  <a:srgbClr val="111111"/>
                </a:solidFill>
                <a:latin typeface="Calibri" pitchFamily="34" charset="0"/>
                <a:ea typeface="Calibri" pitchFamily="34" charset="-122"/>
                <a:cs typeface="Calibri" pitchFamily="34" charset="-120"/>
              </a:rPr>
              <a:t>#DoingSomethingGreat</a:t>
            </a:r>
            <a:endParaRPr lang="en-US" sz="900" dirty="0"/>
          </a:p>
        </p:txBody>
      </p:sp>
      <p:sp>
        <p:nvSpPr>
          <p:cNvPr id="31" name="Text 29"/>
          <p:cNvSpPr/>
          <p:nvPr/>
        </p:nvSpPr>
        <p:spPr>
          <a:xfrm>
            <a:off x="11002975" y="6473952"/>
            <a:ext cx="914400" cy="237744"/>
          </a:xfrm>
          <a:prstGeom prst="rect">
            <a:avLst/>
          </a:prstGeom>
          <a:noFill/>
          <a:ln/>
        </p:spPr>
        <p:txBody>
          <a:bodyPr wrap="square" lIns="0" tIns="0" rIns="0" bIns="0" rtlCol="0" anchor="ctr"/>
          <a:lstStyle/>
          <a:p>
            <a:pPr algn="r" indent="0" marL="0">
              <a:buNone/>
            </a:pPr>
            <a:r>
              <a:rPr lang="en-US" sz="800" dirty="0">
                <a:solidFill>
                  <a:srgbClr val="6B6B6B"/>
                </a:solidFill>
                <a:latin typeface="Calibri" pitchFamily="34" charset="0"/>
                <a:ea typeface="Calibri" pitchFamily="34" charset="-122"/>
                <a:cs typeface="Calibri" pitchFamily="34" charset="-120"/>
              </a:rPr>
              <a:t>14 / 20</a:t>
            </a:r>
            <a:endParaRPr lang="en-US" sz="800" dirty="0"/>
          </a:p>
        </p:txBody>
      </p:sp>
      <p:sp>
        <p:nvSpPr>
          <p:cNvPr id="32" name="Shape 30"/>
          <p:cNvSpPr/>
          <p:nvPr/>
        </p:nvSpPr>
        <p:spPr>
          <a:xfrm>
            <a:off x="502920" y="1828800"/>
            <a:ext cx="4572000" cy="4389120"/>
          </a:xfrm>
          <a:prstGeom prst="rect">
            <a:avLst/>
          </a:prstGeom>
          <a:solidFill>
            <a:srgbClr val="111111"/>
          </a:solidFill>
          <a:ln w="12700">
            <a:solidFill>
              <a:srgbClr val="111111"/>
            </a:solidFill>
            <a:prstDash val="solid"/>
          </a:ln>
        </p:spPr>
      </p:sp>
      <p:sp>
        <p:nvSpPr>
          <p:cNvPr id="33" name="Text 31"/>
          <p:cNvSpPr/>
          <p:nvPr/>
        </p:nvSpPr>
        <p:spPr>
          <a:xfrm>
            <a:off x="731520" y="2103120"/>
            <a:ext cx="4114800" cy="1097280"/>
          </a:xfrm>
          <a:prstGeom prst="rect">
            <a:avLst/>
          </a:prstGeom>
          <a:noFill/>
          <a:ln/>
        </p:spPr>
        <p:txBody>
          <a:bodyPr wrap="square" lIns="0" tIns="0" rIns="0" bIns="0" rtlCol="0" anchor="ctr"/>
          <a:lstStyle/>
          <a:p>
            <a:pPr indent="0" marL="0">
              <a:buNone/>
            </a:pPr>
            <a:r>
              <a:rPr lang="en-US" sz="6400" b="1" dirty="0">
                <a:solidFill>
                  <a:srgbClr val="FFFFFF"/>
                </a:solidFill>
                <a:latin typeface="Georgia" pitchFamily="34" charset="0"/>
                <a:ea typeface="Georgia" pitchFamily="34" charset="-122"/>
                <a:cs typeface="Georgia" pitchFamily="34" charset="-120"/>
              </a:rPr>
              <a:t>Xanite.</a:t>
            </a:r>
            <a:endParaRPr lang="en-US" sz="6400" dirty="0"/>
          </a:p>
        </p:txBody>
      </p:sp>
      <p:sp>
        <p:nvSpPr>
          <p:cNvPr id="34" name="Shape 32"/>
          <p:cNvSpPr/>
          <p:nvPr/>
        </p:nvSpPr>
        <p:spPr>
          <a:xfrm>
            <a:off x="731520" y="3474720"/>
            <a:ext cx="1097280" cy="0"/>
          </a:xfrm>
          <a:prstGeom prst="line">
            <a:avLst/>
          </a:prstGeom>
          <a:noFill/>
          <a:ln w="15875">
            <a:solidFill>
              <a:srgbClr val="FFFFFF"/>
            </a:solidFill>
            <a:prstDash val="solid"/>
          </a:ln>
        </p:spPr>
      </p:sp>
      <p:sp>
        <p:nvSpPr>
          <p:cNvPr id="35" name="Text 33"/>
          <p:cNvSpPr/>
          <p:nvPr/>
        </p:nvSpPr>
        <p:spPr>
          <a:xfrm>
            <a:off x="731520" y="3611880"/>
            <a:ext cx="4114800" cy="320040"/>
          </a:xfrm>
          <a:prstGeom prst="rect">
            <a:avLst/>
          </a:prstGeom>
          <a:noFill/>
          <a:ln/>
        </p:spPr>
        <p:txBody>
          <a:bodyPr wrap="square" lIns="0" tIns="0" rIns="0" bIns="0" rtlCol="0" anchor="ctr"/>
          <a:lstStyle/>
          <a:p>
            <a:pPr indent="0" marL="0">
              <a:buNone/>
            </a:pPr>
            <a:r>
              <a:rPr lang="en-US" sz="1000" b="1" spc="300" kern="0" dirty="0">
                <a:solidFill>
                  <a:srgbClr val="D9D9D9"/>
                </a:solidFill>
                <a:latin typeface="Calibri" pitchFamily="34" charset="0"/>
                <a:ea typeface="Calibri" pitchFamily="34" charset="-122"/>
                <a:cs typeface="Calibri" pitchFamily="34" charset="-120"/>
              </a:rPr>
              <a:t>CUSTOMER VALUE MANAGEMENT</a:t>
            </a:r>
            <a:endParaRPr lang="en-US" sz="1000" dirty="0"/>
          </a:p>
        </p:txBody>
      </p:sp>
      <p:sp>
        <p:nvSpPr>
          <p:cNvPr id="36" name="Text 34"/>
          <p:cNvSpPr/>
          <p:nvPr/>
        </p:nvSpPr>
        <p:spPr>
          <a:xfrm>
            <a:off x="731520" y="4023360"/>
            <a:ext cx="4114800" cy="1828800"/>
          </a:xfrm>
          <a:prstGeom prst="rect">
            <a:avLst/>
          </a:prstGeom>
          <a:noFill/>
          <a:ln/>
        </p:spPr>
        <p:txBody>
          <a:bodyPr wrap="square" lIns="0" tIns="0" rIns="0" bIns="0" rtlCol="0" anchor="ctr"/>
          <a:lstStyle/>
          <a:p>
            <a:pPr indent="0" marL="0">
              <a:buNone/>
            </a:pPr>
            <a:r>
              <a:rPr lang="en-US" sz="1200" i="1" dirty="0">
                <a:solidFill>
                  <a:srgbClr val="D9D9D9"/>
                </a:solidFill>
                <a:latin typeface="Calibri" pitchFamily="34" charset="0"/>
                <a:ea typeface="Calibri" pitchFamily="34" charset="-122"/>
                <a:cs typeface="Calibri" pitchFamily="34" charset="-120"/>
              </a:rPr>
              <a:t>Real-time segmentation, campaign execution and CDR-driven orchestration — the platform behind Arena's retention, upsell and churn-defence.</a:t>
            </a:r>
            <a:endParaRPr lang="en-US" sz="1200" dirty="0"/>
          </a:p>
        </p:txBody>
      </p:sp>
      <p:sp>
        <p:nvSpPr>
          <p:cNvPr id="37" name="Shape 35"/>
          <p:cNvSpPr/>
          <p:nvPr/>
        </p:nvSpPr>
        <p:spPr>
          <a:xfrm>
            <a:off x="5486400" y="1920240"/>
            <a:ext cx="228600" cy="548640"/>
          </a:xfrm>
          <a:prstGeom prst="rect">
            <a:avLst/>
          </a:prstGeom>
          <a:solidFill>
            <a:srgbClr val="111111"/>
          </a:solidFill>
          <a:ln w="12700">
            <a:solidFill>
              <a:srgbClr val="111111"/>
            </a:solidFill>
            <a:prstDash val="solid"/>
          </a:ln>
        </p:spPr>
      </p:sp>
      <p:sp>
        <p:nvSpPr>
          <p:cNvPr id="38" name="Text 36"/>
          <p:cNvSpPr/>
          <p:nvPr/>
        </p:nvSpPr>
        <p:spPr>
          <a:xfrm>
            <a:off x="5897880" y="1920240"/>
            <a:ext cx="5943600" cy="548640"/>
          </a:xfrm>
          <a:prstGeom prst="rect">
            <a:avLst/>
          </a:prstGeom>
          <a:noFill/>
          <a:ln/>
        </p:spPr>
        <p:txBody>
          <a:bodyPr wrap="square" lIns="0" tIns="0" rIns="0" bIns="0" rtlCol="0" anchor="ctr"/>
          <a:lstStyle/>
          <a:p>
            <a:pPr indent="0" marL="0">
              <a:buNone/>
            </a:pPr>
            <a:r>
              <a:rPr lang="en-US" sz="1250" dirty="0">
                <a:solidFill>
                  <a:srgbClr val="111111"/>
                </a:solidFill>
                <a:latin typeface="Calibri" pitchFamily="34" charset="0"/>
                <a:ea typeface="Calibri" pitchFamily="34" charset="-122"/>
                <a:cs typeface="Calibri" pitchFamily="34" charset="-120"/>
              </a:rPr>
              <a:t>Real-time segmentation and predictive modelling</a:t>
            </a:r>
            <a:endParaRPr lang="en-US" sz="1250" dirty="0"/>
          </a:p>
        </p:txBody>
      </p:sp>
      <p:sp>
        <p:nvSpPr>
          <p:cNvPr id="39" name="Shape 37"/>
          <p:cNvSpPr/>
          <p:nvPr/>
        </p:nvSpPr>
        <p:spPr>
          <a:xfrm>
            <a:off x="5486400" y="2523744"/>
            <a:ext cx="6309360" cy="0"/>
          </a:xfrm>
          <a:prstGeom prst="line">
            <a:avLst/>
          </a:prstGeom>
          <a:noFill/>
          <a:ln w="5080">
            <a:solidFill>
              <a:srgbClr val="BFBFBF"/>
            </a:solidFill>
            <a:prstDash val="solid"/>
          </a:ln>
        </p:spPr>
      </p:sp>
      <p:sp>
        <p:nvSpPr>
          <p:cNvPr id="40" name="Shape 38"/>
          <p:cNvSpPr/>
          <p:nvPr/>
        </p:nvSpPr>
        <p:spPr>
          <a:xfrm>
            <a:off x="5486400" y="2651760"/>
            <a:ext cx="228600" cy="548640"/>
          </a:xfrm>
          <a:prstGeom prst="rect">
            <a:avLst/>
          </a:prstGeom>
          <a:solidFill>
            <a:srgbClr val="111111"/>
          </a:solidFill>
          <a:ln w="12700">
            <a:solidFill>
              <a:srgbClr val="111111"/>
            </a:solidFill>
            <a:prstDash val="solid"/>
          </a:ln>
        </p:spPr>
      </p:sp>
      <p:sp>
        <p:nvSpPr>
          <p:cNvPr id="41" name="Text 39"/>
          <p:cNvSpPr/>
          <p:nvPr/>
        </p:nvSpPr>
        <p:spPr>
          <a:xfrm>
            <a:off x="5897880" y="2651760"/>
            <a:ext cx="5943600" cy="548640"/>
          </a:xfrm>
          <a:prstGeom prst="rect">
            <a:avLst/>
          </a:prstGeom>
          <a:noFill/>
          <a:ln/>
        </p:spPr>
        <p:txBody>
          <a:bodyPr wrap="square" lIns="0" tIns="0" rIns="0" bIns="0" rtlCol="0" anchor="ctr"/>
          <a:lstStyle/>
          <a:p>
            <a:pPr indent="0" marL="0">
              <a:buNone/>
            </a:pPr>
            <a:r>
              <a:rPr lang="en-US" sz="1250" dirty="0">
                <a:solidFill>
                  <a:srgbClr val="111111"/>
                </a:solidFill>
                <a:latin typeface="Calibri" pitchFamily="34" charset="0"/>
                <a:ea typeface="Calibri" pitchFamily="34" charset="-122"/>
                <a:cs typeface="Calibri" pitchFamily="34" charset="-120"/>
              </a:rPr>
              <a:t>CDR-driven triggers and event processing</a:t>
            </a:r>
            <a:endParaRPr lang="en-US" sz="1250" dirty="0"/>
          </a:p>
        </p:txBody>
      </p:sp>
      <p:sp>
        <p:nvSpPr>
          <p:cNvPr id="42" name="Shape 40"/>
          <p:cNvSpPr/>
          <p:nvPr/>
        </p:nvSpPr>
        <p:spPr>
          <a:xfrm>
            <a:off x="5486400" y="3255264"/>
            <a:ext cx="6309360" cy="0"/>
          </a:xfrm>
          <a:prstGeom prst="line">
            <a:avLst/>
          </a:prstGeom>
          <a:noFill/>
          <a:ln w="5080">
            <a:solidFill>
              <a:srgbClr val="BFBFBF"/>
            </a:solidFill>
            <a:prstDash val="solid"/>
          </a:ln>
        </p:spPr>
      </p:sp>
      <p:sp>
        <p:nvSpPr>
          <p:cNvPr id="43" name="Shape 41"/>
          <p:cNvSpPr/>
          <p:nvPr/>
        </p:nvSpPr>
        <p:spPr>
          <a:xfrm>
            <a:off x="5486400" y="3383280"/>
            <a:ext cx="228600" cy="548640"/>
          </a:xfrm>
          <a:prstGeom prst="rect">
            <a:avLst/>
          </a:prstGeom>
          <a:solidFill>
            <a:srgbClr val="111111"/>
          </a:solidFill>
          <a:ln w="12700">
            <a:solidFill>
              <a:srgbClr val="111111"/>
            </a:solidFill>
            <a:prstDash val="solid"/>
          </a:ln>
        </p:spPr>
      </p:sp>
      <p:sp>
        <p:nvSpPr>
          <p:cNvPr id="44" name="Text 42"/>
          <p:cNvSpPr/>
          <p:nvPr/>
        </p:nvSpPr>
        <p:spPr>
          <a:xfrm>
            <a:off x="5897880" y="3383280"/>
            <a:ext cx="5943600" cy="548640"/>
          </a:xfrm>
          <a:prstGeom prst="rect">
            <a:avLst/>
          </a:prstGeom>
          <a:noFill/>
          <a:ln/>
        </p:spPr>
        <p:txBody>
          <a:bodyPr wrap="square" lIns="0" tIns="0" rIns="0" bIns="0" rtlCol="0" anchor="ctr"/>
          <a:lstStyle/>
          <a:p>
            <a:pPr indent="0" marL="0">
              <a:buNone/>
            </a:pPr>
            <a:r>
              <a:rPr lang="en-US" sz="1250" dirty="0">
                <a:solidFill>
                  <a:srgbClr val="111111"/>
                </a:solidFill>
                <a:latin typeface="Calibri" pitchFamily="34" charset="0"/>
                <a:ea typeface="Calibri" pitchFamily="34" charset="-122"/>
                <a:cs typeface="Calibri" pitchFamily="34" charset="-120"/>
              </a:rPr>
              <a:t>Automated, intelligent campaign execution</a:t>
            </a:r>
            <a:endParaRPr lang="en-US" sz="1250" dirty="0"/>
          </a:p>
        </p:txBody>
      </p:sp>
      <p:sp>
        <p:nvSpPr>
          <p:cNvPr id="45" name="Shape 43"/>
          <p:cNvSpPr/>
          <p:nvPr/>
        </p:nvSpPr>
        <p:spPr>
          <a:xfrm>
            <a:off x="5486400" y="3986784"/>
            <a:ext cx="6309360" cy="0"/>
          </a:xfrm>
          <a:prstGeom prst="line">
            <a:avLst/>
          </a:prstGeom>
          <a:noFill/>
          <a:ln w="5080">
            <a:solidFill>
              <a:srgbClr val="BFBFBF"/>
            </a:solidFill>
            <a:prstDash val="solid"/>
          </a:ln>
        </p:spPr>
      </p:sp>
      <p:sp>
        <p:nvSpPr>
          <p:cNvPr id="46" name="Shape 44"/>
          <p:cNvSpPr/>
          <p:nvPr/>
        </p:nvSpPr>
        <p:spPr>
          <a:xfrm>
            <a:off x="5486400" y="4114800"/>
            <a:ext cx="228600" cy="548640"/>
          </a:xfrm>
          <a:prstGeom prst="rect">
            <a:avLst/>
          </a:prstGeom>
          <a:solidFill>
            <a:srgbClr val="111111"/>
          </a:solidFill>
          <a:ln w="12700">
            <a:solidFill>
              <a:srgbClr val="111111"/>
            </a:solidFill>
            <a:prstDash val="solid"/>
          </a:ln>
        </p:spPr>
      </p:sp>
      <p:sp>
        <p:nvSpPr>
          <p:cNvPr id="47" name="Text 45"/>
          <p:cNvSpPr/>
          <p:nvPr/>
        </p:nvSpPr>
        <p:spPr>
          <a:xfrm>
            <a:off x="5897880" y="4114800"/>
            <a:ext cx="5943600" cy="548640"/>
          </a:xfrm>
          <a:prstGeom prst="rect">
            <a:avLst/>
          </a:prstGeom>
          <a:noFill/>
          <a:ln/>
        </p:spPr>
        <p:txBody>
          <a:bodyPr wrap="square" lIns="0" tIns="0" rIns="0" bIns="0" rtlCol="0" anchor="ctr"/>
          <a:lstStyle/>
          <a:p>
            <a:pPr indent="0" marL="0">
              <a:buNone/>
            </a:pPr>
            <a:r>
              <a:rPr lang="en-US" sz="1250" dirty="0">
                <a:solidFill>
                  <a:srgbClr val="111111"/>
                </a:solidFill>
                <a:latin typeface="Calibri" pitchFamily="34" charset="0"/>
                <a:ea typeface="Calibri" pitchFamily="34" charset="-122"/>
                <a:cs typeface="Calibri" pitchFamily="34" charset="-120"/>
              </a:rPr>
              <a:t>Gamified loyalty and rewards engine</a:t>
            </a:r>
            <a:endParaRPr lang="en-US" sz="1250" dirty="0"/>
          </a:p>
        </p:txBody>
      </p:sp>
      <p:sp>
        <p:nvSpPr>
          <p:cNvPr id="48" name="Shape 46"/>
          <p:cNvSpPr/>
          <p:nvPr/>
        </p:nvSpPr>
        <p:spPr>
          <a:xfrm>
            <a:off x="5486400" y="4718304"/>
            <a:ext cx="6309360" cy="0"/>
          </a:xfrm>
          <a:prstGeom prst="line">
            <a:avLst/>
          </a:prstGeom>
          <a:noFill/>
          <a:ln w="5080">
            <a:solidFill>
              <a:srgbClr val="BFBFBF"/>
            </a:solidFill>
            <a:prstDash val="solid"/>
          </a:ln>
        </p:spPr>
      </p:sp>
      <p:sp>
        <p:nvSpPr>
          <p:cNvPr id="49" name="Shape 47"/>
          <p:cNvSpPr/>
          <p:nvPr/>
        </p:nvSpPr>
        <p:spPr>
          <a:xfrm>
            <a:off x="5486400" y="4846320"/>
            <a:ext cx="228600" cy="548640"/>
          </a:xfrm>
          <a:prstGeom prst="rect">
            <a:avLst/>
          </a:prstGeom>
          <a:solidFill>
            <a:srgbClr val="111111"/>
          </a:solidFill>
          <a:ln w="12700">
            <a:solidFill>
              <a:srgbClr val="111111"/>
            </a:solidFill>
            <a:prstDash val="solid"/>
          </a:ln>
        </p:spPr>
      </p:sp>
      <p:sp>
        <p:nvSpPr>
          <p:cNvPr id="50" name="Text 48"/>
          <p:cNvSpPr/>
          <p:nvPr/>
        </p:nvSpPr>
        <p:spPr>
          <a:xfrm>
            <a:off x="5897880" y="4846320"/>
            <a:ext cx="5943600" cy="548640"/>
          </a:xfrm>
          <a:prstGeom prst="rect">
            <a:avLst/>
          </a:prstGeom>
          <a:noFill/>
          <a:ln/>
        </p:spPr>
        <p:txBody>
          <a:bodyPr wrap="square" lIns="0" tIns="0" rIns="0" bIns="0" rtlCol="0" anchor="ctr"/>
          <a:lstStyle/>
          <a:p>
            <a:pPr indent="0" marL="0">
              <a:buNone/>
            </a:pPr>
            <a:r>
              <a:rPr lang="en-US" sz="1250" dirty="0">
                <a:solidFill>
                  <a:srgbClr val="111111"/>
                </a:solidFill>
                <a:latin typeface="Calibri" pitchFamily="34" charset="0"/>
                <a:ea typeface="Calibri" pitchFamily="34" charset="-122"/>
                <a:cs typeface="Calibri" pitchFamily="34" charset="-120"/>
              </a:rPr>
              <a:t>Multi-channel engagement — WhatsApp, SFMC, SMS, USSD</a:t>
            </a:r>
            <a:endParaRPr lang="en-US" sz="1250" dirty="0"/>
          </a:p>
        </p:txBody>
      </p:sp>
      <p:sp>
        <p:nvSpPr>
          <p:cNvPr id="51" name="Shape 49"/>
          <p:cNvSpPr/>
          <p:nvPr/>
        </p:nvSpPr>
        <p:spPr>
          <a:xfrm>
            <a:off x="5486400" y="5449824"/>
            <a:ext cx="6309360" cy="0"/>
          </a:xfrm>
          <a:prstGeom prst="line">
            <a:avLst/>
          </a:prstGeom>
          <a:noFill/>
          <a:ln w="5080">
            <a:solidFill>
              <a:srgbClr val="BFBFBF"/>
            </a:solidFill>
            <a:prstDash val="solid"/>
          </a:ln>
        </p:spPr>
      </p:sp>
      <p:sp>
        <p:nvSpPr>
          <p:cNvPr id="52" name="Shape 50"/>
          <p:cNvSpPr/>
          <p:nvPr/>
        </p:nvSpPr>
        <p:spPr>
          <a:xfrm>
            <a:off x="5486400" y="5577840"/>
            <a:ext cx="228600" cy="548640"/>
          </a:xfrm>
          <a:prstGeom prst="rect">
            <a:avLst/>
          </a:prstGeom>
          <a:solidFill>
            <a:srgbClr val="111111"/>
          </a:solidFill>
          <a:ln w="12700">
            <a:solidFill>
              <a:srgbClr val="111111"/>
            </a:solidFill>
            <a:prstDash val="solid"/>
          </a:ln>
        </p:spPr>
      </p:sp>
      <p:sp>
        <p:nvSpPr>
          <p:cNvPr id="53" name="Text 51"/>
          <p:cNvSpPr/>
          <p:nvPr/>
        </p:nvSpPr>
        <p:spPr>
          <a:xfrm>
            <a:off x="5897880" y="5577840"/>
            <a:ext cx="5943600" cy="548640"/>
          </a:xfrm>
          <a:prstGeom prst="rect">
            <a:avLst/>
          </a:prstGeom>
          <a:noFill/>
          <a:ln/>
        </p:spPr>
        <p:txBody>
          <a:bodyPr wrap="square" lIns="0" tIns="0" rIns="0" bIns="0" rtlCol="0" anchor="ctr"/>
          <a:lstStyle/>
          <a:p>
            <a:pPr indent="0" marL="0">
              <a:buNone/>
            </a:pPr>
            <a:r>
              <a:rPr lang="en-US" sz="1250" dirty="0">
                <a:solidFill>
                  <a:srgbClr val="111111"/>
                </a:solidFill>
                <a:latin typeface="Calibri" pitchFamily="34" charset="0"/>
                <a:ea typeface="Calibri" pitchFamily="34" charset="-122"/>
                <a:cs typeface="Calibri" pitchFamily="34" charset="-120"/>
              </a:rPr>
              <a:t>Fast rollout with modular components</a:t>
            </a:r>
            <a:endParaRPr lang="en-US" sz="1250" dirty="0"/>
          </a:p>
        </p:txBody>
      </p:sp>
      <p:sp>
        <p:nvSpPr>
          <p:cNvPr id="54" name="Shape 52"/>
          <p:cNvSpPr/>
          <p:nvPr/>
        </p:nvSpPr>
        <p:spPr>
          <a:xfrm>
            <a:off x="5486400" y="6181344"/>
            <a:ext cx="6309360" cy="0"/>
          </a:xfrm>
          <a:prstGeom prst="line">
            <a:avLst/>
          </a:prstGeom>
          <a:noFill/>
          <a:ln w="5080">
            <a:solidFill>
              <a:srgbClr val="BFBFBF"/>
            </a:solidFill>
            <a:prstDash val="solid"/>
          </a:ln>
        </p:spPr>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20040" y="182880"/>
            <a:ext cx="1417320" cy="438912"/>
          </a:xfrm>
          <a:prstGeom prst="rect">
            <a:avLst/>
          </a:prstGeom>
          <a:solidFill>
            <a:srgbClr val="111111"/>
          </a:solidFill>
          <a:ln w="12700">
            <a:solidFill>
              <a:srgbClr val="111111"/>
            </a:solidFill>
            <a:prstDash val="solid"/>
          </a:ln>
        </p:spPr>
      </p:sp>
      <p:sp>
        <p:nvSpPr>
          <p:cNvPr id="3" name="Text 1"/>
          <p:cNvSpPr/>
          <p:nvPr/>
        </p:nvSpPr>
        <p:spPr>
          <a:xfrm>
            <a:off x="320040" y="182880"/>
            <a:ext cx="1417320" cy="438912"/>
          </a:xfrm>
          <a:prstGeom prst="rect">
            <a:avLst/>
          </a:prstGeom>
          <a:noFill/>
          <a:ln/>
        </p:spPr>
        <p:txBody>
          <a:bodyPr wrap="square" lIns="0" tIns="0" rIns="0" bIns="0" rtlCol="0" anchor="ctr"/>
          <a:lstStyle/>
          <a:p>
            <a:pPr algn="ctr" indent="0" marL="0">
              <a:buNone/>
            </a:pPr>
            <a:r>
              <a:rPr lang="en-US" sz="1500" b="1" spc="400" kern="0" dirty="0">
                <a:solidFill>
                  <a:srgbClr val="FFFFFF"/>
                </a:solidFill>
                <a:latin typeface="Calibri" pitchFamily="34" charset="0"/>
                <a:ea typeface="Calibri" pitchFamily="34" charset="-122"/>
                <a:cs typeface="Calibri" pitchFamily="34" charset="-120"/>
              </a:rPr>
              <a:t>ARENA
</a:t>
            </a:r>
            <a:pPr algn="ctr" indent="0" marL="0">
              <a:buNone/>
            </a:pPr>
            <a:r>
              <a:rPr lang="en-US" sz="600" spc="400" kern="0" dirty="0">
                <a:solidFill>
                  <a:srgbClr val="FFFFFF"/>
                </a:solidFill>
                <a:latin typeface="Calibri" pitchFamily="34" charset="0"/>
                <a:ea typeface="Calibri" pitchFamily="34" charset="-122"/>
                <a:cs typeface="Calibri" pitchFamily="34" charset="-120"/>
              </a:rPr>
              <a:t>H O L D I N G S</a:t>
            </a:r>
            <a:endParaRPr lang="en-US" sz="1500" dirty="0"/>
          </a:p>
        </p:txBody>
      </p:sp>
      <p:sp>
        <p:nvSpPr>
          <p:cNvPr id="4" name="Shape 2"/>
          <p:cNvSpPr/>
          <p:nvPr/>
        </p:nvSpPr>
        <p:spPr>
          <a:xfrm>
            <a:off x="9677095" y="246888"/>
            <a:ext cx="201168" cy="201168"/>
          </a:xfrm>
          <a:prstGeom prst="ellipse">
            <a:avLst/>
          </a:prstGeom>
          <a:solidFill>
            <a:srgbClr val="111111"/>
          </a:solidFill>
          <a:ln w="12700">
            <a:solidFill>
              <a:srgbClr val="111111"/>
            </a:solidFill>
            <a:prstDash val="solid"/>
          </a:ln>
        </p:spPr>
      </p:sp>
      <p:sp>
        <p:nvSpPr>
          <p:cNvPr id="5" name="Text 3"/>
          <p:cNvSpPr/>
          <p:nvPr/>
        </p:nvSpPr>
        <p:spPr>
          <a:xfrm>
            <a:off x="9923983" y="210312"/>
            <a:ext cx="2011680" cy="274320"/>
          </a:xfrm>
          <a:prstGeom prst="rect">
            <a:avLst/>
          </a:prstGeom>
          <a:noFill/>
          <a:ln/>
        </p:spPr>
        <p:txBody>
          <a:bodyPr wrap="square" lIns="0" tIns="0" rIns="0" bIns="0" rtlCol="0" anchor="ctr"/>
          <a:lstStyle/>
          <a:p>
            <a:pPr algn="l" indent="0" marL="0">
              <a:buNone/>
            </a:pPr>
            <a:r>
              <a:rPr lang="en-US" sz="1000" b="1" i="1" dirty="0">
                <a:solidFill>
                  <a:srgbClr val="111111"/>
                </a:solidFill>
                <a:latin typeface="Calibri" pitchFamily="34" charset="0"/>
                <a:ea typeface="Calibri" pitchFamily="34" charset="-122"/>
                <a:cs typeface="Calibri" pitchFamily="34" charset="-120"/>
              </a:rPr>
              <a:t>#DoingSomethingGreat</a:t>
            </a:r>
            <a:endParaRPr lang="en-US" sz="1000" dirty="0"/>
          </a:p>
        </p:txBody>
      </p:sp>
      <p:sp>
        <p:nvSpPr>
          <p:cNvPr id="6" name="Shape 4"/>
          <p:cNvSpPr/>
          <p:nvPr/>
        </p:nvSpPr>
        <p:spPr>
          <a:xfrm>
            <a:off x="5973775" y="0"/>
            <a:ext cx="6217920" cy="1463040"/>
          </a:xfrm>
          <a:prstGeom prst="rect">
            <a:avLst/>
          </a:prstGeom>
          <a:solidFill>
            <a:srgbClr val="F5F5F5"/>
          </a:solidFill>
          <a:ln w="12700">
            <a:solidFill>
              <a:srgbClr val="F5F5F5"/>
            </a:solidFill>
            <a:prstDash val="solid"/>
          </a:ln>
        </p:spPr>
      </p:sp>
      <p:sp>
        <p:nvSpPr>
          <p:cNvPr id="7" name="Shape 5"/>
          <p:cNvSpPr/>
          <p:nvPr/>
        </p:nvSpPr>
        <p:spPr>
          <a:xfrm>
            <a:off x="6248095" y="0"/>
            <a:ext cx="-1280160" cy="1280160"/>
          </a:xfrm>
          <a:prstGeom prst="line">
            <a:avLst/>
          </a:prstGeom>
          <a:noFill/>
          <a:ln w="9525">
            <a:solidFill>
              <a:srgbClr val="EDEDED"/>
            </a:solidFill>
            <a:prstDash val="solid"/>
          </a:ln>
        </p:spPr>
      </p:sp>
      <p:sp>
        <p:nvSpPr>
          <p:cNvPr id="8" name="Shape 6"/>
          <p:cNvSpPr/>
          <p:nvPr/>
        </p:nvSpPr>
        <p:spPr>
          <a:xfrm>
            <a:off x="6659575" y="0"/>
            <a:ext cx="-1280160" cy="1280160"/>
          </a:xfrm>
          <a:prstGeom prst="line">
            <a:avLst/>
          </a:prstGeom>
          <a:noFill/>
          <a:ln w="9525">
            <a:solidFill>
              <a:srgbClr val="EDEDED"/>
            </a:solidFill>
            <a:prstDash val="solid"/>
          </a:ln>
        </p:spPr>
      </p:sp>
      <p:sp>
        <p:nvSpPr>
          <p:cNvPr id="9" name="Shape 7"/>
          <p:cNvSpPr/>
          <p:nvPr/>
        </p:nvSpPr>
        <p:spPr>
          <a:xfrm>
            <a:off x="7071055" y="0"/>
            <a:ext cx="-1280160" cy="1280160"/>
          </a:xfrm>
          <a:prstGeom prst="line">
            <a:avLst/>
          </a:prstGeom>
          <a:noFill/>
          <a:ln w="9525">
            <a:solidFill>
              <a:srgbClr val="EDEDED"/>
            </a:solidFill>
            <a:prstDash val="solid"/>
          </a:ln>
        </p:spPr>
      </p:sp>
      <p:sp>
        <p:nvSpPr>
          <p:cNvPr id="10" name="Shape 8"/>
          <p:cNvSpPr/>
          <p:nvPr/>
        </p:nvSpPr>
        <p:spPr>
          <a:xfrm>
            <a:off x="7482535" y="0"/>
            <a:ext cx="-1280160" cy="1280160"/>
          </a:xfrm>
          <a:prstGeom prst="line">
            <a:avLst/>
          </a:prstGeom>
          <a:noFill/>
          <a:ln w="9525">
            <a:solidFill>
              <a:srgbClr val="EDEDED"/>
            </a:solidFill>
            <a:prstDash val="solid"/>
          </a:ln>
        </p:spPr>
      </p:sp>
      <p:sp>
        <p:nvSpPr>
          <p:cNvPr id="11" name="Shape 9"/>
          <p:cNvSpPr/>
          <p:nvPr/>
        </p:nvSpPr>
        <p:spPr>
          <a:xfrm>
            <a:off x="7894015" y="0"/>
            <a:ext cx="-1280160" cy="1280160"/>
          </a:xfrm>
          <a:prstGeom prst="line">
            <a:avLst/>
          </a:prstGeom>
          <a:noFill/>
          <a:ln w="9525">
            <a:solidFill>
              <a:srgbClr val="EDEDED"/>
            </a:solidFill>
            <a:prstDash val="solid"/>
          </a:ln>
        </p:spPr>
      </p:sp>
      <p:sp>
        <p:nvSpPr>
          <p:cNvPr id="12" name="Shape 10"/>
          <p:cNvSpPr/>
          <p:nvPr/>
        </p:nvSpPr>
        <p:spPr>
          <a:xfrm>
            <a:off x="8305495" y="0"/>
            <a:ext cx="-1280160" cy="1280160"/>
          </a:xfrm>
          <a:prstGeom prst="line">
            <a:avLst/>
          </a:prstGeom>
          <a:noFill/>
          <a:ln w="9525">
            <a:solidFill>
              <a:srgbClr val="EDEDED"/>
            </a:solidFill>
            <a:prstDash val="solid"/>
          </a:ln>
        </p:spPr>
      </p:sp>
      <p:sp>
        <p:nvSpPr>
          <p:cNvPr id="13" name="Shape 11"/>
          <p:cNvSpPr/>
          <p:nvPr/>
        </p:nvSpPr>
        <p:spPr>
          <a:xfrm>
            <a:off x="8716975" y="0"/>
            <a:ext cx="-1280160" cy="1280160"/>
          </a:xfrm>
          <a:prstGeom prst="line">
            <a:avLst/>
          </a:prstGeom>
          <a:noFill/>
          <a:ln w="9525">
            <a:solidFill>
              <a:srgbClr val="EDEDED"/>
            </a:solidFill>
            <a:prstDash val="solid"/>
          </a:ln>
        </p:spPr>
      </p:sp>
      <p:sp>
        <p:nvSpPr>
          <p:cNvPr id="14" name="Shape 12"/>
          <p:cNvSpPr/>
          <p:nvPr/>
        </p:nvSpPr>
        <p:spPr>
          <a:xfrm>
            <a:off x="9128455" y="0"/>
            <a:ext cx="-1280160" cy="1280160"/>
          </a:xfrm>
          <a:prstGeom prst="line">
            <a:avLst/>
          </a:prstGeom>
          <a:noFill/>
          <a:ln w="9525">
            <a:solidFill>
              <a:srgbClr val="EDEDED"/>
            </a:solidFill>
            <a:prstDash val="solid"/>
          </a:ln>
        </p:spPr>
      </p:sp>
      <p:sp>
        <p:nvSpPr>
          <p:cNvPr id="15" name="Shape 13"/>
          <p:cNvSpPr/>
          <p:nvPr/>
        </p:nvSpPr>
        <p:spPr>
          <a:xfrm>
            <a:off x="9539935" y="0"/>
            <a:ext cx="-1280160" cy="1280160"/>
          </a:xfrm>
          <a:prstGeom prst="line">
            <a:avLst/>
          </a:prstGeom>
          <a:noFill/>
          <a:ln w="9525">
            <a:solidFill>
              <a:srgbClr val="EDEDED"/>
            </a:solidFill>
            <a:prstDash val="solid"/>
          </a:ln>
        </p:spPr>
      </p:sp>
      <p:sp>
        <p:nvSpPr>
          <p:cNvPr id="16" name="Shape 14"/>
          <p:cNvSpPr/>
          <p:nvPr/>
        </p:nvSpPr>
        <p:spPr>
          <a:xfrm>
            <a:off x="9951415" y="0"/>
            <a:ext cx="-1280160" cy="1280160"/>
          </a:xfrm>
          <a:prstGeom prst="line">
            <a:avLst/>
          </a:prstGeom>
          <a:noFill/>
          <a:ln w="9525">
            <a:solidFill>
              <a:srgbClr val="EDEDED"/>
            </a:solidFill>
            <a:prstDash val="solid"/>
          </a:ln>
        </p:spPr>
      </p:sp>
      <p:sp>
        <p:nvSpPr>
          <p:cNvPr id="17" name="Shape 15"/>
          <p:cNvSpPr/>
          <p:nvPr/>
        </p:nvSpPr>
        <p:spPr>
          <a:xfrm>
            <a:off x="10362895" y="0"/>
            <a:ext cx="-1280160" cy="1280160"/>
          </a:xfrm>
          <a:prstGeom prst="line">
            <a:avLst/>
          </a:prstGeom>
          <a:noFill/>
          <a:ln w="9525">
            <a:solidFill>
              <a:srgbClr val="EDEDED"/>
            </a:solidFill>
            <a:prstDash val="solid"/>
          </a:ln>
        </p:spPr>
      </p:sp>
      <p:sp>
        <p:nvSpPr>
          <p:cNvPr id="18" name="Shape 16"/>
          <p:cNvSpPr/>
          <p:nvPr/>
        </p:nvSpPr>
        <p:spPr>
          <a:xfrm>
            <a:off x="10774375" y="0"/>
            <a:ext cx="-1280160" cy="1280160"/>
          </a:xfrm>
          <a:prstGeom prst="line">
            <a:avLst/>
          </a:prstGeom>
          <a:noFill/>
          <a:ln w="9525">
            <a:solidFill>
              <a:srgbClr val="EDEDED"/>
            </a:solidFill>
            <a:prstDash val="solid"/>
          </a:ln>
        </p:spPr>
      </p:sp>
      <p:sp>
        <p:nvSpPr>
          <p:cNvPr id="19" name="Shape 17"/>
          <p:cNvSpPr/>
          <p:nvPr/>
        </p:nvSpPr>
        <p:spPr>
          <a:xfrm>
            <a:off x="11185855" y="0"/>
            <a:ext cx="-1280160" cy="1280160"/>
          </a:xfrm>
          <a:prstGeom prst="line">
            <a:avLst/>
          </a:prstGeom>
          <a:noFill/>
          <a:ln w="9525">
            <a:solidFill>
              <a:srgbClr val="EDEDED"/>
            </a:solidFill>
            <a:prstDash val="solid"/>
          </a:ln>
        </p:spPr>
      </p:sp>
      <p:sp>
        <p:nvSpPr>
          <p:cNvPr id="20" name="Shape 18"/>
          <p:cNvSpPr/>
          <p:nvPr/>
        </p:nvSpPr>
        <p:spPr>
          <a:xfrm>
            <a:off x="11597335" y="0"/>
            <a:ext cx="-1280160" cy="1280160"/>
          </a:xfrm>
          <a:prstGeom prst="line">
            <a:avLst/>
          </a:prstGeom>
          <a:noFill/>
          <a:ln w="9525">
            <a:solidFill>
              <a:srgbClr val="EDEDED"/>
            </a:solidFill>
            <a:prstDash val="solid"/>
          </a:ln>
        </p:spPr>
      </p:sp>
      <p:sp>
        <p:nvSpPr>
          <p:cNvPr id="21" name="Shape 19"/>
          <p:cNvSpPr/>
          <p:nvPr/>
        </p:nvSpPr>
        <p:spPr>
          <a:xfrm>
            <a:off x="320040" y="1481328"/>
            <a:ext cx="11551615" cy="0"/>
          </a:xfrm>
          <a:prstGeom prst="line">
            <a:avLst/>
          </a:prstGeom>
          <a:noFill/>
          <a:ln w="15875">
            <a:solidFill>
              <a:srgbClr val="111111"/>
            </a:solidFill>
            <a:prstDash val="solid"/>
          </a:ln>
        </p:spPr>
      </p:sp>
      <p:sp>
        <p:nvSpPr>
          <p:cNvPr id="22" name="Text 20"/>
          <p:cNvSpPr/>
          <p:nvPr/>
        </p:nvSpPr>
        <p:spPr>
          <a:xfrm>
            <a:off x="5486400" y="292608"/>
            <a:ext cx="6309360" cy="685800"/>
          </a:xfrm>
          <a:prstGeom prst="rect">
            <a:avLst/>
          </a:prstGeom>
          <a:noFill/>
          <a:ln/>
        </p:spPr>
        <p:txBody>
          <a:bodyPr wrap="square" lIns="0" tIns="0" rIns="0" bIns="0" rtlCol="0" anchor="ctr"/>
          <a:lstStyle/>
          <a:p>
            <a:pPr algn="r" indent="0" marL="0">
              <a:buNone/>
            </a:pPr>
            <a:r>
              <a:rPr lang="en-US" sz="2600" b="1" dirty="0">
                <a:solidFill>
                  <a:srgbClr val="111111"/>
                </a:solidFill>
                <a:latin typeface="Calibri" pitchFamily="34" charset="0"/>
                <a:ea typeface="Calibri" pitchFamily="34" charset="-122"/>
                <a:cs typeface="Calibri" pitchFamily="34" charset="-120"/>
              </a:rPr>
              <a:t>Travel eSIM</a:t>
            </a:r>
            <a:endParaRPr lang="en-US" sz="2600" dirty="0"/>
          </a:p>
        </p:txBody>
      </p:sp>
      <p:sp>
        <p:nvSpPr>
          <p:cNvPr id="23" name="Text 21"/>
          <p:cNvSpPr/>
          <p:nvPr/>
        </p:nvSpPr>
        <p:spPr>
          <a:xfrm>
            <a:off x="5486400" y="960120"/>
            <a:ext cx="6309360" cy="365760"/>
          </a:xfrm>
          <a:prstGeom prst="rect">
            <a:avLst/>
          </a:prstGeom>
          <a:noFill/>
          <a:ln/>
        </p:spPr>
        <p:txBody>
          <a:bodyPr wrap="square" lIns="0" tIns="0" rIns="0" bIns="0" rtlCol="0" anchor="ctr"/>
          <a:lstStyle/>
          <a:p>
            <a:pPr algn="r" indent="0" marL="0">
              <a:buNone/>
            </a:pPr>
            <a:r>
              <a:rPr lang="en-US" sz="1200" i="1" dirty="0">
                <a:solidFill>
                  <a:srgbClr val="6B6B6B"/>
                </a:solidFill>
                <a:latin typeface="Calibri" pitchFamily="34" charset="0"/>
                <a:ea typeface="Calibri" pitchFamily="34" charset="-122"/>
                <a:cs typeface="Calibri" pitchFamily="34" charset="-120"/>
              </a:rPr>
              <a:t>Own-branded, itinerary-aware, loyalty-integrated</a:t>
            </a:r>
            <a:endParaRPr lang="en-US" sz="1200" dirty="0"/>
          </a:p>
        </p:txBody>
      </p:sp>
      <p:sp>
        <p:nvSpPr>
          <p:cNvPr id="24" name="Shape 22"/>
          <p:cNvSpPr/>
          <p:nvPr/>
        </p:nvSpPr>
        <p:spPr>
          <a:xfrm>
            <a:off x="320040" y="6355080"/>
            <a:ext cx="11551615" cy="0"/>
          </a:xfrm>
          <a:prstGeom prst="line">
            <a:avLst/>
          </a:prstGeom>
          <a:noFill/>
          <a:ln w="6350">
            <a:solidFill>
              <a:srgbClr val="BFBFBF"/>
            </a:solidFill>
            <a:prstDash val="solid"/>
          </a:ln>
        </p:spPr>
      </p:sp>
      <p:sp>
        <p:nvSpPr>
          <p:cNvPr id="25" name="Shape 23"/>
          <p:cNvSpPr/>
          <p:nvPr/>
        </p:nvSpPr>
        <p:spPr>
          <a:xfrm>
            <a:off x="320040" y="6473952"/>
            <a:ext cx="502920" cy="237744"/>
          </a:xfrm>
          <a:prstGeom prst="rect">
            <a:avLst/>
          </a:prstGeom>
          <a:solidFill>
            <a:srgbClr val="111111"/>
          </a:solidFill>
          <a:ln w="12700">
            <a:solidFill>
              <a:srgbClr val="111111"/>
            </a:solidFill>
            <a:prstDash val="solid"/>
          </a:ln>
        </p:spPr>
      </p:sp>
      <p:sp>
        <p:nvSpPr>
          <p:cNvPr id="26" name="Text 24"/>
          <p:cNvSpPr/>
          <p:nvPr/>
        </p:nvSpPr>
        <p:spPr>
          <a:xfrm>
            <a:off x="320040" y="6473952"/>
            <a:ext cx="502920" cy="237744"/>
          </a:xfrm>
          <a:prstGeom prst="rect">
            <a:avLst/>
          </a:prstGeom>
          <a:noFill/>
          <a:ln/>
        </p:spPr>
        <p:txBody>
          <a:bodyPr wrap="square" lIns="0" tIns="0" rIns="0" bIns="0" rtlCol="0" anchor="ctr"/>
          <a:lstStyle/>
          <a:p>
            <a:pPr algn="ctr" indent="0" marL="0">
              <a:buNone/>
            </a:pPr>
            <a:r>
              <a:rPr lang="en-US" sz="900" b="1" spc="200" kern="0" dirty="0">
                <a:solidFill>
                  <a:srgbClr val="FFFFFF"/>
                </a:solidFill>
                <a:latin typeface="Calibri" pitchFamily="34" charset="0"/>
                <a:ea typeface="Calibri" pitchFamily="34" charset="-122"/>
                <a:cs typeface="Calibri" pitchFamily="34" charset="-120"/>
              </a:rPr>
              <a:t>DSG</a:t>
            </a:r>
            <a:endParaRPr lang="en-US" sz="900" dirty="0"/>
          </a:p>
        </p:txBody>
      </p:sp>
      <p:sp>
        <p:nvSpPr>
          <p:cNvPr id="27" name="Text 25"/>
          <p:cNvSpPr/>
          <p:nvPr/>
        </p:nvSpPr>
        <p:spPr>
          <a:xfrm>
            <a:off x="868680" y="6473952"/>
            <a:ext cx="2194560" cy="237744"/>
          </a:xfrm>
          <a:prstGeom prst="rect">
            <a:avLst/>
          </a:prstGeom>
          <a:noFill/>
          <a:ln/>
        </p:spPr>
        <p:txBody>
          <a:bodyPr wrap="square" lIns="0" tIns="0" rIns="0" bIns="0" rtlCol="0" anchor="ctr"/>
          <a:lstStyle/>
          <a:p>
            <a:pPr indent="0" marL="0">
              <a:buNone/>
            </a:pPr>
            <a:r>
              <a:rPr lang="en-US" sz="650" spc="200" kern="0" dirty="0">
                <a:solidFill>
                  <a:srgbClr val="6B6B6B"/>
                </a:solidFill>
                <a:latin typeface="Calibri" pitchFamily="34" charset="0"/>
                <a:ea typeface="Calibri" pitchFamily="34" charset="-122"/>
                <a:cs typeface="Calibri" pitchFamily="34" charset="-120"/>
              </a:rPr>
              <a:t>DIGITAL SOLUTIONS GROUP</a:t>
            </a:r>
            <a:endParaRPr lang="en-US" sz="650" dirty="0"/>
          </a:p>
        </p:txBody>
      </p:sp>
      <p:sp>
        <p:nvSpPr>
          <p:cNvPr id="28" name="Text 26"/>
          <p:cNvSpPr/>
          <p:nvPr/>
        </p:nvSpPr>
        <p:spPr>
          <a:xfrm>
            <a:off x="4754880" y="6473952"/>
            <a:ext cx="2743200" cy="237744"/>
          </a:xfrm>
          <a:prstGeom prst="rect">
            <a:avLst/>
          </a:prstGeom>
          <a:noFill/>
          <a:ln/>
        </p:spPr>
        <p:txBody>
          <a:bodyPr wrap="square" lIns="0" tIns="0" rIns="0" bIns="0" rtlCol="0" anchor="ctr"/>
          <a:lstStyle/>
          <a:p>
            <a:pPr algn="ctr" indent="0" marL="0">
              <a:buNone/>
            </a:pPr>
            <a:r>
              <a:rPr lang="en-US" sz="1100" b="1" dirty="0">
                <a:solidFill>
                  <a:srgbClr val="111111"/>
                </a:solidFill>
                <a:latin typeface="Calibri" pitchFamily="34" charset="0"/>
                <a:ea typeface="Calibri" pitchFamily="34" charset="-122"/>
                <a:cs typeface="Calibri" pitchFamily="34" charset="-120"/>
              </a:rPr>
              <a:t>digital</a:t>
            </a:r>
            <a:pPr algn="ctr" indent="0" marL="0">
              <a:buNone/>
            </a:pPr>
            <a:r>
              <a:rPr lang="en-US" sz="1100" b="1" dirty="0">
                <a:solidFill>
                  <a:srgbClr val="6B6B6B"/>
                </a:solidFill>
                <a:latin typeface="Calibri" pitchFamily="34" charset="0"/>
                <a:ea typeface="Calibri" pitchFamily="34" charset="-122"/>
                <a:cs typeface="Calibri" pitchFamily="34" charset="-120"/>
              </a:rPr>
              <a:t>mobile</a:t>
            </a:r>
            <a:endParaRPr lang="en-US" sz="1100" dirty="0"/>
          </a:p>
        </p:txBody>
      </p:sp>
      <p:sp>
        <p:nvSpPr>
          <p:cNvPr id="29" name="Shape 27"/>
          <p:cNvSpPr/>
          <p:nvPr/>
        </p:nvSpPr>
        <p:spPr>
          <a:xfrm>
            <a:off x="8595360" y="6519672"/>
            <a:ext cx="146304" cy="146304"/>
          </a:xfrm>
          <a:prstGeom prst="ellipse">
            <a:avLst/>
          </a:prstGeom>
          <a:solidFill>
            <a:srgbClr val="111111"/>
          </a:solidFill>
          <a:ln w="12700">
            <a:solidFill>
              <a:srgbClr val="111111"/>
            </a:solidFill>
            <a:prstDash val="solid"/>
          </a:ln>
        </p:spPr>
      </p:sp>
      <p:sp>
        <p:nvSpPr>
          <p:cNvPr id="30" name="Text 28"/>
          <p:cNvSpPr/>
          <p:nvPr/>
        </p:nvSpPr>
        <p:spPr>
          <a:xfrm>
            <a:off x="8778240" y="6473952"/>
            <a:ext cx="2194560" cy="237744"/>
          </a:xfrm>
          <a:prstGeom prst="rect">
            <a:avLst/>
          </a:prstGeom>
          <a:noFill/>
          <a:ln/>
        </p:spPr>
        <p:txBody>
          <a:bodyPr wrap="square" lIns="0" tIns="0" rIns="0" bIns="0" rtlCol="0" anchor="ctr"/>
          <a:lstStyle/>
          <a:p>
            <a:pPr indent="0" marL="0">
              <a:buNone/>
            </a:pPr>
            <a:r>
              <a:rPr lang="en-US" sz="900" i="1" dirty="0">
                <a:solidFill>
                  <a:srgbClr val="111111"/>
                </a:solidFill>
                <a:latin typeface="Calibri" pitchFamily="34" charset="0"/>
                <a:ea typeface="Calibri" pitchFamily="34" charset="-122"/>
                <a:cs typeface="Calibri" pitchFamily="34" charset="-120"/>
              </a:rPr>
              <a:t>#DoingSomethingGreat</a:t>
            </a:r>
            <a:endParaRPr lang="en-US" sz="900" dirty="0"/>
          </a:p>
        </p:txBody>
      </p:sp>
      <p:sp>
        <p:nvSpPr>
          <p:cNvPr id="31" name="Text 29"/>
          <p:cNvSpPr/>
          <p:nvPr/>
        </p:nvSpPr>
        <p:spPr>
          <a:xfrm>
            <a:off x="11002975" y="6473952"/>
            <a:ext cx="914400" cy="237744"/>
          </a:xfrm>
          <a:prstGeom prst="rect">
            <a:avLst/>
          </a:prstGeom>
          <a:noFill/>
          <a:ln/>
        </p:spPr>
        <p:txBody>
          <a:bodyPr wrap="square" lIns="0" tIns="0" rIns="0" bIns="0" rtlCol="0" anchor="ctr"/>
          <a:lstStyle/>
          <a:p>
            <a:pPr algn="r" indent="0" marL="0">
              <a:buNone/>
            </a:pPr>
            <a:r>
              <a:rPr lang="en-US" sz="800" dirty="0">
                <a:solidFill>
                  <a:srgbClr val="6B6B6B"/>
                </a:solidFill>
                <a:latin typeface="Calibri" pitchFamily="34" charset="0"/>
                <a:ea typeface="Calibri" pitchFamily="34" charset="-122"/>
                <a:cs typeface="Calibri" pitchFamily="34" charset="-120"/>
              </a:rPr>
              <a:t>15 / 20</a:t>
            </a:r>
            <a:endParaRPr lang="en-US" sz="800" dirty="0"/>
          </a:p>
        </p:txBody>
      </p:sp>
      <p:sp>
        <p:nvSpPr>
          <p:cNvPr id="32" name="Shape 30"/>
          <p:cNvSpPr/>
          <p:nvPr/>
        </p:nvSpPr>
        <p:spPr>
          <a:xfrm>
            <a:off x="502920" y="1874520"/>
            <a:ext cx="2788920" cy="1051560"/>
          </a:xfrm>
          <a:prstGeom prst="rect">
            <a:avLst/>
          </a:prstGeom>
          <a:solidFill>
            <a:srgbClr val="111111"/>
          </a:solidFill>
          <a:ln w="9525">
            <a:solidFill>
              <a:srgbClr val="111111"/>
            </a:solidFill>
            <a:prstDash val="solid"/>
          </a:ln>
        </p:spPr>
      </p:sp>
      <p:sp>
        <p:nvSpPr>
          <p:cNvPr id="33" name="Text 31"/>
          <p:cNvSpPr/>
          <p:nvPr/>
        </p:nvSpPr>
        <p:spPr>
          <a:xfrm>
            <a:off x="640080" y="1984248"/>
            <a:ext cx="2468880" cy="548640"/>
          </a:xfrm>
          <a:prstGeom prst="rect">
            <a:avLst/>
          </a:prstGeom>
          <a:noFill/>
          <a:ln/>
        </p:spPr>
        <p:txBody>
          <a:bodyPr wrap="square" lIns="0" tIns="0" rIns="0" bIns="0" rtlCol="0" anchor="ctr"/>
          <a:lstStyle/>
          <a:p>
            <a:pPr indent="0" marL="0">
              <a:buNone/>
            </a:pPr>
            <a:r>
              <a:rPr lang="en-US" sz="2400" b="1" dirty="0">
                <a:solidFill>
                  <a:srgbClr val="FFFFFF"/>
                </a:solidFill>
                <a:latin typeface="Georgia" pitchFamily="34" charset="0"/>
                <a:ea typeface="Georgia" pitchFamily="34" charset="-122"/>
                <a:cs typeface="Georgia" pitchFamily="34" charset="-120"/>
              </a:rPr>
              <a:t>$4.4B</a:t>
            </a:r>
            <a:endParaRPr lang="en-US" sz="2400" dirty="0"/>
          </a:p>
        </p:txBody>
      </p:sp>
      <p:sp>
        <p:nvSpPr>
          <p:cNvPr id="34" name="Text 32"/>
          <p:cNvSpPr/>
          <p:nvPr/>
        </p:nvSpPr>
        <p:spPr>
          <a:xfrm>
            <a:off x="640080" y="2532888"/>
            <a:ext cx="2468880" cy="320040"/>
          </a:xfrm>
          <a:prstGeom prst="rect">
            <a:avLst/>
          </a:prstGeom>
          <a:noFill/>
          <a:ln/>
        </p:spPr>
        <p:txBody>
          <a:bodyPr wrap="square" lIns="0" tIns="0" rIns="0" bIns="0" rtlCol="0" anchor="ctr"/>
          <a:lstStyle/>
          <a:p>
            <a:pPr indent="0" marL="0">
              <a:buNone/>
            </a:pPr>
            <a:r>
              <a:rPr lang="en-US" sz="1000" dirty="0">
                <a:solidFill>
                  <a:srgbClr val="D9D9D9"/>
                </a:solidFill>
                <a:latin typeface="Calibri" pitchFamily="34" charset="0"/>
                <a:ea typeface="Calibri" pitchFamily="34" charset="-122"/>
                <a:cs typeface="Calibri" pitchFamily="34" charset="-120"/>
              </a:rPr>
              <a:t>Travel eSIM market by 2030</a:t>
            </a:r>
            <a:endParaRPr lang="en-US" sz="1000" dirty="0"/>
          </a:p>
        </p:txBody>
      </p:sp>
      <p:sp>
        <p:nvSpPr>
          <p:cNvPr id="35" name="Shape 33"/>
          <p:cNvSpPr/>
          <p:nvPr/>
        </p:nvSpPr>
        <p:spPr>
          <a:xfrm>
            <a:off x="3429000" y="1874520"/>
            <a:ext cx="2788920" cy="1051560"/>
          </a:xfrm>
          <a:prstGeom prst="rect">
            <a:avLst/>
          </a:prstGeom>
          <a:solidFill>
            <a:srgbClr val="FFFFFF"/>
          </a:solidFill>
          <a:ln w="9525">
            <a:solidFill>
              <a:srgbClr val="111111"/>
            </a:solidFill>
            <a:prstDash val="solid"/>
          </a:ln>
        </p:spPr>
      </p:sp>
      <p:sp>
        <p:nvSpPr>
          <p:cNvPr id="36" name="Text 34"/>
          <p:cNvSpPr/>
          <p:nvPr/>
        </p:nvSpPr>
        <p:spPr>
          <a:xfrm>
            <a:off x="3566160" y="1984248"/>
            <a:ext cx="2468880" cy="548640"/>
          </a:xfrm>
          <a:prstGeom prst="rect">
            <a:avLst/>
          </a:prstGeom>
          <a:noFill/>
          <a:ln/>
        </p:spPr>
        <p:txBody>
          <a:bodyPr wrap="square" lIns="0" tIns="0" rIns="0" bIns="0" rtlCol="0" anchor="ctr"/>
          <a:lstStyle/>
          <a:p>
            <a:pPr indent="0" marL="0">
              <a:buNone/>
            </a:pPr>
            <a:r>
              <a:rPr lang="en-US" sz="2400" b="1" dirty="0">
                <a:solidFill>
                  <a:srgbClr val="111111"/>
                </a:solidFill>
                <a:latin typeface="Georgia" pitchFamily="34" charset="0"/>
                <a:ea typeface="Georgia" pitchFamily="34" charset="-122"/>
                <a:cs typeface="Georgia" pitchFamily="34" charset="-120"/>
              </a:rPr>
              <a:t>280M</a:t>
            </a:r>
            <a:endParaRPr lang="en-US" sz="2400" dirty="0"/>
          </a:p>
        </p:txBody>
      </p:sp>
      <p:sp>
        <p:nvSpPr>
          <p:cNvPr id="37" name="Text 35"/>
          <p:cNvSpPr/>
          <p:nvPr/>
        </p:nvSpPr>
        <p:spPr>
          <a:xfrm>
            <a:off x="3566160" y="2532888"/>
            <a:ext cx="2468880" cy="320040"/>
          </a:xfrm>
          <a:prstGeom prst="rect">
            <a:avLst/>
          </a:prstGeom>
          <a:noFill/>
          <a:ln/>
        </p:spPr>
        <p:txBody>
          <a:bodyPr wrap="square" lIns="0" tIns="0" rIns="0" bIns="0" rtlCol="0" anchor="ctr"/>
          <a:lstStyle/>
          <a:p>
            <a:pPr indent="0" marL="0">
              <a:buNone/>
            </a:pPr>
            <a:r>
              <a:rPr lang="en-US" sz="1000" dirty="0">
                <a:solidFill>
                  <a:srgbClr val="6B6B6B"/>
                </a:solidFill>
                <a:latin typeface="Calibri" pitchFamily="34" charset="0"/>
                <a:ea typeface="Calibri" pitchFamily="34" charset="-122"/>
                <a:cs typeface="Calibri" pitchFamily="34" charset="-120"/>
              </a:rPr>
              <a:t>Expected users globally</a:t>
            </a:r>
            <a:endParaRPr lang="en-US" sz="1000" dirty="0"/>
          </a:p>
        </p:txBody>
      </p:sp>
      <p:sp>
        <p:nvSpPr>
          <p:cNvPr id="38" name="Shape 36"/>
          <p:cNvSpPr/>
          <p:nvPr/>
        </p:nvSpPr>
        <p:spPr>
          <a:xfrm>
            <a:off x="6355080" y="1874520"/>
            <a:ext cx="2788920" cy="1051560"/>
          </a:xfrm>
          <a:prstGeom prst="rect">
            <a:avLst/>
          </a:prstGeom>
          <a:solidFill>
            <a:srgbClr val="FFFFFF"/>
          </a:solidFill>
          <a:ln w="9525">
            <a:solidFill>
              <a:srgbClr val="111111"/>
            </a:solidFill>
            <a:prstDash val="solid"/>
          </a:ln>
        </p:spPr>
      </p:sp>
      <p:sp>
        <p:nvSpPr>
          <p:cNvPr id="39" name="Text 37"/>
          <p:cNvSpPr/>
          <p:nvPr/>
        </p:nvSpPr>
        <p:spPr>
          <a:xfrm>
            <a:off x="6492240" y="1984248"/>
            <a:ext cx="2468880" cy="548640"/>
          </a:xfrm>
          <a:prstGeom prst="rect">
            <a:avLst/>
          </a:prstGeom>
          <a:noFill/>
          <a:ln/>
        </p:spPr>
        <p:txBody>
          <a:bodyPr wrap="square" lIns="0" tIns="0" rIns="0" bIns="0" rtlCol="0" anchor="ctr"/>
          <a:lstStyle/>
          <a:p>
            <a:pPr indent="0" marL="0">
              <a:buNone/>
            </a:pPr>
            <a:r>
              <a:rPr lang="en-US" sz="2400" b="1" dirty="0">
                <a:solidFill>
                  <a:srgbClr val="111111"/>
                </a:solidFill>
                <a:latin typeface="Georgia" pitchFamily="34" charset="0"/>
                <a:ea typeface="Georgia" pitchFamily="34" charset="-122"/>
                <a:cs typeface="Georgia" pitchFamily="34" charset="-120"/>
              </a:rPr>
              <a:t>+$3–$7</a:t>
            </a:r>
            <a:endParaRPr lang="en-US" sz="2400" dirty="0"/>
          </a:p>
        </p:txBody>
      </p:sp>
      <p:sp>
        <p:nvSpPr>
          <p:cNvPr id="40" name="Text 38"/>
          <p:cNvSpPr/>
          <p:nvPr/>
        </p:nvSpPr>
        <p:spPr>
          <a:xfrm>
            <a:off x="6492240" y="2532888"/>
            <a:ext cx="2468880" cy="320040"/>
          </a:xfrm>
          <a:prstGeom prst="rect">
            <a:avLst/>
          </a:prstGeom>
          <a:noFill/>
          <a:ln/>
        </p:spPr>
        <p:txBody>
          <a:bodyPr wrap="square" lIns="0" tIns="0" rIns="0" bIns="0" rtlCol="0" anchor="ctr"/>
          <a:lstStyle/>
          <a:p>
            <a:pPr indent="0" marL="0">
              <a:buNone/>
            </a:pPr>
            <a:r>
              <a:rPr lang="en-US" sz="1000" dirty="0">
                <a:solidFill>
                  <a:srgbClr val="6B6B6B"/>
                </a:solidFill>
                <a:latin typeface="Calibri" pitchFamily="34" charset="0"/>
                <a:ea typeface="Calibri" pitchFamily="34" charset="-122"/>
                <a:cs typeface="Calibri" pitchFamily="34" charset="-120"/>
              </a:rPr>
              <a:t>ARPU uplift per subscriber</a:t>
            </a:r>
            <a:endParaRPr lang="en-US" sz="1000" dirty="0"/>
          </a:p>
        </p:txBody>
      </p:sp>
      <p:sp>
        <p:nvSpPr>
          <p:cNvPr id="41" name="Shape 39"/>
          <p:cNvSpPr/>
          <p:nvPr/>
        </p:nvSpPr>
        <p:spPr>
          <a:xfrm>
            <a:off x="9281160" y="1874520"/>
            <a:ext cx="2788920" cy="1051560"/>
          </a:xfrm>
          <a:prstGeom prst="rect">
            <a:avLst/>
          </a:prstGeom>
          <a:solidFill>
            <a:srgbClr val="FFFFFF"/>
          </a:solidFill>
          <a:ln w="9525">
            <a:solidFill>
              <a:srgbClr val="111111"/>
            </a:solidFill>
            <a:prstDash val="solid"/>
          </a:ln>
        </p:spPr>
      </p:sp>
      <p:sp>
        <p:nvSpPr>
          <p:cNvPr id="42" name="Text 40"/>
          <p:cNvSpPr/>
          <p:nvPr/>
        </p:nvSpPr>
        <p:spPr>
          <a:xfrm>
            <a:off x="9418320" y="1984248"/>
            <a:ext cx="2468880" cy="548640"/>
          </a:xfrm>
          <a:prstGeom prst="rect">
            <a:avLst/>
          </a:prstGeom>
          <a:noFill/>
          <a:ln/>
        </p:spPr>
        <p:txBody>
          <a:bodyPr wrap="square" lIns="0" tIns="0" rIns="0" bIns="0" rtlCol="0" anchor="ctr"/>
          <a:lstStyle/>
          <a:p>
            <a:pPr indent="0" marL="0">
              <a:buNone/>
            </a:pPr>
            <a:r>
              <a:rPr lang="en-US" sz="2400" b="1" dirty="0">
                <a:solidFill>
                  <a:srgbClr val="111111"/>
                </a:solidFill>
                <a:latin typeface="Georgia" pitchFamily="34" charset="0"/>
                <a:ea typeface="Georgia" pitchFamily="34" charset="-122"/>
                <a:cs typeface="Georgia" pitchFamily="34" charset="-120"/>
              </a:rPr>
              <a:t>3–7%</a:t>
            </a:r>
            <a:endParaRPr lang="en-US" sz="2400" dirty="0"/>
          </a:p>
        </p:txBody>
      </p:sp>
      <p:sp>
        <p:nvSpPr>
          <p:cNvPr id="43" name="Text 41"/>
          <p:cNvSpPr/>
          <p:nvPr/>
        </p:nvSpPr>
        <p:spPr>
          <a:xfrm>
            <a:off x="9418320" y="2532888"/>
            <a:ext cx="2468880" cy="320040"/>
          </a:xfrm>
          <a:prstGeom prst="rect">
            <a:avLst/>
          </a:prstGeom>
          <a:noFill/>
          <a:ln/>
        </p:spPr>
        <p:txBody>
          <a:bodyPr wrap="square" lIns="0" tIns="0" rIns="0" bIns="0" rtlCol="0" anchor="ctr"/>
          <a:lstStyle/>
          <a:p>
            <a:pPr indent="0" marL="0">
              <a:buNone/>
            </a:pPr>
            <a:r>
              <a:rPr lang="en-US" sz="1000" dirty="0">
                <a:solidFill>
                  <a:srgbClr val="6B6B6B"/>
                </a:solidFill>
                <a:latin typeface="Calibri" pitchFamily="34" charset="0"/>
                <a:ea typeface="Calibri" pitchFamily="34" charset="-122"/>
                <a:cs typeface="Calibri" pitchFamily="34" charset="-120"/>
              </a:rPr>
              <a:t>Attach rate within 12 months</a:t>
            </a:r>
            <a:endParaRPr lang="en-US" sz="1000" dirty="0"/>
          </a:p>
        </p:txBody>
      </p:sp>
      <p:sp>
        <p:nvSpPr>
          <p:cNvPr id="44" name="Shape 42"/>
          <p:cNvSpPr/>
          <p:nvPr/>
        </p:nvSpPr>
        <p:spPr>
          <a:xfrm>
            <a:off x="502920" y="3154680"/>
            <a:ext cx="3703320" cy="1371600"/>
          </a:xfrm>
          <a:prstGeom prst="rect">
            <a:avLst/>
          </a:prstGeom>
          <a:solidFill>
            <a:srgbClr val="F5F5F5"/>
          </a:solidFill>
          <a:ln w="6350">
            <a:solidFill>
              <a:srgbClr val="BFBFBF"/>
            </a:solidFill>
            <a:prstDash val="solid"/>
          </a:ln>
        </p:spPr>
      </p:sp>
      <p:sp>
        <p:nvSpPr>
          <p:cNvPr id="45" name="Shape 43"/>
          <p:cNvSpPr/>
          <p:nvPr/>
        </p:nvSpPr>
        <p:spPr>
          <a:xfrm>
            <a:off x="502920" y="3154680"/>
            <a:ext cx="91440" cy="1371600"/>
          </a:xfrm>
          <a:prstGeom prst="rect">
            <a:avLst/>
          </a:prstGeom>
          <a:solidFill>
            <a:srgbClr val="111111"/>
          </a:solidFill>
          <a:ln w="12700">
            <a:solidFill>
              <a:srgbClr val="111111"/>
            </a:solidFill>
            <a:prstDash val="solid"/>
          </a:ln>
        </p:spPr>
      </p:sp>
      <p:sp>
        <p:nvSpPr>
          <p:cNvPr id="46" name="Text 44"/>
          <p:cNvSpPr/>
          <p:nvPr/>
        </p:nvSpPr>
        <p:spPr>
          <a:xfrm>
            <a:off x="731520" y="3337560"/>
            <a:ext cx="3383280" cy="365760"/>
          </a:xfrm>
          <a:prstGeom prst="rect">
            <a:avLst/>
          </a:prstGeom>
          <a:noFill/>
          <a:ln/>
        </p:spPr>
        <p:txBody>
          <a:bodyPr wrap="square" lIns="0" tIns="0" rIns="0" bIns="0" rtlCol="0" anchor="ctr"/>
          <a:lstStyle/>
          <a:p>
            <a:pPr indent="0" marL="0">
              <a:buNone/>
            </a:pPr>
            <a:r>
              <a:rPr lang="en-US" sz="1300" b="1" dirty="0">
                <a:solidFill>
                  <a:srgbClr val="111111"/>
                </a:solidFill>
                <a:latin typeface="Calibri" pitchFamily="34" charset="0"/>
                <a:ea typeface="Calibri" pitchFamily="34" charset="-122"/>
                <a:cs typeface="Calibri" pitchFamily="34" charset="-120"/>
              </a:rPr>
              <a:t>Faster</a:t>
            </a:r>
            <a:endParaRPr lang="en-US" sz="1300" dirty="0"/>
          </a:p>
        </p:txBody>
      </p:sp>
      <p:sp>
        <p:nvSpPr>
          <p:cNvPr id="47" name="Text 45"/>
          <p:cNvSpPr/>
          <p:nvPr/>
        </p:nvSpPr>
        <p:spPr>
          <a:xfrm>
            <a:off x="731520" y="3703320"/>
            <a:ext cx="3383280" cy="777240"/>
          </a:xfrm>
          <a:prstGeom prst="rect">
            <a:avLst/>
          </a:prstGeom>
          <a:noFill/>
          <a:ln/>
        </p:spPr>
        <p:txBody>
          <a:bodyPr wrap="square" lIns="0" tIns="0" rIns="0" bIns="0" rtlCol="0" anchor="ctr"/>
          <a:lstStyle/>
          <a:p>
            <a:pPr indent="0" marL="0">
              <a:buNone/>
            </a:pPr>
            <a:r>
              <a:rPr lang="en-US" sz="1050" dirty="0">
                <a:solidFill>
                  <a:srgbClr val="444444"/>
                </a:solidFill>
                <a:latin typeface="Calibri" pitchFamily="34" charset="0"/>
                <a:ea typeface="Calibri" pitchFamily="34" charset="-122"/>
                <a:cs typeface="Calibri" pitchFamily="34" charset="-120"/>
              </a:rPr>
              <a:t>Connect to local networks directly — often better speed and latency than roaming partners.</a:t>
            </a:r>
            <a:endParaRPr lang="en-US" sz="1050" dirty="0"/>
          </a:p>
        </p:txBody>
      </p:sp>
      <p:sp>
        <p:nvSpPr>
          <p:cNvPr id="48" name="Shape 46"/>
          <p:cNvSpPr/>
          <p:nvPr/>
        </p:nvSpPr>
        <p:spPr>
          <a:xfrm>
            <a:off x="4389120" y="3154680"/>
            <a:ext cx="3703320" cy="1371600"/>
          </a:xfrm>
          <a:prstGeom prst="rect">
            <a:avLst/>
          </a:prstGeom>
          <a:solidFill>
            <a:srgbClr val="F5F5F5"/>
          </a:solidFill>
          <a:ln w="6350">
            <a:solidFill>
              <a:srgbClr val="BFBFBF"/>
            </a:solidFill>
            <a:prstDash val="solid"/>
          </a:ln>
        </p:spPr>
      </p:sp>
      <p:sp>
        <p:nvSpPr>
          <p:cNvPr id="49" name="Shape 47"/>
          <p:cNvSpPr/>
          <p:nvPr/>
        </p:nvSpPr>
        <p:spPr>
          <a:xfrm>
            <a:off x="4389120" y="3154680"/>
            <a:ext cx="91440" cy="1371600"/>
          </a:xfrm>
          <a:prstGeom prst="rect">
            <a:avLst/>
          </a:prstGeom>
          <a:solidFill>
            <a:srgbClr val="111111"/>
          </a:solidFill>
          <a:ln w="12700">
            <a:solidFill>
              <a:srgbClr val="111111"/>
            </a:solidFill>
            <a:prstDash val="solid"/>
          </a:ln>
        </p:spPr>
      </p:sp>
      <p:sp>
        <p:nvSpPr>
          <p:cNvPr id="50" name="Text 48"/>
          <p:cNvSpPr/>
          <p:nvPr/>
        </p:nvSpPr>
        <p:spPr>
          <a:xfrm>
            <a:off x="4617720" y="3337560"/>
            <a:ext cx="3383280" cy="365760"/>
          </a:xfrm>
          <a:prstGeom prst="rect">
            <a:avLst/>
          </a:prstGeom>
          <a:noFill/>
          <a:ln/>
        </p:spPr>
        <p:txBody>
          <a:bodyPr wrap="square" lIns="0" tIns="0" rIns="0" bIns="0" rtlCol="0" anchor="ctr"/>
          <a:lstStyle/>
          <a:p>
            <a:pPr indent="0" marL="0">
              <a:buNone/>
            </a:pPr>
            <a:r>
              <a:rPr lang="en-US" sz="1300" b="1" dirty="0">
                <a:solidFill>
                  <a:srgbClr val="111111"/>
                </a:solidFill>
                <a:latin typeface="Calibri" pitchFamily="34" charset="0"/>
                <a:ea typeface="Calibri" pitchFamily="34" charset="-122"/>
                <a:cs typeface="Calibri" pitchFamily="34" charset="-120"/>
              </a:rPr>
              <a:t>Cheaper</a:t>
            </a:r>
            <a:endParaRPr lang="en-US" sz="1300" dirty="0"/>
          </a:p>
        </p:txBody>
      </p:sp>
      <p:sp>
        <p:nvSpPr>
          <p:cNvPr id="51" name="Text 49"/>
          <p:cNvSpPr/>
          <p:nvPr/>
        </p:nvSpPr>
        <p:spPr>
          <a:xfrm>
            <a:off x="4617720" y="3703320"/>
            <a:ext cx="3383280" cy="777240"/>
          </a:xfrm>
          <a:prstGeom prst="rect">
            <a:avLst/>
          </a:prstGeom>
          <a:noFill/>
          <a:ln/>
        </p:spPr>
        <p:txBody>
          <a:bodyPr wrap="square" lIns="0" tIns="0" rIns="0" bIns="0" rtlCol="0" anchor="ctr"/>
          <a:lstStyle/>
          <a:p>
            <a:pPr indent="0" marL="0">
              <a:buNone/>
            </a:pPr>
            <a:r>
              <a:rPr lang="en-US" sz="1050" dirty="0">
                <a:solidFill>
                  <a:srgbClr val="444444"/>
                </a:solidFill>
                <a:latin typeface="Calibri" pitchFamily="34" charset="0"/>
                <a:ea typeface="Calibri" pitchFamily="34" charset="-122"/>
                <a:cs typeface="Calibri" pitchFamily="34" charset="-120"/>
              </a:rPr>
              <a:t>Local and regional data rates are far lower than home-network roaming prices.</a:t>
            </a:r>
            <a:endParaRPr lang="en-US" sz="1050" dirty="0"/>
          </a:p>
        </p:txBody>
      </p:sp>
      <p:sp>
        <p:nvSpPr>
          <p:cNvPr id="52" name="Shape 50"/>
          <p:cNvSpPr/>
          <p:nvPr/>
        </p:nvSpPr>
        <p:spPr>
          <a:xfrm>
            <a:off x="8275320" y="3154680"/>
            <a:ext cx="3703320" cy="1371600"/>
          </a:xfrm>
          <a:prstGeom prst="rect">
            <a:avLst/>
          </a:prstGeom>
          <a:solidFill>
            <a:srgbClr val="F5F5F5"/>
          </a:solidFill>
          <a:ln w="6350">
            <a:solidFill>
              <a:srgbClr val="BFBFBF"/>
            </a:solidFill>
            <a:prstDash val="solid"/>
          </a:ln>
        </p:spPr>
      </p:sp>
      <p:sp>
        <p:nvSpPr>
          <p:cNvPr id="53" name="Shape 51"/>
          <p:cNvSpPr/>
          <p:nvPr/>
        </p:nvSpPr>
        <p:spPr>
          <a:xfrm>
            <a:off x="8275320" y="3154680"/>
            <a:ext cx="91440" cy="1371600"/>
          </a:xfrm>
          <a:prstGeom prst="rect">
            <a:avLst/>
          </a:prstGeom>
          <a:solidFill>
            <a:srgbClr val="111111"/>
          </a:solidFill>
          <a:ln w="12700">
            <a:solidFill>
              <a:srgbClr val="111111"/>
            </a:solidFill>
            <a:prstDash val="solid"/>
          </a:ln>
        </p:spPr>
      </p:sp>
      <p:sp>
        <p:nvSpPr>
          <p:cNvPr id="54" name="Text 52"/>
          <p:cNvSpPr/>
          <p:nvPr/>
        </p:nvSpPr>
        <p:spPr>
          <a:xfrm>
            <a:off x="8503920" y="3337560"/>
            <a:ext cx="3383280" cy="365760"/>
          </a:xfrm>
          <a:prstGeom prst="rect">
            <a:avLst/>
          </a:prstGeom>
          <a:noFill/>
          <a:ln/>
        </p:spPr>
        <p:txBody>
          <a:bodyPr wrap="square" lIns="0" tIns="0" rIns="0" bIns="0" rtlCol="0" anchor="ctr"/>
          <a:lstStyle/>
          <a:p>
            <a:pPr indent="0" marL="0">
              <a:buNone/>
            </a:pPr>
            <a:r>
              <a:rPr lang="en-US" sz="1300" b="1" dirty="0">
                <a:solidFill>
                  <a:srgbClr val="111111"/>
                </a:solidFill>
                <a:latin typeface="Calibri" pitchFamily="34" charset="0"/>
                <a:ea typeface="Calibri" pitchFamily="34" charset="-122"/>
                <a:cs typeface="Calibri" pitchFamily="34" charset="-120"/>
              </a:rPr>
              <a:t>Instant set-up</a:t>
            </a:r>
            <a:endParaRPr lang="en-US" sz="1300" dirty="0"/>
          </a:p>
        </p:txBody>
      </p:sp>
      <p:sp>
        <p:nvSpPr>
          <p:cNvPr id="55" name="Text 53"/>
          <p:cNvSpPr/>
          <p:nvPr/>
        </p:nvSpPr>
        <p:spPr>
          <a:xfrm>
            <a:off x="8503920" y="3703320"/>
            <a:ext cx="3383280" cy="777240"/>
          </a:xfrm>
          <a:prstGeom prst="rect">
            <a:avLst/>
          </a:prstGeom>
          <a:noFill/>
          <a:ln/>
        </p:spPr>
        <p:txBody>
          <a:bodyPr wrap="square" lIns="0" tIns="0" rIns="0" bIns="0" rtlCol="0" anchor="ctr"/>
          <a:lstStyle/>
          <a:p>
            <a:pPr indent="0" marL="0">
              <a:buNone/>
            </a:pPr>
            <a:r>
              <a:rPr lang="en-US" sz="1050" dirty="0">
                <a:solidFill>
                  <a:srgbClr val="444444"/>
                </a:solidFill>
                <a:latin typeface="Calibri" pitchFamily="34" charset="0"/>
                <a:ea typeface="Calibri" pitchFamily="34" charset="-122"/>
                <a:cs typeface="Calibri" pitchFamily="34" charset="-120"/>
              </a:rPr>
              <a:t>No shop visit — buy and activate before or after you fly.</a:t>
            </a:r>
            <a:endParaRPr lang="en-US" sz="1050" dirty="0"/>
          </a:p>
        </p:txBody>
      </p:sp>
      <p:sp>
        <p:nvSpPr>
          <p:cNvPr id="56" name="Shape 54"/>
          <p:cNvSpPr/>
          <p:nvPr/>
        </p:nvSpPr>
        <p:spPr>
          <a:xfrm>
            <a:off x="502920" y="4663440"/>
            <a:ext cx="3703320" cy="1371600"/>
          </a:xfrm>
          <a:prstGeom prst="rect">
            <a:avLst/>
          </a:prstGeom>
          <a:solidFill>
            <a:srgbClr val="F5F5F5"/>
          </a:solidFill>
          <a:ln w="6350">
            <a:solidFill>
              <a:srgbClr val="BFBFBF"/>
            </a:solidFill>
            <a:prstDash val="solid"/>
          </a:ln>
        </p:spPr>
      </p:sp>
      <p:sp>
        <p:nvSpPr>
          <p:cNvPr id="57" name="Shape 55"/>
          <p:cNvSpPr/>
          <p:nvPr/>
        </p:nvSpPr>
        <p:spPr>
          <a:xfrm>
            <a:off x="502920" y="4663440"/>
            <a:ext cx="91440" cy="1371600"/>
          </a:xfrm>
          <a:prstGeom prst="rect">
            <a:avLst/>
          </a:prstGeom>
          <a:solidFill>
            <a:srgbClr val="111111"/>
          </a:solidFill>
          <a:ln w="12700">
            <a:solidFill>
              <a:srgbClr val="111111"/>
            </a:solidFill>
            <a:prstDash val="solid"/>
          </a:ln>
        </p:spPr>
      </p:sp>
      <p:sp>
        <p:nvSpPr>
          <p:cNvPr id="58" name="Text 56"/>
          <p:cNvSpPr/>
          <p:nvPr/>
        </p:nvSpPr>
        <p:spPr>
          <a:xfrm>
            <a:off x="731520" y="4846320"/>
            <a:ext cx="3383280" cy="365760"/>
          </a:xfrm>
          <a:prstGeom prst="rect">
            <a:avLst/>
          </a:prstGeom>
          <a:noFill/>
          <a:ln/>
        </p:spPr>
        <p:txBody>
          <a:bodyPr wrap="square" lIns="0" tIns="0" rIns="0" bIns="0" rtlCol="0" anchor="ctr"/>
          <a:lstStyle/>
          <a:p>
            <a:pPr indent="0" marL="0">
              <a:buNone/>
            </a:pPr>
            <a:r>
              <a:rPr lang="en-US" sz="1300" b="1" dirty="0">
                <a:solidFill>
                  <a:srgbClr val="111111"/>
                </a:solidFill>
                <a:latin typeface="Calibri" pitchFamily="34" charset="0"/>
                <a:ea typeface="Calibri" pitchFamily="34" charset="-122"/>
                <a:cs typeface="Calibri" pitchFamily="34" charset="-120"/>
              </a:rPr>
              <a:t>No bill shock</a:t>
            </a:r>
            <a:endParaRPr lang="en-US" sz="1300" dirty="0"/>
          </a:p>
        </p:txBody>
      </p:sp>
      <p:sp>
        <p:nvSpPr>
          <p:cNvPr id="59" name="Text 57"/>
          <p:cNvSpPr/>
          <p:nvPr/>
        </p:nvSpPr>
        <p:spPr>
          <a:xfrm>
            <a:off x="731520" y="5212080"/>
            <a:ext cx="3383280" cy="777240"/>
          </a:xfrm>
          <a:prstGeom prst="rect">
            <a:avLst/>
          </a:prstGeom>
          <a:noFill/>
          <a:ln/>
        </p:spPr>
        <p:txBody>
          <a:bodyPr wrap="square" lIns="0" tIns="0" rIns="0" bIns="0" rtlCol="0" anchor="ctr"/>
          <a:lstStyle/>
          <a:p>
            <a:pPr indent="0" marL="0">
              <a:buNone/>
            </a:pPr>
            <a:r>
              <a:rPr lang="en-US" sz="1050" dirty="0">
                <a:solidFill>
                  <a:srgbClr val="444444"/>
                </a:solidFill>
                <a:latin typeface="Calibri" pitchFamily="34" charset="0"/>
                <a:ea typeface="Calibri" pitchFamily="34" charset="-122"/>
                <a:cs typeface="Calibri" pitchFamily="34" charset="-120"/>
              </a:rPr>
              <a:t>Prepaid with clear allowances; usage is easy to track in-app.</a:t>
            </a:r>
            <a:endParaRPr lang="en-US" sz="1050" dirty="0"/>
          </a:p>
        </p:txBody>
      </p:sp>
      <p:sp>
        <p:nvSpPr>
          <p:cNvPr id="60" name="Shape 58"/>
          <p:cNvSpPr/>
          <p:nvPr/>
        </p:nvSpPr>
        <p:spPr>
          <a:xfrm>
            <a:off x="4389120" y="4663440"/>
            <a:ext cx="3703320" cy="1371600"/>
          </a:xfrm>
          <a:prstGeom prst="rect">
            <a:avLst/>
          </a:prstGeom>
          <a:solidFill>
            <a:srgbClr val="F5F5F5"/>
          </a:solidFill>
          <a:ln w="6350">
            <a:solidFill>
              <a:srgbClr val="BFBFBF"/>
            </a:solidFill>
            <a:prstDash val="solid"/>
          </a:ln>
        </p:spPr>
      </p:sp>
      <p:sp>
        <p:nvSpPr>
          <p:cNvPr id="61" name="Shape 59"/>
          <p:cNvSpPr/>
          <p:nvPr/>
        </p:nvSpPr>
        <p:spPr>
          <a:xfrm>
            <a:off x="4389120" y="4663440"/>
            <a:ext cx="91440" cy="1371600"/>
          </a:xfrm>
          <a:prstGeom prst="rect">
            <a:avLst/>
          </a:prstGeom>
          <a:solidFill>
            <a:srgbClr val="111111"/>
          </a:solidFill>
          <a:ln w="12700">
            <a:solidFill>
              <a:srgbClr val="111111"/>
            </a:solidFill>
            <a:prstDash val="solid"/>
          </a:ln>
        </p:spPr>
      </p:sp>
      <p:sp>
        <p:nvSpPr>
          <p:cNvPr id="62" name="Text 60"/>
          <p:cNvSpPr/>
          <p:nvPr/>
        </p:nvSpPr>
        <p:spPr>
          <a:xfrm>
            <a:off x="4617720" y="4846320"/>
            <a:ext cx="3383280" cy="365760"/>
          </a:xfrm>
          <a:prstGeom prst="rect">
            <a:avLst/>
          </a:prstGeom>
          <a:noFill/>
          <a:ln/>
        </p:spPr>
        <p:txBody>
          <a:bodyPr wrap="square" lIns="0" tIns="0" rIns="0" bIns="0" rtlCol="0" anchor="ctr"/>
          <a:lstStyle/>
          <a:p>
            <a:pPr indent="0" marL="0">
              <a:buNone/>
            </a:pPr>
            <a:r>
              <a:rPr lang="en-US" sz="1300" b="1" dirty="0">
                <a:solidFill>
                  <a:srgbClr val="111111"/>
                </a:solidFill>
                <a:latin typeface="Calibri" pitchFamily="34" charset="0"/>
                <a:ea typeface="Calibri" pitchFamily="34" charset="-122"/>
                <a:cs typeface="Calibri" pitchFamily="34" charset="-120"/>
              </a:rPr>
              <a:t>Keep your number</a:t>
            </a:r>
            <a:endParaRPr lang="en-US" sz="1300" dirty="0"/>
          </a:p>
        </p:txBody>
      </p:sp>
      <p:sp>
        <p:nvSpPr>
          <p:cNvPr id="63" name="Text 61"/>
          <p:cNvSpPr/>
          <p:nvPr/>
        </p:nvSpPr>
        <p:spPr>
          <a:xfrm>
            <a:off x="4617720" y="5212080"/>
            <a:ext cx="3383280" cy="777240"/>
          </a:xfrm>
          <a:prstGeom prst="rect">
            <a:avLst/>
          </a:prstGeom>
          <a:noFill/>
          <a:ln/>
        </p:spPr>
        <p:txBody>
          <a:bodyPr wrap="square" lIns="0" tIns="0" rIns="0" bIns="0" rtlCol="0" anchor="ctr"/>
          <a:lstStyle/>
          <a:p>
            <a:pPr indent="0" marL="0">
              <a:buNone/>
            </a:pPr>
            <a:r>
              <a:rPr lang="en-US" sz="1050" dirty="0">
                <a:solidFill>
                  <a:srgbClr val="444444"/>
                </a:solidFill>
                <a:latin typeface="Calibri" pitchFamily="34" charset="0"/>
                <a:ea typeface="Calibri" pitchFamily="34" charset="-122"/>
                <a:cs typeface="Calibri" pitchFamily="34" charset="-120"/>
              </a:rPr>
              <a:t>Dual-SIM — use travel eSIM for data while home SIM stays live for calls and OTPs.</a:t>
            </a:r>
            <a:endParaRPr lang="en-US" sz="1050" dirty="0"/>
          </a:p>
        </p:txBody>
      </p:sp>
      <p:sp>
        <p:nvSpPr>
          <p:cNvPr id="64" name="Shape 62"/>
          <p:cNvSpPr/>
          <p:nvPr/>
        </p:nvSpPr>
        <p:spPr>
          <a:xfrm>
            <a:off x="8275320" y="4663440"/>
            <a:ext cx="3703320" cy="1371600"/>
          </a:xfrm>
          <a:prstGeom prst="rect">
            <a:avLst/>
          </a:prstGeom>
          <a:solidFill>
            <a:srgbClr val="F5F5F5"/>
          </a:solidFill>
          <a:ln w="6350">
            <a:solidFill>
              <a:srgbClr val="BFBFBF"/>
            </a:solidFill>
            <a:prstDash val="solid"/>
          </a:ln>
        </p:spPr>
      </p:sp>
      <p:sp>
        <p:nvSpPr>
          <p:cNvPr id="65" name="Shape 63"/>
          <p:cNvSpPr/>
          <p:nvPr/>
        </p:nvSpPr>
        <p:spPr>
          <a:xfrm>
            <a:off x="8275320" y="4663440"/>
            <a:ext cx="91440" cy="1371600"/>
          </a:xfrm>
          <a:prstGeom prst="rect">
            <a:avLst/>
          </a:prstGeom>
          <a:solidFill>
            <a:srgbClr val="111111"/>
          </a:solidFill>
          <a:ln w="12700">
            <a:solidFill>
              <a:srgbClr val="111111"/>
            </a:solidFill>
            <a:prstDash val="solid"/>
          </a:ln>
        </p:spPr>
      </p:sp>
      <p:sp>
        <p:nvSpPr>
          <p:cNvPr id="66" name="Text 64"/>
          <p:cNvSpPr/>
          <p:nvPr/>
        </p:nvSpPr>
        <p:spPr>
          <a:xfrm>
            <a:off x="8503920" y="4846320"/>
            <a:ext cx="3383280" cy="365760"/>
          </a:xfrm>
          <a:prstGeom prst="rect">
            <a:avLst/>
          </a:prstGeom>
          <a:noFill/>
          <a:ln/>
        </p:spPr>
        <p:txBody>
          <a:bodyPr wrap="square" lIns="0" tIns="0" rIns="0" bIns="0" rtlCol="0" anchor="ctr"/>
          <a:lstStyle/>
          <a:p>
            <a:pPr indent="0" marL="0">
              <a:buNone/>
            </a:pPr>
            <a:r>
              <a:rPr lang="en-US" sz="1300" b="1" dirty="0">
                <a:solidFill>
                  <a:srgbClr val="111111"/>
                </a:solidFill>
                <a:latin typeface="Calibri" pitchFamily="34" charset="0"/>
                <a:ea typeface="Calibri" pitchFamily="34" charset="-122"/>
                <a:cs typeface="Calibri" pitchFamily="34" charset="-120"/>
              </a:rPr>
              <a:t>Flexible</a:t>
            </a:r>
            <a:endParaRPr lang="en-US" sz="1300" dirty="0"/>
          </a:p>
        </p:txBody>
      </p:sp>
      <p:sp>
        <p:nvSpPr>
          <p:cNvPr id="67" name="Text 65"/>
          <p:cNvSpPr/>
          <p:nvPr/>
        </p:nvSpPr>
        <p:spPr>
          <a:xfrm>
            <a:off x="8503920" y="5212080"/>
            <a:ext cx="3383280" cy="777240"/>
          </a:xfrm>
          <a:prstGeom prst="rect">
            <a:avLst/>
          </a:prstGeom>
          <a:noFill/>
          <a:ln/>
        </p:spPr>
        <p:txBody>
          <a:bodyPr wrap="square" lIns="0" tIns="0" rIns="0" bIns="0" rtlCol="0" anchor="ctr"/>
          <a:lstStyle/>
          <a:p>
            <a:pPr indent="0" marL="0">
              <a:buNone/>
            </a:pPr>
            <a:r>
              <a:rPr lang="en-US" sz="1050" dirty="0">
                <a:solidFill>
                  <a:srgbClr val="444444"/>
                </a:solidFill>
                <a:latin typeface="Calibri" pitchFamily="34" charset="0"/>
                <a:ea typeface="Calibri" pitchFamily="34" charset="-122"/>
                <a:cs typeface="Calibri" pitchFamily="34" charset="-120"/>
              </a:rPr>
              <a:t>Swap plans easily, add data, change countries with regional eSIMs.</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20040" y="182880"/>
            <a:ext cx="1417320" cy="438912"/>
          </a:xfrm>
          <a:prstGeom prst="rect">
            <a:avLst/>
          </a:prstGeom>
          <a:solidFill>
            <a:srgbClr val="111111"/>
          </a:solidFill>
          <a:ln w="12700">
            <a:solidFill>
              <a:srgbClr val="111111"/>
            </a:solidFill>
            <a:prstDash val="solid"/>
          </a:ln>
        </p:spPr>
      </p:sp>
      <p:sp>
        <p:nvSpPr>
          <p:cNvPr id="3" name="Text 1"/>
          <p:cNvSpPr/>
          <p:nvPr/>
        </p:nvSpPr>
        <p:spPr>
          <a:xfrm>
            <a:off x="320040" y="182880"/>
            <a:ext cx="1417320" cy="438912"/>
          </a:xfrm>
          <a:prstGeom prst="rect">
            <a:avLst/>
          </a:prstGeom>
          <a:noFill/>
          <a:ln/>
        </p:spPr>
        <p:txBody>
          <a:bodyPr wrap="square" lIns="0" tIns="0" rIns="0" bIns="0" rtlCol="0" anchor="ctr"/>
          <a:lstStyle/>
          <a:p>
            <a:pPr algn="ctr" indent="0" marL="0">
              <a:buNone/>
            </a:pPr>
            <a:r>
              <a:rPr lang="en-US" sz="1500" b="1" spc="400" kern="0" dirty="0">
                <a:solidFill>
                  <a:srgbClr val="FFFFFF"/>
                </a:solidFill>
                <a:latin typeface="Calibri" pitchFamily="34" charset="0"/>
                <a:ea typeface="Calibri" pitchFamily="34" charset="-122"/>
                <a:cs typeface="Calibri" pitchFamily="34" charset="-120"/>
              </a:rPr>
              <a:t>ARENA
</a:t>
            </a:r>
            <a:pPr algn="ctr" indent="0" marL="0">
              <a:buNone/>
            </a:pPr>
            <a:r>
              <a:rPr lang="en-US" sz="600" spc="400" kern="0" dirty="0">
                <a:solidFill>
                  <a:srgbClr val="FFFFFF"/>
                </a:solidFill>
                <a:latin typeface="Calibri" pitchFamily="34" charset="0"/>
                <a:ea typeface="Calibri" pitchFamily="34" charset="-122"/>
                <a:cs typeface="Calibri" pitchFamily="34" charset="-120"/>
              </a:rPr>
              <a:t>H O L D I N G S</a:t>
            </a:r>
            <a:endParaRPr lang="en-US" sz="1500" dirty="0"/>
          </a:p>
        </p:txBody>
      </p:sp>
      <p:sp>
        <p:nvSpPr>
          <p:cNvPr id="4" name="Shape 2"/>
          <p:cNvSpPr/>
          <p:nvPr/>
        </p:nvSpPr>
        <p:spPr>
          <a:xfrm>
            <a:off x="9677095" y="246888"/>
            <a:ext cx="201168" cy="201168"/>
          </a:xfrm>
          <a:prstGeom prst="ellipse">
            <a:avLst/>
          </a:prstGeom>
          <a:solidFill>
            <a:srgbClr val="111111"/>
          </a:solidFill>
          <a:ln w="12700">
            <a:solidFill>
              <a:srgbClr val="111111"/>
            </a:solidFill>
            <a:prstDash val="solid"/>
          </a:ln>
        </p:spPr>
      </p:sp>
      <p:sp>
        <p:nvSpPr>
          <p:cNvPr id="5" name="Text 3"/>
          <p:cNvSpPr/>
          <p:nvPr/>
        </p:nvSpPr>
        <p:spPr>
          <a:xfrm>
            <a:off x="9923983" y="210312"/>
            <a:ext cx="2011680" cy="274320"/>
          </a:xfrm>
          <a:prstGeom prst="rect">
            <a:avLst/>
          </a:prstGeom>
          <a:noFill/>
          <a:ln/>
        </p:spPr>
        <p:txBody>
          <a:bodyPr wrap="square" lIns="0" tIns="0" rIns="0" bIns="0" rtlCol="0" anchor="ctr"/>
          <a:lstStyle/>
          <a:p>
            <a:pPr algn="l" indent="0" marL="0">
              <a:buNone/>
            </a:pPr>
            <a:r>
              <a:rPr lang="en-US" sz="1000" b="1" i="1" dirty="0">
                <a:solidFill>
                  <a:srgbClr val="111111"/>
                </a:solidFill>
                <a:latin typeface="Calibri" pitchFamily="34" charset="0"/>
                <a:ea typeface="Calibri" pitchFamily="34" charset="-122"/>
                <a:cs typeface="Calibri" pitchFamily="34" charset="-120"/>
              </a:rPr>
              <a:t>#DoingSomethingGreat</a:t>
            </a:r>
            <a:endParaRPr lang="en-US" sz="1000" dirty="0"/>
          </a:p>
        </p:txBody>
      </p:sp>
      <p:sp>
        <p:nvSpPr>
          <p:cNvPr id="6" name="Shape 4"/>
          <p:cNvSpPr/>
          <p:nvPr/>
        </p:nvSpPr>
        <p:spPr>
          <a:xfrm>
            <a:off x="5973775" y="0"/>
            <a:ext cx="6217920" cy="1463040"/>
          </a:xfrm>
          <a:prstGeom prst="rect">
            <a:avLst/>
          </a:prstGeom>
          <a:solidFill>
            <a:srgbClr val="F5F5F5"/>
          </a:solidFill>
          <a:ln w="12700">
            <a:solidFill>
              <a:srgbClr val="F5F5F5"/>
            </a:solidFill>
            <a:prstDash val="solid"/>
          </a:ln>
        </p:spPr>
      </p:sp>
      <p:sp>
        <p:nvSpPr>
          <p:cNvPr id="7" name="Shape 5"/>
          <p:cNvSpPr/>
          <p:nvPr/>
        </p:nvSpPr>
        <p:spPr>
          <a:xfrm>
            <a:off x="6248095" y="0"/>
            <a:ext cx="-1280160" cy="1280160"/>
          </a:xfrm>
          <a:prstGeom prst="line">
            <a:avLst/>
          </a:prstGeom>
          <a:noFill/>
          <a:ln w="9525">
            <a:solidFill>
              <a:srgbClr val="EDEDED"/>
            </a:solidFill>
            <a:prstDash val="solid"/>
          </a:ln>
        </p:spPr>
      </p:sp>
      <p:sp>
        <p:nvSpPr>
          <p:cNvPr id="8" name="Shape 6"/>
          <p:cNvSpPr/>
          <p:nvPr/>
        </p:nvSpPr>
        <p:spPr>
          <a:xfrm>
            <a:off x="6659575" y="0"/>
            <a:ext cx="-1280160" cy="1280160"/>
          </a:xfrm>
          <a:prstGeom prst="line">
            <a:avLst/>
          </a:prstGeom>
          <a:noFill/>
          <a:ln w="9525">
            <a:solidFill>
              <a:srgbClr val="EDEDED"/>
            </a:solidFill>
            <a:prstDash val="solid"/>
          </a:ln>
        </p:spPr>
      </p:sp>
      <p:sp>
        <p:nvSpPr>
          <p:cNvPr id="9" name="Shape 7"/>
          <p:cNvSpPr/>
          <p:nvPr/>
        </p:nvSpPr>
        <p:spPr>
          <a:xfrm>
            <a:off x="7071055" y="0"/>
            <a:ext cx="-1280160" cy="1280160"/>
          </a:xfrm>
          <a:prstGeom prst="line">
            <a:avLst/>
          </a:prstGeom>
          <a:noFill/>
          <a:ln w="9525">
            <a:solidFill>
              <a:srgbClr val="EDEDED"/>
            </a:solidFill>
            <a:prstDash val="solid"/>
          </a:ln>
        </p:spPr>
      </p:sp>
      <p:sp>
        <p:nvSpPr>
          <p:cNvPr id="10" name="Shape 8"/>
          <p:cNvSpPr/>
          <p:nvPr/>
        </p:nvSpPr>
        <p:spPr>
          <a:xfrm>
            <a:off x="7482535" y="0"/>
            <a:ext cx="-1280160" cy="1280160"/>
          </a:xfrm>
          <a:prstGeom prst="line">
            <a:avLst/>
          </a:prstGeom>
          <a:noFill/>
          <a:ln w="9525">
            <a:solidFill>
              <a:srgbClr val="EDEDED"/>
            </a:solidFill>
            <a:prstDash val="solid"/>
          </a:ln>
        </p:spPr>
      </p:sp>
      <p:sp>
        <p:nvSpPr>
          <p:cNvPr id="11" name="Shape 9"/>
          <p:cNvSpPr/>
          <p:nvPr/>
        </p:nvSpPr>
        <p:spPr>
          <a:xfrm>
            <a:off x="7894015" y="0"/>
            <a:ext cx="-1280160" cy="1280160"/>
          </a:xfrm>
          <a:prstGeom prst="line">
            <a:avLst/>
          </a:prstGeom>
          <a:noFill/>
          <a:ln w="9525">
            <a:solidFill>
              <a:srgbClr val="EDEDED"/>
            </a:solidFill>
            <a:prstDash val="solid"/>
          </a:ln>
        </p:spPr>
      </p:sp>
      <p:sp>
        <p:nvSpPr>
          <p:cNvPr id="12" name="Shape 10"/>
          <p:cNvSpPr/>
          <p:nvPr/>
        </p:nvSpPr>
        <p:spPr>
          <a:xfrm>
            <a:off x="8305495" y="0"/>
            <a:ext cx="-1280160" cy="1280160"/>
          </a:xfrm>
          <a:prstGeom prst="line">
            <a:avLst/>
          </a:prstGeom>
          <a:noFill/>
          <a:ln w="9525">
            <a:solidFill>
              <a:srgbClr val="EDEDED"/>
            </a:solidFill>
            <a:prstDash val="solid"/>
          </a:ln>
        </p:spPr>
      </p:sp>
      <p:sp>
        <p:nvSpPr>
          <p:cNvPr id="13" name="Shape 11"/>
          <p:cNvSpPr/>
          <p:nvPr/>
        </p:nvSpPr>
        <p:spPr>
          <a:xfrm>
            <a:off x="8716975" y="0"/>
            <a:ext cx="-1280160" cy="1280160"/>
          </a:xfrm>
          <a:prstGeom prst="line">
            <a:avLst/>
          </a:prstGeom>
          <a:noFill/>
          <a:ln w="9525">
            <a:solidFill>
              <a:srgbClr val="EDEDED"/>
            </a:solidFill>
            <a:prstDash val="solid"/>
          </a:ln>
        </p:spPr>
      </p:sp>
      <p:sp>
        <p:nvSpPr>
          <p:cNvPr id="14" name="Shape 12"/>
          <p:cNvSpPr/>
          <p:nvPr/>
        </p:nvSpPr>
        <p:spPr>
          <a:xfrm>
            <a:off x="9128455" y="0"/>
            <a:ext cx="-1280160" cy="1280160"/>
          </a:xfrm>
          <a:prstGeom prst="line">
            <a:avLst/>
          </a:prstGeom>
          <a:noFill/>
          <a:ln w="9525">
            <a:solidFill>
              <a:srgbClr val="EDEDED"/>
            </a:solidFill>
            <a:prstDash val="solid"/>
          </a:ln>
        </p:spPr>
      </p:sp>
      <p:sp>
        <p:nvSpPr>
          <p:cNvPr id="15" name="Shape 13"/>
          <p:cNvSpPr/>
          <p:nvPr/>
        </p:nvSpPr>
        <p:spPr>
          <a:xfrm>
            <a:off x="9539935" y="0"/>
            <a:ext cx="-1280160" cy="1280160"/>
          </a:xfrm>
          <a:prstGeom prst="line">
            <a:avLst/>
          </a:prstGeom>
          <a:noFill/>
          <a:ln w="9525">
            <a:solidFill>
              <a:srgbClr val="EDEDED"/>
            </a:solidFill>
            <a:prstDash val="solid"/>
          </a:ln>
        </p:spPr>
      </p:sp>
      <p:sp>
        <p:nvSpPr>
          <p:cNvPr id="16" name="Shape 14"/>
          <p:cNvSpPr/>
          <p:nvPr/>
        </p:nvSpPr>
        <p:spPr>
          <a:xfrm>
            <a:off x="9951415" y="0"/>
            <a:ext cx="-1280160" cy="1280160"/>
          </a:xfrm>
          <a:prstGeom prst="line">
            <a:avLst/>
          </a:prstGeom>
          <a:noFill/>
          <a:ln w="9525">
            <a:solidFill>
              <a:srgbClr val="EDEDED"/>
            </a:solidFill>
            <a:prstDash val="solid"/>
          </a:ln>
        </p:spPr>
      </p:sp>
      <p:sp>
        <p:nvSpPr>
          <p:cNvPr id="17" name="Shape 15"/>
          <p:cNvSpPr/>
          <p:nvPr/>
        </p:nvSpPr>
        <p:spPr>
          <a:xfrm>
            <a:off x="10362895" y="0"/>
            <a:ext cx="-1280160" cy="1280160"/>
          </a:xfrm>
          <a:prstGeom prst="line">
            <a:avLst/>
          </a:prstGeom>
          <a:noFill/>
          <a:ln w="9525">
            <a:solidFill>
              <a:srgbClr val="EDEDED"/>
            </a:solidFill>
            <a:prstDash val="solid"/>
          </a:ln>
        </p:spPr>
      </p:sp>
      <p:sp>
        <p:nvSpPr>
          <p:cNvPr id="18" name="Shape 16"/>
          <p:cNvSpPr/>
          <p:nvPr/>
        </p:nvSpPr>
        <p:spPr>
          <a:xfrm>
            <a:off x="10774375" y="0"/>
            <a:ext cx="-1280160" cy="1280160"/>
          </a:xfrm>
          <a:prstGeom prst="line">
            <a:avLst/>
          </a:prstGeom>
          <a:noFill/>
          <a:ln w="9525">
            <a:solidFill>
              <a:srgbClr val="EDEDED"/>
            </a:solidFill>
            <a:prstDash val="solid"/>
          </a:ln>
        </p:spPr>
      </p:sp>
      <p:sp>
        <p:nvSpPr>
          <p:cNvPr id="19" name="Shape 17"/>
          <p:cNvSpPr/>
          <p:nvPr/>
        </p:nvSpPr>
        <p:spPr>
          <a:xfrm>
            <a:off x="11185855" y="0"/>
            <a:ext cx="-1280160" cy="1280160"/>
          </a:xfrm>
          <a:prstGeom prst="line">
            <a:avLst/>
          </a:prstGeom>
          <a:noFill/>
          <a:ln w="9525">
            <a:solidFill>
              <a:srgbClr val="EDEDED"/>
            </a:solidFill>
            <a:prstDash val="solid"/>
          </a:ln>
        </p:spPr>
      </p:sp>
      <p:sp>
        <p:nvSpPr>
          <p:cNvPr id="20" name="Shape 18"/>
          <p:cNvSpPr/>
          <p:nvPr/>
        </p:nvSpPr>
        <p:spPr>
          <a:xfrm>
            <a:off x="11597335" y="0"/>
            <a:ext cx="-1280160" cy="1280160"/>
          </a:xfrm>
          <a:prstGeom prst="line">
            <a:avLst/>
          </a:prstGeom>
          <a:noFill/>
          <a:ln w="9525">
            <a:solidFill>
              <a:srgbClr val="EDEDED"/>
            </a:solidFill>
            <a:prstDash val="solid"/>
          </a:ln>
        </p:spPr>
      </p:sp>
      <p:sp>
        <p:nvSpPr>
          <p:cNvPr id="21" name="Shape 19"/>
          <p:cNvSpPr/>
          <p:nvPr/>
        </p:nvSpPr>
        <p:spPr>
          <a:xfrm>
            <a:off x="320040" y="1481328"/>
            <a:ext cx="11551615" cy="0"/>
          </a:xfrm>
          <a:prstGeom prst="line">
            <a:avLst/>
          </a:prstGeom>
          <a:noFill/>
          <a:ln w="15875">
            <a:solidFill>
              <a:srgbClr val="111111"/>
            </a:solidFill>
            <a:prstDash val="solid"/>
          </a:ln>
        </p:spPr>
      </p:sp>
      <p:sp>
        <p:nvSpPr>
          <p:cNvPr id="22" name="Text 20"/>
          <p:cNvSpPr/>
          <p:nvPr/>
        </p:nvSpPr>
        <p:spPr>
          <a:xfrm>
            <a:off x="5486400" y="292608"/>
            <a:ext cx="6309360" cy="685800"/>
          </a:xfrm>
          <a:prstGeom prst="rect">
            <a:avLst/>
          </a:prstGeom>
          <a:noFill/>
          <a:ln/>
        </p:spPr>
        <p:txBody>
          <a:bodyPr wrap="square" lIns="0" tIns="0" rIns="0" bIns="0" rtlCol="0" anchor="ctr"/>
          <a:lstStyle/>
          <a:p>
            <a:pPr algn="r" indent="0" marL="0">
              <a:buNone/>
            </a:pPr>
            <a:r>
              <a:rPr lang="en-US" sz="2600" b="1" dirty="0">
                <a:solidFill>
                  <a:srgbClr val="111111"/>
                </a:solidFill>
                <a:latin typeface="Calibri" pitchFamily="34" charset="0"/>
                <a:ea typeface="Calibri" pitchFamily="34" charset="-122"/>
                <a:cs typeface="Calibri" pitchFamily="34" charset="-120"/>
              </a:rPr>
              <a:t>Cybersecurity as a Strategic VAS</a:t>
            </a:r>
            <a:endParaRPr lang="en-US" sz="2600" dirty="0"/>
          </a:p>
        </p:txBody>
      </p:sp>
      <p:sp>
        <p:nvSpPr>
          <p:cNvPr id="23" name="Text 21"/>
          <p:cNvSpPr/>
          <p:nvPr/>
        </p:nvSpPr>
        <p:spPr>
          <a:xfrm>
            <a:off x="5486400" y="960120"/>
            <a:ext cx="6309360" cy="365760"/>
          </a:xfrm>
          <a:prstGeom prst="rect">
            <a:avLst/>
          </a:prstGeom>
          <a:noFill/>
          <a:ln/>
        </p:spPr>
        <p:txBody>
          <a:bodyPr wrap="square" lIns="0" tIns="0" rIns="0" bIns="0" rtlCol="0" anchor="ctr"/>
          <a:lstStyle/>
          <a:p>
            <a:pPr algn="r" indent="0" marL="0">
              <a:buNone/>
            </a:pPr>
            <a:r>
              <a:rPr lang="en-US" sz="1200" i="1" dirty="0">
                <a:solidFill>
                  <a:srgbClr val="6B6B6B"/>
                </a:solidFill>
                <a:latin typeface="Calibri" pitchFamily="34" charset="0"/>
                <a:ea typeface="Calibri" pitchFamily="34" charset="-122"/>
                <a:cs typeface="Calibri" pitchFamily="34" charset="-120"/>
              </a:rPr>
              <a:t>Exclusive McAfee distribution in Africa via Digital Resilience</a:t>
            </a:r>
            <a:endParaRPr lang="en-US" sz="1200" dirty="0"/>
          </a:p>
        </p:txBody>
      </p:sp>
      <p:sp>
        <p:nvSpPr>
          <p:cNvPr id="24" name="Shape 22"/>
          <p:cNvSpPr/>
          <p:nvPr/>
        </p:nvSpPr>
        <p:spPr>
          <a:xfrm>
            <a:off x="320040" y="6355080"/>
            <a:ext cx="11551615" cy="0"/>
          </a:xfrm>
          <a:prstGeom prst="line">
            <a:avLst/>
          </a:prstGeom>
          <a:noFill/>
          <a:ln w="6350">
            <a:solidFill>
              <a:srgbClr val="BFBFBF"/>
            </a:solidFill>
            <a:prstDash val="solid"/>
          </a:ln>
        </p:spPr>
      </p:sp>
      <p:sp>
        <p:nvSpPr>
          <p:cNvPr id="25" name="Shape 23"/>
          <p:cNvSpPr/>
          <p:nvPr/>
        </p:nvSpPr>
        <p:spPr>
          <a:xfrm>
            <a:off x="320040" y="6473952"/>
            <a:ext cx="502920" cy="237744"/>
          </a:xfrm>
          <a:prstGeom prst="rect">
            <a:avLst/>
          </a:prstGeom>
          <a:solidFill>
            <a:srgbClr val="111111"/>
          </a:solidFill>
          <a:ln w="12700">
            <a:solidFill>
              <a:srgbClr val="111111"/>
            </a:solidFill>
            <a:prstDash val="solid"/>
          </a:ln>
        </p:spPr>
      </p:sp>
      <p:sp>
        <p:nvSpPr>
          <p:cNvPr id="26" name="Text 24"/>
          <p:cNvSpPr/>
          <p:nvPr/>
        </p:nvSpPr>
        <p:spPr>
          <a:xfrm>
            <a:off x="320040" y="6473952"/>
            <a:ext cx="502920" cy="237744"/>
          </a:xfrm>
          <a:prstGeom prst="rect">
            <a:avLst/>
          </a:prstGeom>
          <a:noFill/>
          <a:ln/>
        </p:spPr>
        <p:txBody>
          <a:bodyPr wrap="square" lIns="0" tIns="0" rIns="0" bIns="0" rtlCol="0" anchor="ctr"/>
          <a:lstStyle/>
          <a:p>
            <a:pPr algn="ctr" indent="0" marL="0">
              <a:buNone/>
            </a:pPr>
            <a:r>
              <a:rPr lang="en-US" sz="900" b="1" spc="200" kern="0" dirty="0">
                <a:solidFill>
                  <a:srgbClr val="FFFFFF"/>
                </a:solidFill>
                <a:latin typeface="Calibri" pitchFamily="34" charset="0"/>
                <a:ea typeface="Calibri" pitchFamily="34" charset="-122"/>
                <a:cs typeface="Calibri" pitchFamily="34" charset="-120"/>
              </a:rPr>
              <a:t>DSG</a:t>
            </a:r>
            <a:endParaRPr lang="en-US" sz="900" dirty="0"/>
          </a:p>
        </p:txBody>
      </p:sp>
      <p:sp>
        <p:nvSpPr>
          <p:cNvPr id="27" name="Text 25"/>
          <p:cNvSpPr/>
          <p:nvPr/>
        </p:nvSpPr>
        <p:spPr>
          <a:xfrm>
            <a:off x="868680" y="6473952"/>
            <a:ext cx="2194560" cy="237744"/>
          </a:xfrm>
          <a:prstGeom prst="rect">
            <a:avLst/>
          </a:prstGeom>
          <a:noFill/>
          <a:ln/>
        </p:spPr>
        <p:txBody>
          <a:bodyPr wrap="square" lIns="0" tIns="0" rIns="0" bIns="0" rtlCol="0" anchor="ctr"/>
          <a:lstStyle/>
          <a:p>
            <a:pPr indent="0" marL="0">
              <a:buNone/>
            </a:pPr>
            <a:r>
              <a:rPr lang="en-US" sz="650" spc="200" kern="0" dirty="0">
                <a:solidFill>
                  <a:srgbClr val="6B6B6B"/>
                </a:solidFill>
                <a:latin typeface="Calibri" pitchFamily="34" charset="0"/>
                <a:ea typeface="Calibri" pitchFamily="34" charset="-122"/>
                <a:cs typeface="Calibri" pitchFamily="34" charset="-120"/>
              </a:rPr>
              <a:t>DIGITAL SOLUTIONS GROUP</a:t>
            </a:r>
            <a:endParaRPr lang="en-US" sz="650" dirty="0"/>
          </a:p>
        </p:txBody>
      </p:sp>
      <p:sp>
        <p:nvSpPr>
          <p:cNvPr id="28" name="Text 26"/>
          <p:cNvSpPr/>
          <p:nvPr/>
        </p:nvSpPr>
        <p:spPr>
          <a:xfrm>
            <a:off x="4754880" y="6473952"/>
            <a:ext cx="2743200" cy="237744"/>
          </a:xfrm>
          <a:prstGeom prst="rect">
            <a:avLst/>
          </a:prstGeom>
          <a:noFill/>
          <a:ln/>
        </p:spPr>
        <p:txBody>
          <a:bodyPr wrap="square" lIns="0" tIns="0" rIns="0" bIns="0" rtlCol="0" anchor="ctr"/>
          <a:lstStyle/>
          <a:p>
            <a:pPr algn="ctr" indent="0" marL="0">
              <a:buNone/>
            </a:pPr>
            <a:r>
              <a:rPr lang="en-US" sz="1100" b="1" dirty="0">
                <a:solidFill>
                  <a:srgbClr val="111111"/>
                </a:solidFill>
                <a:latin typeface="Calibri" pitchFamily="34" charset="0"/>
                <a:ea typeface="Calibri" pitchFamily="34" charset="-122"/>
                <a:cs typeface="Calibri" pitchFamily="34" charset="-120"/>
              </a:rPr>
              <a:t>digital</a:t>
            </a:r>
            <a:pPr algn="ctr" indent="0" marL="0">
              <a:buNone/>
            </a:pPr>
            <a:r>
              <a:rPr lang="en-US" sz="1100" b="1" dirty="0">
                <a:solidFill>
                  <a:srgbClr val="6B6B6B"/>
                </a:solidFill>
                <a:latin typeface="Calibri" pitchFamily="34" charset="0"/>
                <a:ea typeface="Calibri" pitchFamily="34" charset="-122"/>
                <a:cs typeface="Calibri" pitchFamily="34" charset="-120"/>
              </a:rPr>
              <a:t>mobile</a:t>
            </a:r>
            <a:endParaRPr lang="en-US" sz="1100" dirty="0"/>
          </a:p>
        </p:txBody>
      </p:sp>
      <p:sp>
        <p:nvSpPr>
          <p:cNvPr id="29" name="Shape 27"/>
          <p:cNvSpPr/>
          <p:nvPr/>
        </p:nvSpPr>
        <p:spPr>
          <a:xfrm>
            <a:off x="8595360" y="6519672"/>
            <a:ext cx="146304" cy="146304"/>
          </a:xfrm>
          <a:prstGeom prst="ellipse">
            <a:avLst/>
          </a:prstGeom>
          <a:solidFill>
            <a:srgbClr val="111111"/>
          </a:solidFill>
          <a:ln w="12700">
            <a:solidFill>
              <a:srgbClr val="111111"/>
            </a:solidFill>
            <a:prstDash val="solid"/>
          </a:ln>
        </p:spPr>
      </p:sp>
      <p:sp>
        <p:nvSpPr>
          <p:cNvPr id="30" name="Text 28"/>
          <p:cNvSpPr/>
          <p:nvPr/>
        </p:nvSpPr>
        <p:spPr>
          <a:xfrm>
            <a:off x="8778240" y="6473952"/>
            <a:ext cx="2194560" cy="237744"/>
          </a:xfrm>
          <a:prstGeom prst="rect">
            <a:avLst/>
          </a:prstGeom>
          <a:noFill/>
          <a:ln/>
        </p:spPr>
        <p:txBody>
          <a:bodyPr wrap="square" lIns="0" tIns="0" rIns="0" bIns="0" rtlCol="0" anchor="ctr"/>
          <a:lstStyle/>
          <a:p>
            <a:pPr indent="0" marL="0">
              <a:buNone/>
            </a:pPr>
            <a:r>
              <a:rPr lang="en-US" sz="900" i="1" dirty="0">
                <a:solidFill>
                  <a:srgbClr val="111111"/>
                </a:solidFill>
                <a:latin typeface="Calibri" pitchFamily="34" charset="0"/>
                <a:ea typeface="Calibri" pitchFamily="34" charset="-122"/>
                <a:cs typeface="Calibri" pitchFamily="34" charset="-120"/>
              </a:rPr>
              <a:t>#DoingSomethingGreat</a:t>
            </a:r>
            <a:endParaRPr lang="en-US" sz="900" dirty="0"/>
          </a:p>
        </p:txBody>
      </p:sp>
      <p:sp>
        <p:nvSpPr>
          <p:cNvPr id="31" name="Text 29"/>
          <p:cNvSpPr/>
          <p:nvPr/>
        </p:nvSpPr>
        <p:spPr>
          <a:xfrm>
            <a:off x="11002975" y="6473952"/>
            <a:ext cx="914400" cy="237744"/>
          </a:xfrm>
          <a:prstGeom prst="rect">
            <a:avLst/>
          </a:prstGeom>
          <a:noFill/>
          <a:ln/>
        </p:spPr>
        <p:txBody>
          <a:bodyPr wrap="square" lIns="0" tIns="0" rIns="0" bIns="0" rtlCol="0" anchor="ctr"/>
          <a:lstStyle/>
          <a:p>
            <a:pPr algn="r" indent="0" marL="0">
              <a:buNone/>
            </a:pPr>
            <a:r>
              <a:rPr lang="en-US" sz="800" dirty="0">
                <a:solidFill>
                  <a:srgbClr val="6B6B6B"/>
                </a:solidFill>
                <a:latin typeface="Calibri" pitchFamily="34" charset="0"/>
                <a:ea typeface="Calibri" pitchFamily="34" charset="-122"/>
                <a:cs typeface="Calibri" pitchFamily="34" charset="-120"/>
              </a:rPr>
              <a:t>16 / 20</a:t>
            </a:r>
            <a:endParaRPr lang="en-US" sz="800" dirty="0"/>
          </a:p>
        </p:txBody>
      </p:sp>
      <p:sp>
        <p:nvSpPr>
          <p:cNvPr id="32" name="Shape 30"/>
          <p:cNvSpPr/>
          <p:nvPr/>
        </p:nvSpPr>
        <p:spPr>
          <a:xfrm>
            <a:off x="502920" y="1828800"/>
            <a:ext cx="4114800" cy="4389120"/>
          </a:xfrm>
          <a:prstGeom prst="rect">
            <a:avLst/>
          </a:prstGeom>
          <a:solidFill>
            <a:srgbClr val="111111"/>
          </a:solidFill>
          <a:ln w="12700">
            <a:solidFill>
              <a:srgbClr val="111111"/>
            </a:solidFill>
            <a:prstDash val="solid"/>
          </a:ln>
        </p:spPr>
      </p:sp>
      <p:sp>
        <p:nvSpPr>
          <p:cNvPr id="33" name="Text 31"/>
          <p:cNvSpPr/>
          <p:nvPr/>
        </p:nvSpPr>
        <p:spPr>
          <a:xfrm>
            <a:off x="731520" y="2194560"/>
            <a:ext cx="3657600" cy="1645920"/>
          </a:xfrm>
          <a:prstGeom prst="rect">
            <a:avLst/>
          </a:prstGeom>
          <a:noFill/>
          <a:ln/>
        </p:spPr>
        <p:txBody>
          <a:bodyPr wrap="square" lIns="0" tIns="0" rIns="0" bIns="0" rtlCol="0" anchor="ctr"/>
          <a:lstStyle/>
          <a:p>
            <a:pPr indent="0" marL="0">
              <a:buNone/>
            </a:pPr>
            <a:r>
              <a:rPr lang="en-US" sz="9600" b="1" dirty="0">
                <a:solidFill>
                  <a:srgbClr val="FFFFFF"/>
                </a:solidFill>
                <a:latin typeface="Georgia" pitchFamily="34" charset="0"/>
                <a:ea typeface="Georgia" pitchFamily="34" charset="-122"/>
                <a:cs typeface="Georgia" pitchFamily="34" charset="-120"/>
              </a:rPr>
              <a:t>66%</a:t>
            </a:r>
            <a:endParaRPr lang="en-US" sz="9600" dirty="0"/>
          </a:p>
        </p:txBody>
      </p:sp>
      <p:sp>
        <p:nvSpPr>
          <p:cNvPr id="34" name="Shape 32"/>
          <p:cNvSpPr/>
          <p:nvPr/>
        </p:nvSpPr>
        <p:spPr>
          <a:xfrm>
            <a:off x="731520" y="3931920"/>
            <a:ext cx="731520" cy="0"/>
          </a:xfrm>
          <a:prstGeom prst="line">
            <a:avLst/>
          </a:prstGeom>
          <a:noFill/>
          <a:ln w="15875">
            <a:solidFill>
              <a:srgbClr val="FFFFFF"/>
            </a:solidFill>
            <a:prstDash val="solid"/>
          </a:ln>
        </p:spPr>
      </p:sp>
      <p:sp>
        <p:nvSpPr>
          <p:cNvPr id="35" name="Text 33"/>
          <p:cNvSpPr/>
          <p:nvPr/>
        </p:nvSpPr>
        <p:spPr>
          <a:xfrm>
            <a:off x="731520" y="4069080"/>
            <a:ext cx="3657600" cy="1097280"/>
          </a:xfrm>
          <a:prstGeom prst="rect">
            <a:avLst/>
          </a:prstGeom>
          <a:noFill/>
          <a:ln/>
        </p:spPr>
        <p:txBody>
          <a:bodyPr wrap="square" lIns="0" tIns="0" rIns="0" bIns="0" rtlCol="0" anchor="ctr"/>
          <a:lstStyle/>
          <a:p>
            <a:pPr indent="0" marL="0">
              <a:buNone/>
            </a:pPr>
            <a:r>
              <a:rPr lang="en-US" sz="1800" i="1" dirty="0">
                <a:solidFill>
                  <a:srgbClr val="FFFFFF"/>
                </a:solidFill>
                <a:latin typeface="Georgia" pitchFamily="34" charset="0"/>
                <a:ea typeface="Georgia" pitchFamily="34" charset="-122"/>
                <a:cs typeface="Georgia" pitchFamily="34" charset="-120"/>
              </a:rPr>
              <a:t>of parents worry about the apps their children are using.</a:t>
            </a:r>
            <a:endParaRPr lang="en-US" sz="1800" dirty="0"/>
          </a:p>
        </p:txBody>
      </p:sp>
      <p:sp>
        <p:nvSpPr>
          <p:cNvPr id="36" name="Text 34"/>
          <p:cNvSpPr/>
          <p:nvPr/>
        </p:nvSpPr>
        <p:spPr>
          <a:xfrm>
            <a:off x="731520" y="5303520"/>
            <a:ext cx="3657600" cy="914400"/>
          </a:xfrm>
          <a:prstGeom prst="rect">
            <a:avLst/>
          </a:prstGeom>
          <a:noFill/>
          <a:ln/>
        </p:spPr>
        <p:txBody>
          <a:bodyPr wrap="square" lIns="0" tIns="0" rIns="0" bIns="0" rtlCol="0" anchor="ctr"/>
          <a:lstStyle/>
          <a:p>
            <a:pPr indent="0" marL="0">
              <a:buNone/>
            </a:pPr>
            <a:r>
              <a:rPr lang="en-US" sz="1100" i="1" dirty="0">
                <a:solidFill>
                  <a:srgbClr val="D9D9D9"/>
                </a:solidFill>
                <a:latin typeface="Calibri" pitchFamily="34" charset="0"/>
                <a:ea typeface="Calibri" pitchFamily="34" charset="-122"/>
                <a:cs typeface="Calibri" pitchFamily="34" charset="-120"/>
              </a:rPr>
              <a:t>Parental controls are one of the most emotionally sticky VAS options in mobile.</a:t>
            </a:r>
            <a:endParaRPr lang="en-US" sz="1100" dirty="0"/>
          </a:p>
        </p:txBody>
      </p:sp>
      <p:sp>
        <p:nvSpPr>
          <p:cNvPr id="37" name="Shape 35"/>
          <p:cNvSpPr/>
          <p:nvPr/>
        </p:nvSpPr>
        <p:spPr>
          <a:xfrm>
            <a:off x="4892040" y="1828800"/>
            <a:ext cx="6903720" cy="2103120"/>
          </a:xfrm>
          <a:prstGeom prst="rect">
            <a:avLst/>
          </a:prstGeom>
          <a:solidFill>
            <a:srgbClr val="FFFFFF"/>
          </a:solidFill>
          <a:ln w="9525">
            <a:solidFill>
              <a:srgbClr val="111111"/>
            </a:solidFill>
            <a:prstDash val="solid"/>
          </a:ln>
        </p:spPr>
      </p:sp>
      <p:sp>
        <p:nvSpPr>
          <p:cNvPr id="38" name="Shape 36"/>
          <p:cNvSpPr/>
          <p:nvPr/>
        </p:nvSpPr>
        <p:spPr>
          <a:xfrm>
            <a:off x="4892040" y="1828800"/>
            <a:ext cx="6903720" cy="502920"/>
          </a:xfrm>
          <a:prstGeom prst="rect">
            <a:avLst/>
          </a:prstGeom>
          <a:solidFill>
            <a:srgbClr val="111111"/>
          </a:solidFill>
          <a:ln w="12700">
            <a:solidFill>
              <a:srgbClr val="111111"/>
            </a:solidFill>
            <a:prstDash val="solid"/>
          </a:ln>
        </p:spPr>
      </p:sp>
      <p:sp>
        <p:nvSpPr>
          <p:cNvPr id="39" name="Text 37"/>
          <p:cNvSpPr/>
          <p:nvPr/>
        </p:nvSpPr>
        <p:spPr>
          <a:xfrm>
            <a:off x="5074920" y="1828800"/>
            <a:ext cx="6583680" cy="50292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Safe Family — parental controls</a:t>
            </a:r>
            <a:endParaRPr lang="en-US" sz="1250" dirty="0"/>
          </a:p>
        </p:txBody>
      </p:sp>
      <p:sp>
        <p:nvSpPr>
          <p:cNvPr id="40" name="Text 38"/>
          <p:cNvSpPr/>
          <p:nvPr/>
        </p:nvSpPr>
        <p:spPr>
          <a:xfrm>
            <a:off x="5120640" y="2423160"/>
            <a:ext cx="6492240" cy="1417320"/>
          </a:xfrm>
          <a:prstGeom prst="rect">
            <a:avLst/>
          </a:prstGeom>
          <a:noFill/>
          <a:ln/>
        </p:spPr>
        <p:txBody>
          <a:bodyPr wrap="square" lIns="0" tIns="0" rIns="0" bIns="0" rtlCol="0" anchor="ctr"/>
          <a:lstStyle/>
          <a:p>
            <a:pPr marL="342900" indent="-342900">
              <a:spcAft>
                <a:spcPts val="300"/>
              </a:spcAft>
              <a:buSzPct val="100000"/>
              <a:buChar char="■"/>
            </a:pPr>
            <a:r>
              <a:rPr lang="en-US" sz="1100" dirty="0">
                <a:solidFill>
                  <a:srgbClr val="444444"/>
                </a:solidFill>
                <a:latin typeface="Calibri" pitchFamily="34" charset="0"/>
                <a:ea typeface="Calibri" pitchFamily="34" charset="-122"/>
                <a:cs typeface="Calibri" pitchFamily="34" charset="-120"/>
              </a:rPr>
              <a:t>App filtering and blocking</a:t>
            </a:r>
            <a:endParaRPr lang="en-US" sz="1100" dirty="0"/>
          </a:p>
          <a:p>
            <a:pPr marL="342900" indent="-342900">
              <a:spcAft>
                <a:spcPts val="300"/>
              </a:spcAft>
              <a:buSzPct val="100000"/>
              <a:buChar char="■"/>
            </a:pPr>
            <a:r>
              <a:rPr lang="en-US" sz="1100" dirty="0">
                <a:solidFill>
                  <a:srgbClr val="444444"/>
                </a:solidFill>
                <a:latin typeface="Calibri" pitchFamily="34" charset="0"/>
                <a:ea typeface="Calibri" pitchFamily="34" charset="-122"/>
                <a:cs typeface="Calibri" pitchFamily="34" charset="-120"/>
              </a:rPr>
              <a:t>Time-of-day usage limits</a:t>
            </a:r>
            <a:endParaRPr lang="en-US" sz="1100" dirty="0"/>
          </a:p>
          <a:p>
            <a:pPr marL="342900" indent="-342900">
              <a:spcAft>
                <a:spcPts val="300"/>
              </a:spcAft>
              <a:buSzPct val="100000"/>
              <a:buChar char="■"/>
            </a:pPr>
            <a:r>
              <a:rPr lang="en-US" sz="1100" dirty="0">
                <a:solidFill>
                  <a:srgbClr val="444444"/>
                </a:solidFill>
                <a:latin typeface="Calibri" pitchFamily="34" charset="0"/>
                <a:ea typeface="Calibri" pitchFamily="34" charset="-122"/>
                <a:cs typeface="Calibri" pitchFamily="34" charset="-120"/>
              </a:rPr>
              <a:t>Geofencing and location alerts</a:t>
            </a:r>
            <a:endParaRPr lang="en-US" sz="1100" dirty="0"/>
          </a:p>
          <a:p>
            <a:pPr marL="342900" indent="-342900">
              <a:spcAft>
                <a:spcPts val="300"/>
              </a:spcAft>
              <a:buSzPct val="100000"/>
              <a:buChar char="■"/>
            </a:pPr>
            <a:r>
              <a:rPr lang="en-US" sz="1100" dirty="0">
                <a:solidFill>
                  <a:srgbClr val="444444"/>
                </a:solidFill>
                <a:latin typeface="Calibri" pitchFamily="34" charset="0"/>
                <a:ea typeface="Calibri" pitchFamily="34" charset="-122"/>
                <a:cs typeface="Calibri" pitchFamily="34" charset="-120"/>
              </a:rPr>
              <a:t>Real-time permission requests from child to parent</a:t>
            </a:r>
            <a:endParaRPr lang="en-US" sz="1100" dirty="0"/>
          </a:p>
          <a:p>
            <a:pPr marL="342900" indent="-342900">
              <a:spcAft>
                <a:spcPts val="300"/>
              </a:spcAft>
              <a:buSzPct val="100000"/>
              <a:buChar char="■"/>
            </a:pPr>
            <a:r>
              <a:rPr lang="en-US" sz="1100" dirty="0">
                <a:solidFill>
                  <a:srgbClr val="444444"/>
                </a:solidFill>
                <a:latin typeface="Calibri" pitchFamily="34" charset="0"/>
                <a:ea typeface="Calibri" pitchFamily="34" charset="-122"/>
                <a:cs typeface="Calibri" pitchFamily="34" charset="-120"/>
              </a:rPr>
              <a:t>Unified control across child devices</a:t>
            </a:r>
            <a:endParaRPr lang="en-US" sz="1100" dirty="0"/>
          </a:p>
        </p:txBody>
      </p:sp>
      <p:sp>
        <p:nvSpPr>
          <p:cNvPr id="41" name="Shape 39"/>
          <p:cNvSpPr/>
          <p:nvPr/>
        </p:nvSpPr>
        <p:spPr>
          <a:xfrm>
            <a:off x="4892040" y="4069080"/>
            <a:ext cx="6903720" cy="2103120"/>
          </a:xfrm>
          <a:prstGeom prst="rect">
            <a:avLst/>
          </a:prstGeom>
          <a:solidFill>
            <a:srgbClr val="FFFFFF"/>
          </a:solidFill>
          <a:ln w="9525">
            <a:solidFill>
              <a:srgbClr val="111111"/>
            </a:solidFill>
            <a:prstDash val="solid"/>
          </a:ln>
        </p:spPr>
      </p:sp>
      <p:sp>
        <p:nvSpPr>
          <p:cNvPr id="42" name="Shape 40"/>
          <p:cNvSpPr/>
          <p:nvPr/>
        </p:nvSpPr>
        <p:spPr>
          <a:xfrm>
            <a:off x="4892040" y="4069080"/>
            <a:ext cx="6903720" cy="502920"/>
          </a:xfrm>
          <a:prstGeom prst="rect">
            <a:avLst/>
          </a:prstGeom>
          <a:solidFill>
            <a:srgbClr val="111111"/>
          </a:solidFill>
          <a:ln w="12700">
            <a:solidFill>
              <a:srgbClr val="111111"/>
            </a:solidFill>
            <a:prstDash val="solid"/>
          </a:ln>
        </p:spPr>
      </p:sp>
      <p:sp>
        <p:nvSpPr>
          <p:cNvPr id="43" name="Text 41"/>
          <p:cNvSpPr/>
          <p:nvPr/>
        </p:nvSpPr>
        <p:spPr>
          <a:xfrm>
            <a:off x="5074920" y="4069080"/>
            <a:ext cx="6583680" cy="50292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Multi-access security suite</a:t>
            </a:r>
            <a:endParaRPr lang="en-US" sz="1250" dirty="0"/>
          </a:p>
        </p:txBody>
      </p:sp>
      <p:sp>
        <p:nvSpPr>
          <p:cNvPr id="44" name="Text 42"/>
          <p:cNvSpPr/>
          <p:nvPr/>
        </p:nvSpPr>
        <p:spPr>
          <a:xfrm>
            <a:off x="5120640" y="4663440"/>
            <a:ext cx="6492240" cy="1417320"/>
          </a:xfrm>
          <a:prstGeom prst="rect">
            <a:avLst/>
          </a:prstGeom>
          <a:noFill/>
          <a:ln/>
        </p:spPr>
        <p:txBody>
          <a:bodyPr wrap="square" lIns="0" tIns="0" rIns="0" bIns="0" rtlCol="0" anchor="ctr"/>
          <a:lstStyle/>
          <a:p>
            <a:pPr marL="342900" indent="-342900">
              <a:spcAft>
                <a:spcPts val="300"/>
              </a:spcAft>
              <a:buSzPct val="100000"/>
              <a:buChar char="■"/>
            </a:pPr>
            <a:r>
              <a:rPr lang="en-US" sz="1100" dirty="0">
                <a:solidFill>
                  <a:srgbClr val="444444"/>
                </a:solidFill>
                <a:latin typeface="Calibri" pitchFamily="34" charset="0"/>
                <a:ea typeface="Calibri" pitchFamily="34" charset="-122"/>
                <a:cs typeface="Calibri" pitchFamily="34" charset="-120"/>
              </a:rPr>
              <a:t>Antivirus, Safe Browsing, Identity Protection, VPN</a:t>
            </a:r>
            <a:endParaRPr lang="en-US" sz="1100" dirty="0"/>
          </a:p>
          <a:p>
            <a:pPr marL="342900" indent="-342900">
              <a:spcAft>
                <a:spcPts val="300"/>
              </a:spcAft>
              <a:buSzPct val="100000"/>
              <a:buChar char="■"/>
            </a:pPr>
            <a:r>
              <a:rPr lang="en-US" sz="1100" dirty="0">
                <a:solidFill>
                  <a:srgbClr val="444444"/>
                </a:solidFill>
                <a:latin typeface="Calibri" pitchFamily="34" charset="0"/>
                <a:ea typeface="Calibri" pitchFamily="34" charset="-122"/>
                <a:cs typeface="Calibri" pitchFamily="34" charset="-120"/>
              </a:rPr>
              <a:t>Single app, cross-platform (Windows, Android, iOS, Chromebook)</a:t>
            </a:r>
            <a:endParaRPr lang="en-US" sz="1100" dirty="0"/>
          </a:p>
          <a:p>
            <a:pPr marL="342900" indent="-342900">
              <a:spcAft>
                <a:spcPts val="300"/>
              </a:spcAft>
              <a:buSzPct val="100000"/>
              <a:buChar char="■"/>
            </a:pPr>
            <a:r>
              <a:rPr lang="en-US" sz="1100" dirty="0">
                <a:solidFill>
                  <a:srgbClr val="444444"/>
                </a:solidFill>
                <a:latin typeface="Calibri" pitchFamily="34" charset="0"/>
                <a:ea typeface="Calibri" pitchFamily="34" charset="-122"/>
                <a:cs typeface="Calibri" pitchFamily="34" charset="-120"/>
              </a:rPr>
              <a:t>#1 in device and online protection globally</a:t>
            </a:r>
            <a:endParaRPr lang="en-US" sz="1100" dirty="0"/>
          </a:p>
          <a:p>
            <a:pPr marL="342900" indent="-342900">
              <a:spcAft>
                <a:spcPts val="300"/>
              </a:spcAft>
              <a:buSzPct val="100000"/>
              <a:buChar char="■"/>
            </a:pPr>
            <a:r>
              <a:rPr lang="en-US" sz="1100" dirty="0">
                <a:solidFill>
                  <a:srgbClr val="444444"/>
                </a:solidFill>
                <a:latin typeface="Calibri" pitchFamily="34" charset="0"/>
                <a:ea typeface="Calibri" pitchFamily="34" charset="-122"/>
                <a:cs typeface="Calibri" pitchFamily="34" charset="-120"/>
              </a:rPr>
              <a:t>Bundled standalone or as part of Arena Black</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20040" y="182880"/>
            <a:ext cx="1417320" cy="438912"/>
          </a:xfrm>
          <a:prstGeom prst="rect">
            <a:avLst/>
          </a:prstGeom>
          <a:solidFill>
            <a:srgbClr val="111111"/>
          </a:solidFill>
          <a:ln w="12700">
            <a:solidFill>
              <a:srgbClr val="111111"/>
            </a:solidFill>
            <a:prstDash val="solid"/>
          </a:ln>
        </p:spPr>
      </p:sp>
      <p:sp>
        <p:nvSpPr>
          <p:cNvPr id="3" name="Text 1"/>
          <p:cNvSpPr/>
          <p:nvPr/>
        </p:nvSpPr>
        <p:spPr>
          <a:xfrm>
            <a:off x="320040" y="182880"/>
            <a:ext cx="1417320" cy="438912"/>
          </a:xfrm>
          <a:prstGeom prst="rect">
            <a:avLst/>
          </a:prstGeom>
          <a:noFill/>
          <a:ln/>
        </p:spPr>
        <p:txBody>
          <a:bodyPr wrap="square" lIns="0" tIns="0" rIns="0" bIns="0" rtlCol="0" anchor="ctr"/>
          <a:lstStyle/>
          <a:p>
            <a:pPr algn="ctr" indent="0" marL="0">
              <a:buNone/>
            </a:pPr>
            <a:r>
              <a:rPr lang="en-US" sz="1500" b="1" spc="400" kern="0" dirty="0">
                <a:solidFill>
                  <a:srgbClr val="FFFFFF"/>
                </a:solidFill>
                <a:latin typeface="Calibri" pitchFamily="34" charset="0"/>
                <a:ea typeface="Calibri" pitchFamily="34" charset="-122"/>
                <a:cs typeface="Calibri" pitchFamily="34" charset="-120"/>
              </a:rPr>
              <a:t>ARENA
</a:t>
            </a:r>
            <a:pPr algn="ctr" indent="0" marL="0">
              <a:buNone/>
            </a:pPr>
            <a:r>
              <a:rPr lang="en-US" sz="600" spc="400" kern="0" dirty="0">
                <a:solidFill>
                  <a:srgbClr val="FFFFFF"/>
                </a:solidFill>
                <a:latin typeface="Calibri" pitchFamily="34" charset="0"/>
                <a:ea typeface="Calibri" pitchFamily="34" charset="-122"/>
                <a:cs typeface="Calibri" pitchFamily="34" charset="-120"/>
              </a:rPr>
              <a:t>H O L D I N G S</a:t>
            </a:r>
            <a:endParaRPr lang="en-US" sz="1500" dirty="0"/>
          </a:p>
        </p:txBody>
      </p:sp>
      <p:sp>
        <p:nvSpPr>
          <p:cNvPr id="4" name="Shape 2"/>
          <p:cNvSpPr/>
          <p:nvPr/>
        </p:nvSpPr>
        <p:spPr>
          <a:xfrm>
            <a:off x="9677095" y="246888"/>
            <a:ext cx="201168" cy="201168"/>
          </a:xfrm>
          <a:prstGeom prst="ellipse">
            <a:avLst/>
          </a:prstGeom>
          <a:solidFill>
            <a:srgbClr val="111111"/>
          </a:solidFill>
          <a:ln w="12700">
            <a:solidFill>
              <a:srgbClr val="111111"/>
            </a:solidFill>
            <a:prstDash val="solid"/>
          </a:ln>
        </p:spPr>
      </p:sp>
      <p:sp>
        <p:nvSpPr>
          <p:cNvPr id="5" name="Text 3"/>
          <p:cNvSpPr/>
          <p:nvPr/>
        </p:nvSpPr>
        <p:spPr>
          <a:xfrm>
            <a:off x="9923983" y="210312"/>
            <a:ext cx="2011680" cy="274320"/>
          </a:xfrm>
          <a:prstGeom prst="rect">
            <a:avLst/>
          </a:prstGeom>
          <a:noFill/>
          <a:ln/>
        </p:spPr>
        <p:txBody>
          <a:bodyPr wrap="square" lIns="0" tIns="0" rIns="0" bIns="0" rtlCol="0" anchor="ctr"/>
          <a:lstStyle/>
          <a:p>
            <a:pPr algn="l" indent="0" marL="0">
              <a:buNone/>
            </a:pPr>
            <a:r>
              <a:rPr lang="en-US" sz="1000" b="1" i="1" dirty="0">
                <a:solidFill>
                  <a:srgbClr val="111111"/>
                </a:solidFill>
                <a:latin typeface="Calibri" pitchFamily="34" charset="0"/>
                <a:ea typeface="Calibri" pitchFamily="34" charset="-122"/>
                <a:cs typeface="Calibri" pitchFamily="34" charset="-120"/>
              </a:rPr>
              <a:t>#DoingSomethingGreat</a:t>
            </a:r>
            <a:endParaRPr lang="en-US" sz="1000" dirty="0"/>
          </a:p>
        </p:txBody>
      </p:sp>
      <p:sp>
        <p:nvSpPr>
          <p:cNvPr id="6" name="Shape 4"/>
          <p:cNvSpPr/>
          <p:nvPr/>
        </p:nvSpPr>
        <p:spPr>
          <a:xfrm>
            <a:off x="5973775" y="0"/>
            <a:ext cx="6217920" cy="1463040"/>
          </a:xfrm>
          <a:prstGeom prst="rect">
            <a:avLst/>
          </a:prstGeom>
          <a:solidFill>
            <a:srgbClr val="F5F5F5"/>
          </a:solidFill>
          <a:ln w="12700">
            <a:solidFill>
              <a:srgbClr val="F5F5F5"/>
            </a:solidFill>
            <a:prstDash val="solid"/>
          </a:ln>
        </p:spPr>
      </p:sp>
      <p:sp>
        <p:nvSpPr>
          <p:cNvPr id="7" name="Shape 5"/>
          <p:cNvSpPr/>
          <p:nvPr/>
        </p:nvSpPr>
        <p:spPr>
          <a:xfrm>
            <a:off x="6248095" y="0"/>
            <a:ext cx="-1280160" cy="1280160"/>
          </a:xfrm>
          <a:prstGeom prst="line">
            <a:avLst/>
          </a:prstGeom>
          <a:noFill/>
          <a:ln w="9525">
            <a:solidFill>
              <a:srgbClr val="EDEDED"/>
            </a:solidFill>
            <a:prstDash val="solid"/>
          </a:ln>
        </p:spPr>
      </p:sp>
      <p:sp>
        <p:nvSpPr>
          <p:cNvPr id="8" name="Shape 6"/>
          <p:cNvSpPr/>
          <p:nvPr/>
        </p:nvSpPr>
        <p:spPr>
          <a:xfrm>
            <a:off x="6659575" y="0"/>
            <a:ext cx="-1280160" cy="1280160"/>
          </a:xfrm>
          <a:prstGeom prst="line">
            <a:avLst/>
          </a:prstGeom>
          <a:noFill/>
          <a:ln w="9525">
            <a:solidFill>
              <a:srgbClr val="EDEDED"/>
            </a:solidFill>
            <a:prstDash val="solid"/>
          </a:ln>
        </p:spPr>
      </p:sp>
      <p:sp>
        <p:nvSpPr>
          <p:cNvPr id="9" name="Shape 7"/>
          <p:cNvSpPr/>
          <p:nvPr/>
        </p:nvSpPr>
        <p:spPr>
          <a:xfrm>
            <a:off x="7071055" y="0"/>
            <a:ext cx="-1280160" cy="1280160"/>
          </a:xfrm>
          <a:prstGeom prst="line">
            <a:avLst/>
          </a:prstGeom>
          <a:noFill/>
          <a:ln w="9525">
            <a:solidFill>
              <a:srgbClr val="EDEDED"/>
            </a:solidFill>
            <a:prstDash val="solid"/>
          </a:ln>
        </p:spPr>
      </p:sp>
      <p:sp>
        <p:nvSpPr>
          <p:cNvPr id="10" name="Shape 8"/>
          <p:cNvSpPr/>
          <p:nvPr/>
        </p:nvSpPr>
        <p:spPr>
          <a:xfrm>
            <a:off x="7482535" y="0"/>
            <a:ext cx="-1280160" cy="1280160"/>
          </a:xfrm>
          <a:prstGeom prst="line">
            <a:avLst/>
          </a:prstGeom>
          <a:noFill/>
          <a:ln w="9525">
            <a:solidFill>
              <a:srgbClr val="EDEDED"/>
            </a:solidFill>
            <a:prstDash val="solid"/>
          </a:ln>
        </p:spPr>
      </p:sp>
      <p:sp>
        <p:nvSpPr>
          <p:cNvPr id="11" name="Shape 9"/>
          <p:cNvSpPr/>
          <p:nvPr/>
        </p:nvSpPr>
        <p:spPr>
          <a:xfrm>
            <a:off x="7894015" y="0"/>
            <a:ext cx="-1280160" cy="1280160"/>
          </a:xfrm>
          <a:prstGeom prst="line">
            <a:avLst/>
          </a:prstGeom>
          <a:noFill/>
          <a:ln w="9525">
            <a:solidFill>
              <a:srgbClr val="EDEDED"/>
            </a:solidFill>
            <a:prstDash val="solid"/>
          </a:ln>
        </p:spPr>
      </p:sp>
      <p:sp>
        <p:nvSpPr>
          <p:cNvPr id="12" name="Shape 10"/>
          <p:cNvSpPr/>
          <p:nvPr/>
        </p:nvSpPr>
        <p:spPr>
          <a:xfrm>
            <a:off x="8305495" y="0"/>
            <a:ext cx="-1280160" cy="1280160"/>
          </a:xfrm>
          <a:prstGeom prst="line">
            <a:avLst/>
          </a:prstGeom>
          <a:noFill/>
          <a:ln w="9525">
            <a:solidFill>
              <a:srgbClr val="EDEDED"/>
            </a:solidFill>
            <a:prstDash val="solid"/>
          </a:ln>
        </p:spPr>
      </p:sp>
      <p:sp>
        <p:nvSpPr>
          <p:cNvPr id="13" name="Shape 11"/>
          <p:cNvSpPr/>
          <p:nvPr/>
        </p:nvSpPr>
        <p:spPr>
          <a:xfrm>
            <a:off x="8716975" y="0"/>
            <a:ext cx="-1280160" cy="1280160"/>
          </a:xfrm>
          <a:prstGeom prst="line">
            <a:avLst/>
          </a:prstGeom>
          <a:noFill/>
          <a:ln w="9525">
            <a:solidFill>
              <a:srgbClr val="EDEDED"/>
            </a:solidFill>
            <a:prstDash val="solid"/>
          </a:ln>
        </p:spPr>
      </p:sp>
      <p:sp>
        <p:nvSpPr>
          <p:cNvPr id="14" name="Shape 12"/>
          <p:cNvSpPr/>
          <p:nvPr/>
        </p:nvSpPr>
        <p:spPr>
          <a:xfrm>
            <a:off x="9128455" y="0"/>
            <a:ext cx="-1280160" cy="1280160"/>
          </a:xfrm>
          <a:prstGeom prst="line">
            <a:avLst/>
          </a:prstGeom>
          <a:noFill/>
          <a:ln w="9525">
            <a:solidFill>
              <a:srgbClr val="EDEDED"/>
            </a:solidFill>
            <a:prstDash val="solid"/>
          </a:ln>
        </p:spPr>
      </p:sp>
      <p:sp>
        <p:nvSpPr>
          <p:cNvPr id="15" name="Shape 13"/>
          <p:cNvSpPr/>
          <p:nvPr/>
        </p:nvSpPr>
        <p:spPr>
          <a:xfrm>
            <a:off x="9539935" y="0"/>
            <a:ext cx="-1280160" cy="1280160"/>
          </a:xfrm>
          <a:prstGeom prst="line">
            <a:avLst/>
          </a:prstGeom>
          <a:noFill/>
          <a:ln w="9525">
            <a:solidFill>
              <a:srgbClr val="EDEDED"/>
            </a:solidFill>
            <a:prstDash val="solid"/>
          </a:ln>
        </p:spPr>
      </p:sp>
      <p:sp>
        <p:nvSpPr>
          <p:cNvPr id="16" name="Shape 14"/>
          <p:cNvSpPr/>
          <p:nvPr/>
        </p:nvSpPr>
        <p:spPr>
          <a:xfrm>
            <a:off x="9951415" y="0"/>
            <a:ext cx="-1280160" cy="1280160"/>
          </a:xfrm>
          <a:prstGeom prst="line">
            <a:avLst/>
          </a:prstGeom>
          <a:noFill/>
          <a:ln w="9525">
            <a:solidFill>
              <a:srgbClr val="EDEDED"/>
            </a:solidFill>
            <a:prstDash val="solid"/>
          </a:ln>
        </p:spPr>
      </p:sp>
      <p:sp>
        <p:nvSpPr>
          <p:cNvPr id="17" name="Shape 15"/>
          <p:cNvSpPr/>
          <p:nvPr/>
        </p:nvSpPr>
        <p:spPr>
          <a:xfrm>
            <a:off x="10362895" y="0"/>
            <a:ext cx="-1280160" cy="1280160"/>
          </a:xfrm>
          <a:prstGeom prst="line">
            <a:avLst/>
          </a:prstGeom>
          <a:noFill/>
          <a:ln w="9525">
            <a:solidFill>
              <a:srgbClr val="EDEDED"/>
            </a:solidFill>
            <a:prstDash val="solid"/>
          </a:ln>
        </p:spPr>
      </p:sp>
      <p:sp>
        <p:nvSpPr>
          <p:cNvPr id="18" name="Shape 16"/>
          <p:cNvSpPr/>
          <p:nvPr/>
        </p:nvSpPr>
        <p:spPr>
          <a:xfrm>
            <a:off x="10774375" y="0"/>
            <a:ext cx="-1280160" cy="1280160"/>
          </a:xfrm>
          <a:prstGeom prst="line">
            <a:avLst/>
          </a:prstGeom>
          <a:noFill/>
          <a:ln w="9525">
            <a:solidFill>
              <a:srgbClr val="EDEDED"/>
            </a:solidFill>
            <a:prstDash val="solid"/>
          </a:ln>
        </p:spPr>
      </p:sp>
      <p:sp>
        <p:nvSpPr>
          <p:cNvPr id="19" name="Shape 17"/>
          <p:cNvSpPr/>
          <p:nvPr/>
        </p:nvSpPr>
        <p:spPr>
          <a:xfrm>
            <a:off x="11185855" y="0"/>
            <a:ext cx="-1280160" cy="1280160"/>
          </a:xfrm>
          <a:prstGeom prst="line">
            <a:avLst/>
          </a:prstGeom>
          <a:noFill/>
          <a:ln w="9525">
            <a:solidFill>
              <a:srgbClr val="EDEDED"/>
            </a:solidFill>
            <a:prstDash val="solid"/>
          </a:ln>
        </p:spPr>
      </p:sp>
      <p:sp>
        <p:nvSpPr>
          <p:cNvPr id="20" name="Shape 18"/>
          <p:cNvSpPr/>
          <p:nvPr/>
        </p:nvSpPr>
        <p:spPr>
          <a:xfrm>
            <a:off x="11597335" y="0"/>
            <a:ext cx="-1280160" cy="1280160"/>
          </a:xfrm>
          <a:prstGeom prst="line">
            <a:avLst/>
          </a:prstGeom>
          <a:noFill/>
          <a:ln w="9525">
            <a:solidFill>
              <a:srgbClr val="EDEDED"/>
            </a:solidFill>
            <a:prstDash val="solid"/>
          </a:ln>
        </p:spPr>
      </p:sp>
      <p:sp>
        <p:nvSpPr>
          <p:cNvPr id="21" name="Shape 19"/>
          <p:cNvSpPr/>
          <p:nvPr/>
        </p:nvSpPr>
        <p:spPr>
          <a:xfrm>
            <a:off x="320040" y="1481328"/>
            <a:ext cx="11551615" cy="0"/>
          </a:xfrm>
          <a:prstGeom prst="line">
            <a:avLst/>
          </a:prstGeom>
          <a:noFill/>
          <a:ln w="15875">
            <a:solidFill>
              <a:srgbClr val="111111"/>
            </a:solidFill>
            <a:prstDash val="solid"/>
          </a:ln>
        </p:spPr>
      </p:sp>
      <p:sp>
        <p:nvSpPr>
          <p:cNvPr id="22" name="Text 20"/>
          <p:cNvSpPr/>
          <p:nvPr/>
        </p:nvSpPr>
        <p:spPr>
          <a:xfrm>
            <a:off x="5486400" y="292608"/>
            <a:ext cx="6309360" cy="685800"/>
          </a:xfrm>
          <a:prstGeom prst="rect">
            <a:avLst/>
          </a:prstGeom>
          <a:noFill/>
          <a:ln/>
        </p:spPr>
        <p:txBody>
          <a:bodyPr wrap="square" lIns="0" tIns="0" rIns="0" bIns="0" rtlCol="0" anchor="ctr"/>
          <a:lstStyle/>
          <a:p>
            <a:pPr algn="r" indent="0" marL="0">
              <a:buNone/>
            </a:pPr>
            <a:r>
              <a:rPr lang="en-US" sz="2600" b="1" dirty="0">
                <a:solidFill>
                  <a:srgbClr val="111111"/>
                </a:solidFill>
                <a:latin typeface="Calibri" pitchFamily="34" charset="0"/>
                <a:ea typeface="Calibri" pitchFamily="34" charset="-122"/>
                <a:cs typeface="Calibri" pitchFamily="34" charset="-120"/>
              </a:rPr>
              <a:t>MARS</a:t>
            </a:r>
            <a:endParaRPr lang="en-US" sz="2600" dirty="0"/>
          </a:p>
        </p:txBody>
      </p:sp>
      <p:sp>
        <p:nvSpPr>
          <p:cNvPr id="23" name="Text 21"/>
          <p:cNvSpPr/>
          <p:nvPr/>
        </p:nvSpPr>
        <p:spPr>
          <a:xfrm>
            <a:off x="5486400" y="960120"/>
            <a:ext cx="6309360" cy="365760"/>
          </a:xfrm>
          <a:prstGeom prst="rect">
            <a:avLst/>
          </a:prstGeom>
          <a:noFill/>
          <a:ln/>
        </p:spPr>
        <p:txBody>
          <a:bodyPr wrap="square" lIns="0" tIns="0" rIns="0" bIns="0" rtlCol="0" anchor="ctr"/>
          <a:lstStyle/>
          <a:p>
            <a:pPr algn="r" indent="0" marL="0">
              <a:buNone/>
            </a:pPr>
            <a:r>
              <a:rPr lang="en-US" sz="1200" i="1" dirty="0">
                <a:solidFill>
                  <a:srgbClr val="6B6B6B"/>
                </a:solidFill>
                <a:latin typeface="Calibri" pitchFamily="34" charset="0"/>
                <a:ea typeface="Calibri" pitchFamily="34" charset="-122"/>
                <a:cs typeface="Calibri" pitchFamily="34" charset="-120"/>
              </a:rPr>
              <a:t>Mediation, Assurance and Revenue Services</a:t>
            </a:r>
            <a:endParaRPr lang="en-US" sz="1200" dirty="0"/>
          </a:p>
        </p:txBody>
      </p:sp>
      <p:sp>
        <p:nvSpPr>
          <p:cNvPr id="24" name="Shape 22"/>
          <p:cNvSpPr/>
          <p:nvPr/>
        </p:nvSpPr>
        <p:spPr>
          <a:xfrm>
            <a:off x="320040" y="6355080"/>
            <a:ext cx="11551615" cy="0"/>
          </a:xfrm>
          <a:prstGeom prst="line">
            <a:avLst/>
          </a:prstGeom>
          <a:noFill/>
          <a:ln w="6350">
            <a:solidFill>
              <a:srgbClr val="BFBFBF"/>
            </a:solidFill>
            <a:prstDash val="solid"/>
          </a:ln>
        </p:spPr>
      </p:sp>
      <p:sp>
        <p:nvSpPr>
          <p:cNvPr id="25" name="Shape 23"/>
          <p:cNvSpPr/>
          <p:nvPr/>
        </p:nvSpPr>
        <p:spPr>
          <a:xfrm>
            <a:off x="320040" y="6473952"/>
            <a:ext cx="502920" cy="237744"/>
          </a:xfrm>
          <a:prstGeom prst="rect">
            <a:avLst/>
          </a:prstGeom>
          <a:solidFill>
            <a:srgbClr val="111111"/>
          </a:solidFill>
          <a:ln w="12700">
            <a:solidFill>
              <a:srgbClr val="111111"/>
            </a:solidFill>
            <a:prstDash val="solid"/>
          </a:ln>
        </p:spPr>
      </p:sp>
      <p:sp>
        <p:nvSpPr>
          <p:cNvPr id="26" name="Text 24"/>
          <p:cNvSpPr/>
          <p:nvPr/>
        </p:nvSpPr>
        <p:spPr>
          <a:xfrm>
            <a:off x="320040" y="6473952"/>
            <a:ext cx="502920" cy="237744"/>
          </a:xfrm>
          <a:prstGeom prst="rect">
            <a:avLst/>
          </a:prstGeom>
          <a:noFill/>
          <a:ln/>
        </p:spPr>
        <p:txBody>
          <a:bodyPr wrap="square" lIns="0" tIns="0" rIns="0" bIns="0" rtlCol="0" anchor="ctr"/>
          <a:lstStyle/>
          <a:p>
            <a:pPr algn="ctr" indent="0" marL="0">
              <a:buNone/>
            </a:pPr>
            <a:r>
              <a:rPr lang="en-US" sz="900" b="1" spc="200" kern="0" dirty="0">
                <a:solidFill>
                  <a:srgbClr val="FFFFFF"/>
                </a:solidFill>
                <a:latin typeface="Calibri" pitchFamily="34" charset="0"/>
                <a:ea typeface="Calibri" pitchFamily="34" charset="-122"/>
                <a:cs typeface="Calibri" pitchFamily="34" charset="-120"/>
              </a:rPr>
              <a:t>DSG</a:t>
            </a:r>
            <a:endParaRPr lang="en-US" sz="900" dirty="0"/>
          </a:p>
        </p:txBody>
      </p:sp>
      <p:sp>
        <p:nvSpPr>
          <p:cNvPr id="27" name="Text 25"/>
          <p:cNvSpPr/>
          <p:nvPr/>
        </p:nvSpPr>
        <p:spPr>
          <a:xfrm>
            <a:off x="868680" y="6473952"/>
            <a:ext cx="2194560" cy="237744"/>
          </a:xfrm>
          <a:prstGeom prst="rect">
            <a:avLst/>
          </a:prstGeom>
          <a:noFill/>
          <a:ln/>
        </p:spPr>
        <p:txBody>
          <a:bodyPr wrap="square" lIns="0" tIns="0" rIns="0" bIns="0" rtlCol="0" anchor="ctr"/>
          <a:lstStyle/>
          <a:p>
            <a:pPr indent="0" marL="0">
              <a:buNone/>
            </a:pPr>
            <a:r>
              <a:rPr lang="en-US" sz="650" spc="200" kern="0" dirty="0">
                <a:solidFill>
                  <a:srgbClr val="6B6B6B"/>
                </a:solidFill>
                <a:latin typeface="Calibri" pitchFamily="34" charset="0"/>
                <a:ea typeface="Calibri" pitchFamily="34" charset="-122"/>
                <a:cs typeface="Calibri" pitchFamily="34" charset="-120"/>
              </a:rPr>
              <a:t>DIGITAL SOLUTIONS GROUP</a:t>
            </a:r>
            <a:endParaRPr lang="en-US" sz="650" dirty="0"/>
          </a:p>
        </p:txBody>
      </p:sp>
      <p:sp>
        <p:nvSpPr>
          <p:cNvPr id="28" name="Text 26"/>
          <p:cNvSpPr/>
          <p:nvPr/>
        </p:nvSpPr>
        <p:spPr>
          <a:xfrm>
            <a:off x="4754880" y="6473952"/>
            <a:ext cx="2743200" cy="237744"/>
          </a:xfrm>
          <a:prstGeom prst="rect">
            <a:avLst/>
          </a:prstGeom>
          <a:noFill/>
          <a:ln/>
        </p:spPr>
        <p:txBody>
          <a:bodyPr wrap="square" lIns="0" tIns="0" rIns="0" bIns="0" rtlCol="0" anchor="ctr"/>
          <a:lstStyle/>
          <a:p>
            <a:pPr algn="ctr" indent="0" marL="0">
              <a:buNone/>
            </a:pPr>
            <a:r>
              <a:rPr lang="en-US" sz="1100" b="1" dirty="0">
                <a:solidFill>
                  <a:srgbClr val="111111"/>
                </a:solidFill>
                <a:latin typeface="Calibri" pitchFamily="34" charset="0"/>
                <a:ea typeface="Calibri" pitchFamily="34" charset="-122"/>
                <a:cs typeface="Calibri" pitchFamily="34" charset="-120"/>
              </a:rPr>
              <a:t>digital</a:t>
            </a:r>
            <a:pPr algn="ctr" indent="0" marL="0">
              <a:buNone/>
            </a:pPr>
            <a:r>
              <a:rPr lang="en-US" sz="1100" b="1" dirty="0">
                <a:solidFill>
                  <a:srgbClr val="6B6B6B"/>
                </a:solidFill>
                <a:latin typeface="Calibri" pitchFamily="34" charset="0"/>
                <a:ea typeface="Calibri" pitchFamily="34" charset="-122"/>
                <a:cs typeface="Calibri" pitchFamily="34" charset="-120"/>
              </a:rPr>
              <a:t>mobile</a:t>
            </a:r>
            <a:endParaRPr lang="en-US" sz="1100" dirty="0"/>
          </a:p>
        </p:txBody>
      </p:sp>
      <p:sp>
        <p:nvSpPr>
          <p:cNvPr id="29" name="Shape 27"/>
          <p:cNvSpPr/>
          <p:nvPr/>
        </p:nvSpPr>
        <p:spPr>
          <a:xfrm>
            <a:off x="8595360" y="6519672"/>
            <a:ext cx="146304" cy="146304"/>
          </a:xfrm>
          <a:prstGeom prst="ellipse">
            <a:avLst/>
          </a:prstGeom>
          <a:solidFill>
            <a:srgbClr val="111111"/>
          </a:solidFill>
          <a:ln w="12700">
            <a:solidFill>
              <a:srgbClr val="111111"/>
            </a:solidFill>
            <a:prstDash val="solid"/>
          </a:ln>
        </p:spPr>
      </p:sp>
      <p:sp>
        <p:nvSpPr>
          <p:cNvPr id="30" name="Text 28"/>
          <p:cNvSpPr/>
          <p:nvPr/>
        </p:nvSpPr>
        <p:spPr>
          <a:xfrm>
            <a:off x="8778240" y="6473952"/>
            <a:ext cx="2194560" cy="237744"/>
          </a:xfrm>
          <a:prstGeom prst="rect">
            <a:avLst/>
          </a:prstGeom>
          <a:noFill/>
          <a:ln/>
        </p:spPr>
        <p:txBody>
          <a:bodyPr wrap="square" lIns="0" tIns="0" rIns="0" bIns="0" rtlCol="0" anchor="ctr"/>
          <a:lstStyle/>
          <a:p>
            <a:pPr indent="0" marL="0">
              <a:buNone/>
            </a:pPr>
            <a:r>
              <a:rPr lang="en-US" sz="900" i="1" dirty="0">
                <a:solidFill>
                  <a:srgbClr val="111111"/>
                </a:solidFill>
                <a:latin typeface="Calibri" pitchFamily="34" charset="0"/>
                <a:ea typeface="Calibri" pitchFamily="34" charset="-122"/>
                <a:cs typeface="Calibri" pitchFamily="34" charset="-120"/>
              </a:rPr>
              <a:t>#DoingSomethingGreat</a:t>
            </a:r>
            <a:endParaRPr lang="en-US" sz="900" dirty="0"/>
          </a:p>
        </p:txBody>
      </p:sp>
      <p:sp>
        <p:nvSpPr>
          <p:cNvPr id="31" name="Text 29"/>
          <p:cNvSpPr/>
          <p:nvPr/>
        </p:nvSpPr>
        <p:spPr>
          <a:xfrm>
            <a:off x="11002975" y="6473952"/>
            <a:ext cx="914400" cy="237744"/>
          </a:xfrm>
          <a:prstGeom prst="rect">
            <a:avLst/>
          </a:prstGeom>
          <a:noFill/>
          <a:ln/>
        </p:spPr>
        <p:txBody>
          <a:bodyPr wrap="square" lIns="0" tIns="0" rIns="0" bIns="0" rtlCol="0" anchor="ctr"/>
          <a:lstStyle/>
          <a:p>
            <a:pPr algn="r" indent="0" marL="0">
              <a:buNone/>
            </a:pPr>
            <a:r>
              <a:rPr lang="en-US" sz="800" dirty="0">
                <a:solidFill>
                  <a:srgbClr val="6B6B6B"/>
                </a:solidFill>
                <a:latin typeface="Calibri" pitchFamily="34" charset="0"/>
                <a:ea typeface="Calibri" pitchFamily="34" charset="-122"/>
                <a:cs typeface="Calibri" pitchFamily="34" charset="-120"/>
              </a:rPr>
              <a:t>17 / 20</a:t>
            </a:r>
            <a:endParaRPr lang="en-US" sz="800" dirty="0"/>
          </a:p>
        </p:txBody>
      </p:sp>
      <p:sp>
        <p:nvSpPr>
          <p:cNvPr id="32" name="Text 30"/>
          <p:cNvSpPr/>
          <p:nvPr/>
        </p:nvSpPr>
        <p:spPr>
          <a:xfrm>
            <a:off x="502920" y="1874520"/>
            <a:ext cx="11247120" cy="411480"/>
          </a:xfrm>
          <a:prstGeom prst="rect">
            <a:avLst/>
          </a:prstGeom>
          <a:noFill/>
          <a:ln/>
        </p:spPr>
        <p:txBody>
          <a:bodyPr wrap="square" lIns="0" tIns="0" rIns="0" bIns="0" rtlCol="0" anchor="ctr"/>
          <a:lstStyle/>
          <a:p>
            <a:pPr indent="0" marL="0">
              <a:buNone/>
            </a:pPr>
            <a:r>
              <a:rPr lang="en-US" sz="1200" i="1" dirty="0">
                <a:solidFill>
                  <a:srgbClr val="6B6B6B"/>
                </a:solidFill>
                <a:latin typeface="Calibri" pitchFamily="34" charset="0"/>
                <a:ea typeface="Calibri" pitchFamily="34" charset="-122"/>
                <a:cs typeface="Calibri" pitchFamily="34" charset="-120"/>
              </a:rPr>
              <a:t>A comprehensive framework ensuring reliable data, system consistency, revenue integrity and operational automation.</a:t>
            </a:r>
            <a:endParaRPr lang="en-US" sz="1200" dirty="0"/>
          </a:p>
        </p:txBody>
      </p:sp>
      <p:sp>
        <p:nvSpPr>
          <p:cNvPr id="33" name="Shape 31"/>
          <p:cNvSpPr/>
          <p:nvPr/>
        </p:nvSpPr>
        <p:spPr>
          <a:xfrm>
            <a:off x="502920" y="2514600"/>
            <a:ext cx="2164019" cy="3749040"/>
          </a:xfrm>
          <a:prstGeom prst="rect">
            <a:avLst/>
          </a:prstGeom>
          <a:solidFill>
            <a:srgbClr val="FFFFFF"/>
          </a:solidFill>
          <a:ln w="9525">
            <a:solidFill>
              <a:srgbClr val="111111"/>
            </a:solidFill>
            <a:prstDash val="solid"/>
          </a:ln>
        </p:spPr>
      </p:sp>
      <p:sp>
        <p:nvSpPr>
          <p:cNvPr id="34" name="Shape 32"/>
          <p:cNvSpPr/>
          <p:nvPr/>
        </p:nvSpPr>
        <p:spPr>
          <a:xfrm>
            <a:off x="502920" y="2514600"/>
            <a:ext cx="2164019" cy="1097280"/>
          </a:xfrm>
          <a:prstGeom prst="rect">
            <a:avLst/>
          </a:prstGeom>
          <a:solidFill>
            <a:srgbClr val="111111"/>
          </a:solidFill>
          <a:ln w="12700">
            <a:solidFill>
              <a:srgbClr val="111111"/>
            </a:solidFill>
            <a:prstDash val="solid"/>
          </a:ln>
        </p:spPr>
      </p:sp>
      <p:sp>
        <p:nvSpPr>
          <p:cNvPr id="35" name="Text 33"/>
          <p:cNvSpPr/>
          <p:nvPr/>
        </p:nvSpPr>
        <p:spPr>
          <a:xfrm>
            <a:off x="502920" y="2606040"/>
            <a:ext cx="2164019" cy="411480"/>
          </a:xfrm>
          <a:prstGeom prst="rect">
            <a:avLst/>
          </a:prstGeom>
          <a:noFill/>
          <a:ln/>
        </p:spPr>
        <p:txBody>
          <a:bodyPr wrap="square" lIns="0" tIns="0" rIns="0" bIns="0" rtlCol="0" anchor="ctr"/>
          <a:lstStyle/>
          <a:p>
            <a:pPr algn="ctr" indent="0" marL="0">
              <a:buNone/>
            </a:pPr>
            <a:r>
              <a:rPr lang="en-US" sz="1000" b="1" spc="200" kern="0" dirty="0">
                <a:solidFill>
                  <a:srgbClr val="D9D9D9"/>
                </a:solidFill>
                <a:latin typeface="Calibri" pitchFamily="34" charset="0"/>
                <a:ea typeface="Calibri" pitchFamily="34" charset="-122"/>
                <a:cs typeface="Calibri" pitchFamily="34" charset="-120"/>
              </a:rPr>
              <a:t>01</a:t>
            </a:r>
            <a:endParaRPr lang="en-US" sz="1000" dirty="0"/>
          </a:p>
        </p:txBody>
      </p:sp>
      <p:sp>
        <p:nvSpPr>
          <p:cNvPr id="36" name="Text 34"/>
          <p:cNvSpPr/>
          <p:nvPr/>
        </p:nvSpPr>
        <p:spPr>
          <a:xfrm>
            <a:off x="594360" y="2926080"/>
            <a:ext cx="1981139" cy="685800"/>
          </a:xfrm>
          <a:prstGeom prst="rect">
            <a:avLst/>
          </a:prstGeom>
          <a:noFill/>
          <a:ln/>
        </p:spPr>
        <p:txBody>
          <a:bodyPr wrap="square" lIns="0" tIns="0" rIns="0" bIns="0" rtlCol="0" anchor="ctr"/>
          <a:lstStyle/>
          <a:p>
            <a:pPr algn="ctr" indent="0" marL="0">
              <a:buNone/>
            </a:pPr>
            <a:r>
              <a:rPr lang="en-US" sz="2200" b="1" dirty="0">
                <a:solidFill>
                  <a:srgbClr val="FFFFFF"/>
                </a:solidFill>
                <a:latin typeface="Georgia" pitchFamily="34" charset="0"/>
                <a:ea typeface="Georgia" pitchFamily="34" charset="-122"/>
                <a:cs typeface="Georgia" pitchFamily="34" charset="-120"/>
              </a:rPr>
              <a:t>Mediation</a:t>
            </a:r>
            <a:endParaRPr lang="en-US" sz="2200" dirty="0"/>
          </a:p>
        </p:txBody>
      </p:sp>
      <p:sp>
        <p:nvSpPr>
          <p:cNvPr id="37" name="Text 35"/>
          <p:cNvSpPr/>
          <p:nvPr/>
        </p:nvSpPr>
        <p:spPr>
          <a:xfrm>
            <a:off x="685800" y="3794760"/>
            <a:ext cx="1798259" cy="2331720"/>
          </a:xfrm>
          <a:prstGeom prst="rect">
            <a:avLst/>
          </a:prstGeom>
          <a:noFill/>
          <a:ln/>
        </p:spPr>
        <p:txBody>
          <a:bodyPr wrap="square" lIns="0" tIns="0" rIns="0" bIns="0" rtlCol="0" anchor="ctr"/>
          <a:lstStyle/>
          <a:p>
            <a:pPr algn="ctr" indent="0" marL="0">
              <a:buNone/>
            </a:pPr>
            <a:r>
              <a:rPr lang="en-US" sz="1100" dirty="0">
                <a:solidFill>
                  <a:srgbClr val="444444"/>
                </a:solidFill>
                <a:latin typeface="Calibri" pitchFamily="34" charset="0"/>
                <a:ea typeface="Calibri" pitchFamily="34" charset="-122"/>
                <a:cs typeface="Calibri" pitchFamily="34" charset="-120"/>
              </a:rPr>
              <a:t>Raw data ETL, enrichment, real-time ingestion, API/SFTP/DB/Kafka connectors.</a:t>
            </a:r>
            <a:endParaRPr lang="en-US" sz="1100" dirty="0"/>
          </a:p>
        </p:txBody>
      </p:sp>
      <p:sp>
        <p:nvSpPr>
          <p:cNvPr id="38" name="Shape 36"/>
          <p:cNvSpPr/>
          <p:nvPr/>
        </p:nvSpPr>
        <p:spPr>
          <a:xfrm>
            <a:off x="2758379" y="2514600"/>
            <a:ext cx="2164019" cy="3749040"/>
          </a:xfrm>
          <a:prstGeom prst="rect">
            <a:avLst/>
          </a:prstGeom>
          <a:solidFill>
            <a:srgbClr val="FFFFFF"/>
          </a:solidFill>
          <a:ln w="9525">
            <a:solidFill>
              <a:srgbClr val="111111"/>
            </a:solidFill>
            <a:prstDash val="solid"/>
          </a:ln>
        </p:spPr>
      </p:sp>
      <p:sp>
        <p:nvSpPr>
          <p:cNvPr id="39" name="Shape 37"/>
          <p:cNvSpPr/>
          <p:nvPr/>
        </p:nvSpPr>
        <p:spPr>
          <a:xfrm>
            <a:off x="2758379" y="2514600"/>
            <a:ext cx="2164019" cy="1097280"/>
          </a:xfrm>
          <a:prstGeom prst="rect">
            <a:avLst/>
          </a:prstGeom>
          <a:solidFill>
            <a:srgbClr val="111111"/>
          </a:solidFill>
          <a:ln w="12700">
            <a:solidFill>
              <a:srgbClr val="111111"/>
            </a:solidFill>
            <a:prstDash val="solid"/>
          </a:ln>
        </p:spPr>
      </p:sp>
      <p:sp>
        <p:nvSpPr>
          <p:cNvPr id="40" name="Text 38"/>
          <p:cNvSpPr/>
          <p:nvPr/>
        </p:nvSpPr>
        <p:spPr>
          <a:xfrm>
            <a:off x="2758379" y="2606040"/>
            <a:ext cx="2164019" cy="411480"/>
          </a:xfrm>
          <a:prstGeom prst="rect">
            <a:avLst/>
          </a:prstGeom>
          <a:noFill/>
          <a:ln/>
        </p:spPr>
        <p:txBody>
          <a:bodyPr wrap="square" lIns="0" tIns="0" rIns="0" bIns="0" rtlCol="0" anchor="ctr"/>
          <a:lstStyle/>
          <a:p>
            <a:pPr algn="ctr" indent="0" marL="0">
              <a:buNone/>
            </a:pPr>
            <a:r>
              <a:rPr lang="en-US" sz="1000" b="1" spc="200" kern="0" dirty="0">
                <a:solidFill>
                  <a:srgbClr val="D9D9D9"/>
                </a:solidFill>
                <a:latin typeface="Calibri" pitchFamily="34" charset="0"/>
                <a:ea typeface="Calibri" pitchFamily="34" charset="-122"/>
                <a:cs typeface="Calibri" pitchFamily="34" charset="-120"/>
              </a:rPr>
              <a:t>02</a:t>
            </a:r>
            <a:endParaRPr lang="en-US" sz="1000" dirty="0"/>
          </a:p>
        </p:txBody>
      </p:sp>
      <p:sp>
        <p:nvSpPr>
          <p:cNvPr id="41" name="Text 39"/>
          <p:cNvSpPr/>
          <p:nvPr/>
        </p:nvSpPr>
        <p:spPr>
          <a:xfrm>
            <a:off x="2849819" y="2926080"/>
            <a:ext cx="1981139" cy="685800"/>
          </a:xfrm>
          <a:prstGeom prst="rect">
            <a:avLst/>
          </a:prstGeom>
          <a:noFill/>
          <a:ln/>
        </p:spPr>
        <p:txBody>
          <a:bodyPr wrap="square" lIns="0" tIns="0" rIns="0" bIns="0" rtlCol="0" anchor="ctr"/>
          <a:lstStyle/>
          <a:p>
            <a:pPr algn="ctr" indent="0" marL="0">
              <a:buNone/>
            </a:pPr>
            <a:r>
              <a:rPr lang="en-US" sz="2200" b="1" dirty="0">
                <a:solidFill>
                  <a:srgbClr val="FFFFFF"/>
                </a:solidFill>
                <a:latin typeface="Georgia" pitchFamily="34" charset="0"/>
                <a:ea typeface="Georgia" pitchFamily="34" charset="-122"/>
                <a:cs typeface="Georgia" pitchFamily="34" charset="-120"/>
              </a:rPr>
              <a:t>Assurance</a:t>
            </a:r>
            <a:endParaRPr lang="en-US" sz="2200" dirty="0"/>
          </a:p>
        </p:txBody>
      </p:sp>
      <p:sp>
        <p:nvSpPr>
          <p:cNvPr id="42" name="Text 40"/>
          <p:cNvSpPr/>
          <p:nvPr/>
        </p:nvSpPr>
        <p:spPr>
          <a:xfrm>
            <a:off x="2941259" y="3794760"/>
            <a:ext cx="1798259" cy="2331720"/>
          </a:xfrm>
          <a:prstGeom prst="rect">
            <a:avLst/>
          </a:prstGeom>
          <a:noFill/>
          <a:ln/>
        </p:spPr>
        <p:txBody>
          <a:bodyPr wrap="square" lIns="0" tIns="0" rIns="0" bIns="0" rtlCol="0" anchor="ctr"/>
          <a:lstStyle/>
          <a:p>
            <a:pPr algn="ctr" indent="0" marL="0">
              <a:buNone/>
            </a:pPr>
            <a:r>
              <a:rPr lang="en-US" sz="1100" dirty="0">
                <a:solidFill>
                  <a:srgbClr val="444444"/>
                </a:solidFill>
                <a:latin typeface="Calibri" pitchFamily="34" charset="0"/>
                <a:ea typeface="Calibri" pitchFamily="34" charset="-122"/>
                <a:cs typeface="Calibri" pitchFamily="34" charset="-120"/>
              </a:rPr>
              <a:t>Audit, service assurance, wholesale bill validation, SP-Out, monitoring.</a:t>
            </a:r>
            <a:endParaRPr lang="en-US" sz="1100" dirty="0"/>
          </a:p>
        </p:txBody>
      </p:sp>
      <p:sp>
        <p:nvSpPr>
          <p:cNvPr id="43" name="Shape 41"/>
          <p:cNvSpPr/>
          <p:nvPr/>
        </p:nvSpPr>
        <p:spPr>
          <a:xfrm>
            <a:off x="5013838" y="2514600"/>
            <a:ext cx="2164019" cy="3749040"/>
          </a:xfrm>
          <a:prstGeom prst="rect">
            <a:avLst/>
          </a:prstGeom>
          <a:solidFill>
            <a:srgbClr val="FFFFFF"/>
          </a:solidFill>
          <a:ln w="9525">
            <a:solidFill>
              <a:srgbClr val="111111"/>
            </a:solidFill>
            <a:prstDash val="solid"/>
          </a:ln>
        </p:spPr>
      </p:sp>
      <p:sp>
        <p:nvSpPr>
          <p:cNvPr id="44" name="Shape 42"/>
          <p:cNvSpPr/>
          <p:nvPr/>
        </p:nvSpPr>
        <p:spPr>
          <a:xfrm>
            <a:off x="5013838" y="2514600"/>
            <a:ext cx="2164019" cy="1097280"/>
          </a:xfrm>
          <a:prstGeom prst="rect">
            <a:avLst/>
          </a:prstGeom>
          <a:solidFill>
            <a:srgbClr val="111111"/>
          </a:solidFill>
          <a:ln w="12700">
            <a:solidFill>
              <a:srgbClr val="111111"/>
            </a:solidFill>
            <a:prstDash val="solid"/>
          </a:ln>
        </p:spPr>
      </p:sp>
      <p:sp>
        <p:nvSpPr>
          <p:cNvPr id="45" name="Text 43"/>
          <p:cNvSpPr/>
          <p:nvPr/>
        </p:nvSpPr>
        <p:spPr>
          <a:xfrm>
            <a:off x="5013838" y="2606040"/>
            <a:ext cx="2164019" cy="411480"/>
          </a:xfrm>
          <a:prstGeom prst="rect">
            <a:avLst/>
          </a:prstGeom>
          <a:noFill/>
          <a:ln/>
        </p:spPr>
        <p:txBody>
          <a:bodyPr wrap="square" lIns="0" tIns="0" rIns="0" bIns="0" rtlCol="0" anchor="ctr"/>
          <a:lstStyle/>
          <a:p>
            <a:pPr algn="ctr" indent="0" marL="0">
              <a:buNone/>
            </a:pPr>
            <a:r>
              <a:rPr lang="en-US" sz="1000" b="1" spc="200" kern="0" dirty="0">
                <a:solidFill>
                  <a:srgbClr val="D9D9D9"/>
                </a:solidFill>
                <a:latin typeface="Calibri" pitchFamily="34" charset="0"/>
                <a:ea typeface="Calibri" pitchFamily="34" charset="-122"/>
                <a:cs typeface="Calibri" pitchFamily="34" charset="-120"/>
              </a:rPr>
              <a:t>03</a:t>
            </a:r>
            <a:endParaRPr lang="en-US" sz="1000" dirty="0"/>
          </a:p>
        </p:txBody>
      </p:sp>
      <p:sp>
        <p:nvSpPr>
          <p:cNvPr id="46" name="Text 44"/>
          <p:cNvSpPr/>
          <p:nvPr/>
        </p:nvSpPr>
        <p:spPr>
          <a:xfrm>
            <a:off x="5105278" y="2926080"/>
            <a:ext cx="1981139" cy="685800"/>
          </a:xfrm>
          <a:prstGeom prst="rect">
            <a:avLst/>
          </a:prstGeom>
          <a:noFill/>
          <a:ln/>
        </p:spPr>
        <p:txBody>
          <a:bodyPr wrap="square" lIns="0" tIns="0" rIns="0" bIns="0" rtlCol="0" anchor="ctr"/>
          <a:lstStyle/>
          <a:p>
            <a:pPr algn="ctr" indent="0" marL="0">
              <a:buNone/>
            </a:pPr>
            <a:r>
              <a:rPr lang="en-US" sz="2200" b="1" dirty="0">
                <a:solidFill>
                  <a:srgbClr val="FFFFFF"/>
                </a:solidFill>
                <a:latin typeface="Georgia" pitchFamily="34" charset="0"/>
                <a:ea typeface="Georgia" pitchFamily="34" charset="-122"/>
                <a:cs typeface="Georgia" pitchFamily="34" charset="-120"/>
              </a:rPr>
              <a:t>Revenue</a:t>
            </a:r>
            <a:endParaRPr lang="en-US" sz="2200" dirty="0"/>
          </a:p>
        </p:txBody>
      </p:sp>
      <p:sp>
        <p:nvSpPr>
          <p:cNvPr id="47" name="Text 45"/>
          <p:cNvSpPr/>
          <p:nvPr/>
        </p:nvSpPr>
        <p:spPr>
          <a:xfrm>
            <a:off x="5196718" y="3794760"/>
            <a:ext cx="1798259" cy="2331720"/>
          </a:xfrm>
          <a:prstGeom prst="rect">
            <a:avLst/>
          </a:prstGeom>
          <a:noFill/>
          <a:ln/>
        </p:spPr>
        <p:txBody>
          <a:bodyPr wrap="square" lIns="0" tIns="0" rIns="0" bIns="0" rtlCol="0" anchor="ctr"/>
          <a:lstStyle/>
          <a:p>
            <a:pPr algn="ctr" indent="0" marL="0">
              <a:buNone/>
            </a:pPr>
            <a:r>
              <a:rPr lang="en-US" sz="1100" dirty="0">
                <a:solidFill>
                  <a:srgbClr val="444444"/>
                </a:solidFill>
                <a:latin typeface="Calibri" pitchFamily="34" charset="0"/>
                <a:ea typeface="Calibri" pitchFamily="34" charset="-122"/>
                <a:cs typeface="Calibri" pitchFamily="34" charset="-120"/>
              </a:rPr>
              <a:t>Detects leakage, monitors flows, tracks anomalies, alerting, reporting.</a:t>
            </a:r>
            <a:endParaRPr lang="en-US" sz="1100" dirty="0"/>
          </a:p>
        </p:txBody>
      </p:sp>
      <p:sp>
        <p:nvSpPr>
          <p:cNvPr id="48" name="Shape 46"/>
          <p:cNvSpPr/>
          <p:nvPr/>
        </p:nvSpPr>
        <p:spPr>
          <a:xfrm>
            <a:off x="7269297" y="2514600"/>
            <a:ext cx="2164019" cy="3749040"/>
          </a:xfrm>
          <a:prstGeom prst="rect">
            <a:avLst/>
          </a:prstGeom>
          <a:solidFill>
            <a:srgbClr val="FFFFFF"/>
          </a:solidFill>
          <a:ln w="9525">
            <a:solidFill>
              <a:srgbClr val="111111"/>
            </a:solidFill>
            <a:prstDash val="solid"/>
          </a:ln>
        </p:spPr>
      </p:sp>
      <p:sp>
        <p:nvSpPr>
          <p:cNvPr id="49" name="Shape 47"/>
          <p:cNvSpPr/>
          <p:nvPr/>
        </p:nvSpPr>
        <p:spPr>
          <a:xfrm>
            <a:off x="7269297" y="2514600"/>
            <a:ext cx="2164019" cy="1097280"/>
          </a:xfrm>
          <a:prstGeom prst="rect">
            <a:avLst/>
          </a:prstGeom>
          <a:solidFill>
            <a:srgbClr val="111111"/>
          </a:solidFill>
          <a:ln w="12700">
            <a:solidFill>
              <a:srgbClr val="111111"/>
            </a:solidFill>
            <a:prstDash val="solid"/>
          </a:ln>
        </p:spPr>
      </p:sp>
      <p:sp>
        <p:nvSpPr>
          <p:cNvPr id="50" name="Text 48"/>
          <p:cNvSpPr/>
          <p:nvPr/>
        </p:nvSpPr>
        <p:spPr>
          <a:xfrm>
            <a:off x="7269297" y="2606040"/>
            <a:ext cx="2164019" cy="411480"/>
          </a:xfrm>
          <a:prstGeom prst="rect">
            <a:avLst/>
          </a:prstGeom>
          <a:noFill/>
          <a:ln/>
        </p:spPr>
        <p:txBody>
          <a:bodyPr wrap="square" lIns="0" tIns="0" rIns="0" bIns="0" rtlCol="0" anchor="ctr"/>
          <a:lstStyle/>
          <a:p>
            <a:pPr algn="ctr" indent="0" marL="0">
              <a:buNone/>
            </a:pPr>
            <a:r>
              <a:rPr lang="en-US" sz="1000" b="1" spc="200" kern="0" dirty="0">
                <a:solidFill>
                  <a:srgbClr val="D9D9D9"/>
                </a:solidFill>
                <a:latin typeface="Calibri" pitchFamily="34" charset="0"/>
                <a:ea typeface="Calibri" pitchFamily="34" charset="-122"/>
                <a:cs typeface="Calibri" pitchFamily="34" charset="-120"/>
              </a:rPr>
              <a:t>04</a:t>
            </a:r>
            <a:endParaRPr lang="en-US" sz="1000" dirty="0"/>
          </a:p>
        </p:txBody>
      </p:sp>
      <p:sp>
        <p:nvSpPr>
          <p:cNvPr id="51" name="Text 49"/>
          <p:cNvSpPr/>
          <p:nvPr/>
        </p:nvSpPr>
        <p:spPr>
          <a:xfrm>
            <a:off x="7360737" y="2926080"/>
            <a:ext cx="1981139" cy="685800"/>
          </a:xfrm>
          <a:prstGeom prst="rect">
            <a:avLst/>
          </a:prstGeom>
          <a:noFill/>
          <a:ln/>
        </p:spPr>
        <p:txBody>
          <a:bodyPr wrap="square" lIns="0" tIns="0" rIns="0" bIns="0" rtlCol="0" anchor="ctr"/>
          <a:lstStyle/>
          <a:p>
            <a:pPr algn="ctr" indent="0" marL="0">
              <a:buNone/>
            </a:pPr>
            <a:r>
              <a:rPr lang="en-US" sz="2200" b="1" dirty="0">
                <a:solidFill>
                  <a:srgbClr val="FFFFFF"/>
                </a:solidFill>
                <a:latin typeface="Georgia" pitchFamily="34" charset="0"/>
                <a:ea typeface="Georgia" pitchFamily="34" charset="-122"/>
                <a:cs typeface="Georgia" pitchFamily="34" charset="-120"/>
              </a:rPr>
              <a:t>Services</a:t>
            </a:r>
            <a:endParaRPr lang="en-US" sz="2200" dirty="0"/>
          </a:p>
        </p:txBody>
      </p:sp>
      <p:sp>
        <p:nvSpPr>
          <p:cNvPr id="52" name="Text 50"/>
          <p:cNvSpPr/>
          <p:nvPr/>
        </p:nvSpPr>
        <p:spPr>
          <a:xfrm>
            <a:off x="7452177" y="3794760"/>
            <a:ext cx="1798259" cy="2331720"/>
          </a:xfrm>
          <a:prstGeom prst="rect">
            <a:avLst/>
          </a:prstGeom>
          <a:noFill/>
          <a:ln/>
        </p:spPr>
        <p:txBody>
          <a:bodyPr wrap="square" lIns="0" tIns="0" rIns="0" bIns="0" rtlCol="0" anchor="ctr"/>
          <a:lstStyle/>
          <a:p>
            <a:pPr algn="ctr" indent="0" marL="0">
              <a:buNone/>
            </a:pPr>
            <a:r>
              <a:rPr lang="en-US" sz="1100" dirty="0">
                <a:solidFill>
                  <a:srgbClr val="444444"/>
                </a:solidFill>
                <a:latin typeface="Calibri" pitchFamily="34" charset="0"/>
                <a:ea typeface="Calibri" pitchFamily="34" charset="-122"/>
                <a:cs typeface="Calibri" pitchFamily="34" charset="-120"/>
              </a:rPr>
              <a:t>Task automation, workflows, controllers, ML scheduling, comms services.</a:t>
            </a:r>
            <a:endParaRPr lang="en-US" sz="1100" dirty="0"/>
          </a:p>
        </p:txBody>
      </p:sp>
      <p:sp>
        <p:nvSpPr>
          <p:cNvPr id="53" name="Shape 51"/>
          <p:cNvSpPr/>
          <p:nvPr/>
        </p:nvSpPr>
        <p:spPr>
          <a:xfrm>
            <a:off x="9524756" y="2514600"/>
            <a:ext cx="2164019" cy="3749040"/>
          </a:xfrm>
          <a:prstGeom prst="rect">
            <a:avLst/>
          </a:prstGeom>
          <a:solidFill>
            <a:srgbClr val="FFFFFF"/>
          </a:solidFill>
          <a:ln w="9525">
            <a:solidFill>
              <a:srgbClr val="111111"/>
            </a:solidFill>
            <a:prstDash val="solid"/>
          </a:ln>
        </p:spPr>
      </p:sp>
      <p:sp>
        <p:nvSpPr>
          <p:cNvPr id="54" name="Shape 52"/>
          <p:cNvSpPr/>
          <p:nvPr/>
        </p:nvSpPr>
        <p:spPr>
          <a:xfrm>
            <a:off x="9524756" y="2514600"/>
            <a:ext cx="2164019" cy="1097280"/>
          </a:xfrm>
          <a:prstGeom prst="rect">
            <a:avLst/>
          </a:prstGeom>
          <a:solidFill>
            <a:srgbClr val="111111"/>
          </a:solidFill>
          <a:ln w="12700">
            <a:solidFill>
              <a:srgbClr val="111111"/>
            </a:solidFill>
            <a:prstDash val="solid"/>
          </a:ln>
        </p:spPr>
      </p:sp>
      <p:sp>
        <p:nvSpPr>
          <p:cNvPr id="55" name="Text 53"/>
          <p:cNvSpPr/>
          <p:nvPr/>
        </p:nvSpPr>
        <p:spPr>
          <a:xfrm>
            <a:off x="9524756" y="2606040"/>
            <a:ext cx="2164019" cy="411480"/>
          </a:xfrm>
          <a:prstGeom prst="rect">
            <a:avLst/>
          </a:prstGeom>
          <a:noFill/>
          <a:ln/>
        </p:spPr>
        <p:txBody>
          <a:bodyPr wrap="square" lIns="0" tIns="0" rIns="0" bIns="0" rtlCol="0" anchor="ctr"/>
          <a:lstStyle/>
          <a:p>
            <a:pPr algn="ctr" indent="0" marL="0">
              <a:buNone/>
            </a:pPr>
            <a:r>
              <a:rPr lang="en-US" sz="1000" b="1" spc="200" kern="0" dirty="0">
                <a:solidFill>
                  <a:srgbClr val="D9D9D9"/>
                </a:solidFill>
                <a:latin typeface="Calibri" pitchFamily="34" charset="0"/>
                <a:ea typeface="Calibri" pitchFamily="34" charset="-122"/>
                <a:cs typeface="Calibri" pitchFamily="34" charset="-120"/>
              </a:rPr>
              <a:t>05</a:t>
            </a:r>
            <a:endParaRPr lang="en-US" sz="1000" dirty="0"/>
          </a:p>
        </p:txBody>
      </p:sp>
      <p:sp>
        <p:nvSpPr>
          <p:cNvPr id="56" name="Text 54"/>
          <p:cNvSpPr/>
          <p:nvPr/>
        </p:nvSpPr>
        <p:spPr>
          <a:xfrm>
            <a:off x="9616196" y="2926080"/>
            <a:ext cx="1981139" cy="685800"/>
          </a:xfrm>
          <a:prstGeom prst="rect">
            <a:avLst/>
          </a:prstGeom>
          <a:noFill/>
          <a:ln/>
        </p:spPr>
        <p:txBody>
          <a:bodyPr wrap="square" lIns="0" tIns="0" rIns="0" bIns="0" rtlCol="0" anchor="ctr"/>
          <a:lstStyle/>
          <a:p>
            <a:pPr algn="ctr" indent="0" marL="0">
              <a:buNone/>
            </a:pPr>
            <a:r>
              <a:rPr lang="en-US" sz="2200" b="1" dirty="0">
                <a:solidFill>
                  <a:srgbClr val="FFFFFF"/>
                </a:solidFill>
                <a:latin typeface="Georgia" pitchFamily="34" charset="0"/>
                <a:ea typeface="Georgia" pitchFamily="34" charset="-122"/>
                <a:cs typeface="Georgia" pitchFamily="34" charset="-120"/>
              </a:rPr>
              <a:t>Enablers</a:t>
            </a:r>
            <a:endParaRPr lang="en-US" sz="2200" dirty="0"/>
          </a:p>
        </p:txBody>
      </p:sp>
      <p:sp>
        <p:nvSpPr>
          <p:cNvPr id="57" name="Text 55"/>
          <p:cNvSpPr/>
          <p:nvPr/>
        </p:nvSpPr>
        <p:spPr>
          <a:xfrm>
            <a:off x="9707636" y="3794760"/>
            <a:ext cx="1798259" cy="2331720"/>
          </a:xfrm>
          <a:prstGeom prst="rect">
            <a:avLst/>
          </a:prstGeom>
          <a:noFill/>
          <a:ln/>
        </p:spPr>
        <p:txBody>
          <a:bodyPr wrap="square" lIns="0" tIns="0" rIns="0" bIns="0" rtlCol="0" anchor="ctr"/>
          <a:lstStyle/>
          <a:p>
            <a:pPr algn="ctr" indent="0" marL="0">
              <a:buNone/>
            </a:pPr>
            <a:r>
              <a:rPr lang="en-US" sz="1100" dirty="0">
                <a:solidFill>
                  <a:srgbClr val="444444"/>
                </a:solidFill>
                <a:latin typeface="Calibri" pitchFamily="34" charset="0"/>
                <a:ea typeface="Calibri" pitchFamily="34" charset="-122"/>
                <a:cs typeface="Calibri" pitchFamily="34" charset="-120"/>
              </a:rPr>
              <a:t>Accuracy, operational efficiency, improved profit — direct business outcomes.</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20040" y="182880"/>
            <a:ext cx="1417320" cy="438912"/>
          </a:xfrm>
          <a:prstGeom prst="rect">
            <a:avLst/>
          </a:prstGeom>
          <a:solidFill>
            <a:srgbClr val="111111"/>
          </a:solidFill>
          <a:ln w="12700">
            <a:solidFill>
              <a:srgbClr val="111111"/>
            </a:solidFill>
            <a:prstDash val="solid"/>
          </a:ln>
        </p:spPr>
      </p:sp>
      <p:sp>
        <p:nvSpPr>
          <p:cNvPr id="3" name="Text 1"/>
          <p:cNvSpPr/>
          <p:nvPr/>
        </p:nvSpPr>
        <p:spPr>
          <a:xfrm>
            <a:off x="320040" y="182880"/>
            <a:ext cx="1417320" cy="438912"/>
          </a:xfrm>
          <a:prstGeom prst="rect">
            <a:avLst/>
          </a:prstGeom>
          <a:noFill/>
          <a:ln/>
        </p:spPr>
        <p:txBody>
          <a:bodyPr wrap="square" lIns="0" tIns="0" rIns="0" bIns="0" rtlCol="0" anchor="ctr"/>
          <a:lstStyle/>
          <a:p>
            <a:pPr algn="ctr" indent="0" marL="0">
              <a:buNone/>
            </a:pPr>
            <a:r>
              <a:rPr lang="en-US" sz="1500" b="1" spc="400" kern="0" dirty="0">
                <a:solidFill>
                  <a:srgbClr val="FFFFFF"/>
                </a:solidFill>
                <a:latin typeface="Calibri" pitchFamily="34" charset="0"/>
                <a:ea typeface="Calibri" pitchFamily="34" charset="-122"/>
                <a:cs typeface="Calibri" pitchFamily="34" charset="-120"/>
              </a:rPr>
              <a:t>ARENA
</a:t>
            </a:r>
            <a:pPr algn="ctr" indent="0" marL="0">
              <a:buNone/>
            </a:pPr>
            <a:r>
              <a:rPr lang="en-US" sz="600" spc="400" kern="0" dirty="0">
                <a:solidFill>
                  <a:srgbClr val="FFFFFF"/>
                </a:solidFill>
                <a:latin typeface="Calibri" pitchFamily="34" charset="0"/>
                <a:ea typeface="Calibri" pitchFamily="34" charset="-122"/>
                <a:cs typeface="Calibri" pitchFamily="34" charset="-120"/>
              </a:rPr>
              <a:t>H O L D I N G S</a:t>
            </a:r>
            <a:endParaRPr lang="en-US" sz="1500" dirty="0"/>
          </a:p>
        </p:txBody>
      </p:sp>
      <p:sp>
        <p:nvSpPr>
          <p:cNvPr id="4" name="Shape 2"/>
          <p:cNvSpPr/>
          <p:nvPr/>
        </p:nvSpPr>
        <p:spPr>
          <a:xfrm>
            <a:off x="9677095" y="246888"/>
            <a:ext cx="201168" cy="201168"/>
          </a:xfrm>
          <a:prstGeom prst="ellipse">
            <a:avLst/>
          </a:prstGeom>
          <a:solidFill>
            <a:srgbClr val="111111"/>
          </a:solidFill>
          <a:ln w="12700">
            <a:solidFill>
              <a:srgbClr val="111111"/>
            </a:solidFill>
            <a:prstDash val="solid"/>
          </a:ln>
        </p:spPr>
      </p:sp>
      <p:sp>
        <p:nvSpPr>
          <p:cNvPr id="5" name="Text 3"/>
          <p:cNvSpPr/>
          <p:nvPr/>
        </p:nvSpPr>
        <p:spPr>
          <a:xfrm>
            <a:off x="9923983" y="210312"/>
            <a:ext cx="2011680" cy="274320"/>
          </a:xfrm>
          <a:prstGeom prst="rect">
            <a:avLst/>
          </a:prstGeom>
          <a:noFill/>
          <a:ln/>
        </p:spPr>
        <p:txBody>
          <a:bodyPr wrap="square" lIns="0" tIns="0" rIns="0" bIns="0" rtlCol="0" anchor="ctr"/>
          <a:lstStyle/>
          <a:p>
            <a:pPr algn="l" indent="0" marL="0">
              <a:buNone/>
            </a:pPr>
            <a:r>
              <a:rPr lang="en-US" sz="1000" b="1" i="1" dirty="0">
                <a:solidFill>
                  <a:srgbClr val="111111"/>
                </a:solidFill>
                <a:latin typeface="Calibri" pitchFamily="34" charset="0"/>
                <a:ea typeface="Calibri" pitchFamily="34" charset="-122"/>
                <a:cs typeface="Calibri" pitchFamily="34" charset="-120"/>
              </a:rPr>
              <a:t>#DoingSomethingGreat</a:t>
            </a:r>
            <a:endParaRPr lang="en-US" sz="1000" dirty="0"/>
          </a:p>
        </p:txBody>
      </p:sp>
      <p:sp>
        <p:nvSpPr>
          <p:cNvPr id="6" name="Shape 4"/>
          <p:cNvSpPr/>
          <p:nvPr/>
        </p:nvSpPr>
        <p:spPr>
          <a:xfrm>
            <a:off x="5973775" y="0"/>
            <a:ext cx="6217920" cy="1463040"/>
          </a:xfrm>
          <a:prstGeom prst="rect">
            <a:avLst/>
          </a:prstGeom>
          <a:solidFill>
            <a:srgbClr val="F5F5F5"/>
          </a:solidFill>
          <a:ln w="12700">
            <a:solidFill>
              <a:srgbClr val="F5F5F5"/>
            </a:solidFill>
            <a:prstDash val="solid"/>
          </a:ln>
        </p:spPr>
      </p:sp>
      <p:sp>
        <p:nvSpPr>
          <p:cNvPr id="7" name="Shape 5"/>
          <p:cNvSpPr/>
          <p:nvPr/>
        </p:nvSpPr>
        <p:spPr>
          <a:xfrm>
            <a:off x="6248095" y="0"/>
            <a:ext cx="-1280160" cy="1280160"/>
          </a:xfrm>
          <a:prstGeom prst="line">
            <a:avLst/>
          </a:prstGeom>
          <a:noFill/>
          <a:ln w="9525">
            <a:solidFill>
              <a:srgbClr val="EDEDED"/>
            </a:solidFill>
            <a:prstDash val="solid"/>
          </a:ln>
        </p:spPr>
      </p:sp>
      <p:sp>
        <p:nvSpPr>
          <p:cNvPr id="8" name="Shape 6"/>
          <p:cNvSpPr/>
          <p:nvPr/>
        </p:nvSpPr>
        <p:spPr>
          <a:xfrm>
            <a:off x="6659575" y="0"/>
            <a:ext cx="-1280160" cy="1280160"/>
          </a:xfrm>
          <a:prstGeom prst="line">
            <a:avLst/>
          </a:prstGeom>
          <a:noFill/>
          <a:ln w="9525">
            <a:solidFill>
              <a:srgbClr val="EDEDED"/>
            </a:solidFill>
            <a:prstDash val="solid"/>
          </a:ln>
        </p:spPr>
      </p:sp>
      <p:sp>
        <p:nvSpPr>
          <p:cNvPr id="9" name="Shape 7"/>
          <p:cNvSpPr/>
          <p:nvPr/>
        </p:nvSpPr>
        <p:spPr>
          <a:xfrm>
            <a:off x="7071055" y="0"/>
            <a:ext cx="-1280160" cy="1280160"/>
          </a:xfrm>
          <a:prstGeom prst="line">
            <a:avLst/>
          </a:prstGeom>
          <a:noFill/>
          <a:ln w="9525">
            <a:solidFill>
              <a:srgbClr val="EDEDED"/>
            </a:solidFill>
            <a:prstDash val="solid"/>
          </a:ln>
        </p:spPr>
      </p:sp>
      <p:sp>
        <p:nvSpPr>
          <p:cNvPr id="10" name="Shape 8"/>
          <p:cNvSpPr/>
          <p:nvPr/>
        </p:nvSpPr>
        <p:spPr>
          <a:xfrm>
            <a:off x="7482535" y="0"/>
            <a:ext cx="-1280160" cy="1280160"/>
          </a:xfrm>
          <a:prstGeom prst="line">
            <a:avLst/>
          </a:prstGeom>
          <a:noFill/>
          <a:ln w="9525">
            <a:solidFill>
              <a:srgbClr val="EDEDED"/>
            </a:solidFill>
            <a:prstDash val="solid"/>
          </a:ln>
        </p:spPr>
      </p:sp>
      <p:sp>
        <p:nvSpPr>
          <p:cNvPr id="11" name="Shape 9"/>
          <p:cNvSpPr/>
          <p:nvPr/>
        </p:nvSpPr>
        <p:spPr>
          <a:xfrm>
            <a:off x="7894015" y="0"/>
            <a:ext cx="-1280160" cy="1280160"/>
          </a:xfrm>
          <a:prstGeom prst="line">
            <a:avLst/>
          </a:prstGeom>
          <a:noFill/>
          <a:ln w="9525">
            <a:solidFill>
              <a:srgbClr val="EDEDED"/>
            </a:solidFill>
            <a:prstDash val="solid"/>
          </a:ln>
        </p:spPr>
      </p:sp>
      <p:sp>
        <p:nvSpPr>
          <p:cNvPr id="12" name="Shape 10"/>
          <p:cNvSpPr/>
          <p:nvPr/>
        </p:nvSpPr>
        <p:spPr>
          <a:xfrm>
            <a:off x="8305495" y="0"/>
            <a:ext cx="-1280160" cy="1280160"/>
          </a:xfrm>
          <a:prstGeom prst="line">
            <a:avLst/>
          </a:prstGeom>
          <a:noFill/>
          <a:ln w="9525">
            <a:solidFill>
              <a:srgbClr val="EDEDED"/>
            </a:solidFill>
            <a:prstDash val="solid"/>
          </a:ln>
        </p:spPr>
      </p:sp>
      <p:sp>
        <p:nvSpPr>
          <p:cNvPr id="13" name="Shape 11"/>
          <p:cNvSpPr/>
          <p:nvPr/>
        </p:nvSpPr>
        <p:spPr>
          <a:xfrm>
            <a:off x="8716975" y="0"/>
            <a:ext cx="-1280160" cy="1280160"/>
          </a:xfrm>
          <a:prstGeom prst="line">
            <a:avLst/>
          </a:prstGeom>
          <a:noFill/>
          <a:ln w="9525">
            <a:solidFill>
              <a:srgbClr val="EDEDED"/>
            </a:solidFill>
            <a:prstDash val="solid"/>
          </a:ln>
        </p:spPr>
      </p:sp>
      <p:sp>
        <p:nvSpPr>
          <p:cNvPr id="14" name="Shape 12"/>
          <p:cNvSpPr/>
          <p:nvPr/>
        </p:nvSpPr>
        <p:spPr>
          <a:xfrm>
            <a:off x="9128455" y="0"/>
            <a:ext cx="-1280160" cy="1280160"/>
          </a:xfrm>
          <a:prstGeom prst="line">
            <a:avLst/>
          </a:prstGeom>
          <a:noFill/>
          <a:ln w="9525">
            <a:solidFill>
              <a:srgbClr val="EDEDED"/>
            </a:solidFill>
            <a:prstDash val="solid"/>
          </a:ln>
        </p:spPr>
      </p:sp>
      <p:sp>
        <p:nvSpPr>
          <p:cNvPr id="15" name="Shape 13"/>
          <p:cNvSpPr/>
          <p:nvPr/>
        </p:nvSpPr>
        <p:spPr>
          <a:xfrm>
            <a:off x="9539935" y="0"/>
            <a:ext cx="-1280160" cy="1280160"/>
          </a:xfrm>
          <a:prstGeom prst="line">
            <a:avLst/>
          </a:prstGeom>
          <a:noFill/>
          <a:ln w="9525">
            <a:solidFill>
              <a:srgbClr val="EDEDED"/>
            </a:solidFill>
            <a:prstDash val="solid"/>
          </a:ln>
        </p:spPr>
      </p:sp>
      <p:sp>
        <p:nvSpPr>
          <p:cNvPr id="16" name="Shape 14"/>
          <p:cNvSpPr/>
          <p:nvPr/>
        </p:nvSpPr>
        <p:spPr>
          <a:xfrm>
            <a:off x="9951415" y="0"/>
            <a:ext cx="-1280160" cy="1280160"/>
          </a:xfrm>
          <a:prstGeom prst="line">
            <a:avLst/>
          </a:prstGeom>
          <a:noFill/>
          <a:ln w="9525">
            <a:solidFill>
              <a:srgbClr val="EDEDED"/>
            </a:solidFill>
            <a:prstDash val="solid"/>
          </a:ln>
        </p:spPr>
      </p:sp>
      <p:sp>
        <p:nvSpPr>
          <p:cNvPr id="17" name="Shape 15"/>
          <p:cNvSpPr/>
          <p:nvPr/>
        </p:nvSpPr>
        <p:spPr>
          <a:xfrm>
            <a:off x="10362895" y="0"/>
            <a:ext cx="-1280160" cy="1280160"/>
          </a:xfrm>
          <a:prstGeom prst="line">
            <a:avLst/>
          </a:prstGeom>
          <a:noFill/>
          <a:ln w="9525">
            <a:solidFill>
              <a:srgbClr val="EDEDED"/>
            </a:solidFill>
            <a:prstDash val="solid"/>
          </a:ln>
        </p:spPr>
      </p:sp>
      <p:sp>
        <p:nvSpPr>
          <p:cNvPr id="18" name="Shape 16"/>
          <p:cNvSpPr/>
          <p:nvPr/>
        </p:nvSpPr>
        <p:spPr>
          <a:xfrm>
            <a:off x="10774375" y="0"/>
            <a:ext cx="-1280160" cy="1280160"/>
          </a:xfrm>
          <a:prstGeom prst="line">
            <a:avLst/>
          </a:prstGeom>
          <a:noFill/>
          <a:ln w="9525">
            <a:solidFill>
              <a:srgbClr val="EDEDED"/>
            </a:solidFill>
            <a:prstDash val="solid"/>
          </a:ln>
        </p:spPr>
      </p:sp>
      <p:sp>
        <p:nvSpPr>
          <p:cNvPr id="19" name="Shape 17"/>
          <p:cNvSpPr/>
          <p:nvPr/>
        </p:nvSpPr>
        <p:spPr>
          <a:xfrm>
            <a:off x="11185855" y="0"/>
            <a:ext cx="-1280160" cy="1280160"/>
          </a:xfrm>
          <a:prstGeom prst="line">
            <a:avLst/>
          </a:prstGeom>
          <a:noFill/>
          <a:ln w="9525">
            <a:solidFill>
              <a:srgbClr val="EDEDED"/>
            </a:solidFill>
            <a:prstDash val="solid"/>
          </a:ln>
        </p:spPr>
      </p:sp>
      <p:sp>
        <p:nvSpPr>
          <p:cNvPr id="20" name="Shape 18"/>
          <p:cNvSpPr/>
          <p:nvPr/>
        </p:nvSpPr>
        <p:spPr>
          <a:xfrm>
            <a:off x="11597335" y="0"/>
            <a:ext cx="-1280160" cy="1280160"/>
          </a:xfrm>
          <a:prstGeom prst="line">
            <a:avLst/>
          </a:prstGeom>
          <a:noFill/>
          <a:ln w="9525">
            <a:solidFill>
              <a:srgbClr val="EDEDED"/>
            </a:solidFill>
            <a:prstDash val="solid"/>
          </a:ln>
        </p:spPr>
      </p:sp>
      <p:sp>
        <p:nvSpPr>
          <p:cNvPr id="21" name="Shape 19"/>
          <p:cNvSpPr/>
          <p:nvPr/>
        </p:nvSpPr>
        <p:spPr>
          <a:xfrm>
            <a:off x="320040" y="1481328"/>
            <a:ext cx="11551615" cy="0"/>
          </a:xfrm>
          <a:prstGeom prst="line">
            <a:avLst/>
          </a:prstGeom>
          <a:noFill/>
          <a:ln w="15875">
            <a:solidFill>
              <a:srgbClr val="111111"/>
            </a:solidFill>
            <a:prstDash val="solid"/>
          </a:ln>
        </p:spPr>
      </p:sp>
      <p:sp>
        <p:nvSpPr>
          <p:cNvPr id="22" name="Text 20"/>
          <p:cNvSpPr/>
          <p:nvPr/>
        </p:nvSpPr>
        <p:spPr>
          <a:xfrm>
            <a:off x="5486400" y="292608"/>
            <a:ext cx="6309360" cy="685800"/>
          </a:xfrm>
          <a:prstGeom prst="rect">
            <a:avLst/>
          </a:prstGeom>
          <a:noFill/>
          <a:ln/>
        </p:spPr>
        <p:txBody>
          <a:bodyPr wrap="square" lIns="0" tIns="0" rIns="0" bIns="0" rtlCol="0" anchor="ctr"/>
          <a:lstStyle/>
          <a:p>
            <a:pPr algn="r" indent="0" marL="0">
              <a:buNone/>
            </a:pPr>
            <a:r>
              <a:rPr lang="en-US" sz="2600" b="1" dirty="0">
                <a:solidFill>
                  <a:srgbClr val="111111"/>
                </a:solidFill>
                <a:latin typeface="Calibri" pitchFamily="34" charset="0"/>
                <a:ea typeface="Calibri" pitchFamily="34" charset="-122"/>
                <a:cs typeface="Calibri" pitchFamily="34" charset="-120"/>
              </a:rPr>
              <a:t>Digital Mobile — a platform for launching light MVNOs quickly</a:t>
            </a:r>
            <a:endParaRPr lang="en-US" sz="2600" dirty="0"/>
          </a:p>
        </p:txBody>
      </p:sp>
      <p:sp>
        <p:nvSpPr>
          <p:cNvPr id="23" name="Text 21"/>
          <p:cNvSpPr/>
          <p:nvPr/>
        </p:nvSpPr>
        <p:spPr>
          <a:xfrm>
            <a:off x="5486400" y="960120"/>
            <a:ext cx="6309360" cy="365760"/>
          </a:xfrm>
          <a:prstGeom prst="rect">
            <a:avLst/>
          </a:prstGeom>
          <a:noFill/>
          <a:ln/>
        </p:spPr>
        <p:txBody>
          <a:bodyPr wrap="square" lIns="0" tIns="0" rIns="0" bIns="0" rtlCol="0" anchor="ctr"/>
          <a:lstStyle/>
          <a:p>
            <a:pPr algn="r" indent="0" marL="0">
              <a:buNone/>
            </a:pPr>
            <a:r>
              <a:rPr lang="en-US" sz="1200" i="1" dirty="0">
                <a:solidFill>
                  <a:srgbClr val="6B6B6B"/>
                </a:solidFill>
                <a:latin typeface="Calibri" pitchFamily="34" charset="0"/>
                <a:ea typeface="Calibri" pitchFamily="34" charset="-122"/>
                <a:cs typeface="Calibri" pitchFamily="34" charset="-120"/>
              </a:rPr>
              <a:t>Key value proposition</a:t>
            </a:r>
            <a:endParaRPr lang="en-US" sz="1200" dirty="0"/>
          </a:p>
        </p:txBody>
      </p:sp>
      <p:sp>
        <p:nvSpPr>
          <p:cNvPr id="24" name="Shape 22"/>
          <p:cNvSpPr/>
          <p:nvPr/>
        </p:nvSpPr>
        <p:spPr>
          <a:xfrm>
            <a:off x="320040" y="6355080"/>
            <a:ext cx="11551615" cy="0"/>
          </a:xfrm>
          <a:prstGeom prst="line">
            <a:avLst/>
          </a:prstGeom>
          <a:noFill/>
          <a:ln w="6350">
            <a:solidFill>
              <a:srgbClr val="BFBFBF"/>
            </a:solidFill>
            <a:prstDash val="solid"/>
          </a:ln>
        </p:spPr>
      </p:sp>
      <p:sp>
        <p:nvSpPr>
          <p:cNvPr id="25" name="Shape 23"/>
          <p:cNvSpPr/>
          <p:nvPr/>
        </p:nvSpPr>
        <p:spPr>
          <a:xfrm>
            <a:off x="320040" y="6473952"/>
            <a:ext cx="502920" cy="237744"/>
          </a:xfrm>
          <a:prstGeom prst="rect">
            <a:avLst/>
          </a:prstGeom>
          <a:solidFill>
            <a:srgbClr val="111111"/>
          </a:solidFill>
          <a:ln w="12700">
            <a:solidFill>
              <a:srgbClr val="111111"/>
            </a:solidFill>
            <a:prstDash val="solid"/>
          </a:ln>
        </p:spPr>
      </p:sp>
      <p:sp>
        <p:nvSpPr>
          <p:cNvPr id="26" name="Text 24"/>
          <p:cNvSpPr/>
          <p:nvPr/>
        </p:nvSpPr>
        <p:spPr>
          <a:xfrm>
            <a:off x="320040" y="6473952"/>
            <a:ext cx="502920" cy="237744"/>
          </a:xfrm>
          <a:prstGeom prst="rect">
            <a:avLst/>
          </a:prstGeom>
          <a:noFill/>
          <a:ln/>
        </p:spPr>
        <p:txBody>
          <a:bodyPr wrap="square" lIns="0" tIns="0" rIns="0" bIns="0" rtlCol="0" anchor="ctr"/>
          <a:lstStyle/>
          <a:p>
            <a:pPr algn="ctr" indent="0" marL="0">
              <a:buNone/>
            </a:pPr>
            <a:r>
              <a:rPr lang="en-US" sz="900" b="1" spc="200" kern="0" dirty="0">
                <a:solidFill>
                  <a:srgbClr val="FFFFFF"/>
                </a:solidFill>
                <a:latin typeface="Calibri" pitchFamily="34" charset="0"/>
                <a:ea typeface="Calibri" pitchFamily="34" charset="-122"/>
                <a:cs typeface="Calibri" pitchFamily="34" charset="-120"/>
              </a:rPr>
              <a:t>DSG</a:t>
            </a:r>
            <a:endParaRPr lang="en-US" sz="900" dirty="0"/>
          </a:p>
        </p:txBody>
      </p:sp>
      <p:sp>
        <p:nvSpPr>
          <p:cNvPr id="27" name="Text 25"/>
          <p:cNvSpPr/>
          <p:nvPr/>
        </p:nvSpPr>
        <p:spPr>
          <a:xfrm>
            <a:off x="868680" y="6473952"/>
            <a:ext cx="2194560" cy="237744"/>
          </a:xfrm>
          <a:prstGeom prst="rect">
            <a:avLst/>
          </a:prstGeom>
          <a:noFill/>
          <a:ln/>
        </p:spPr>
        <p:txBody>
          <a:bodyPr wrap="square" lIns="0" tIns="0" rIns="0" bIns="0" rtlCol="0" anchor="ctr"/>
          <a:lstStyle/>
          <a:p>
            <a:pPr indent="0" marL="0">
              <a:buNone/>
            </a:pPr>
            <a:r>
              <a:rPr lang="en-US" sz="650" spc="200" kern="0" dirty="0">
                <a:solidFill>
                  <a:srgbClr val="6B6B6B"/>
                </a:solidFill>
                <a:latin typeface="Calibri" pitchFamily="34" charset="0"/>
                <a:ea typeface="Calibri" pitchFamily="34" charset="-122"/>
                <a:cs typeface="Calibri" pitchFamily="34" charset="-120"/>
              </a:rPr>
              <a:t>DIGITAL SOLUTIONS GROUP</a:t>
            </a:r>
            <a:endParaRPr lang="en-US" sz="650" dirty="0"/>
          </a:p>
        </p:txBody>
      </p:sp>
      <p:sp>
        <p:nvSpPr>
          <p:cNvPr id="28" name="Text 26"/>
          <p:cNvSpPr/>
          <p:nvPr/>
        </p:nvSpPr>
        <p:spPr>
          <a:xfrm>
            <a:off x="4754880" y="6473952"/>
            <a:ext cx="2743200" cy="237744"/>
          </a:xfrm>
          <a:prstGeom prst="rect">
            <a:avLst/>
          </a:prstGeom>
          <a:noFill/>
          <a:ln/>
        </p:spPr>
        <p:txBody>
          <a:bodyPr wrap="square" lIns="0" tIns="0" rIns="0" bIns="0" rtlCol="0" anchor="ctr"/>
          <a:lstStyle/>
          <a:p>
            <a:pPr algn="ctr" indent="0" marL="0">
              <a:buNone/>
            </a:pPr>
            <a:r>
              <a:rPr lang="en-US" sz="1100" b="1" dirty="0">
                <a:solidFill>
                  <a:srgbClr val="111111"/>
                </a:solidFill>
                <a:latin typeface="Calibri" pitchFamily="34" charset="0"/>
                <a:ea typeface="Calibri" pitchFamily="34" charset="-122"/>
                <a:cs typeface="Calibri" pitchFamily="34" charset="-120"/>
              </a:rPr>
              <a:t>digital</a:t>
            </a:r>
            <a:pPr algn="ctr" indent="0" marL="0">
              <a:buNone/>
            </a:pPr>
            <a:r>
              <a:rPr lang="en-US" sz="1100" b="1" dirty="0">
                <a:solidFill>
                  <a:srgbClr val="6B6B6B"/>
                </a:solidFill>
                <a:latin typeface="Calibri" pitchFamily="34" charset="0"/>
                <a:ea typeface="Calibri" pitchFamily="34" charset="-122"/>
                <a:cs typeface="Calibri" pitchFamily="34" charset="-120"/>
              </a:rPr>
              <a:t>mobile</a:t>
            </a:r>
            <a:endParaRPr lang="en-US" sz="1100" dirty="0"/>
          </a:p>
        </p:txBody>
      </p:sp>
      <p:sp>
        <p:nvSpPr>
          <p:cNvPr id="29" name="Shape 27"/>
          <p:cNvSpPr/>
          <p:nvPr/>
        </p:nvSpPr>
        <p:spPr>
          <a:xfrm>
            <a:off x="8595360" y="6519672"/>
            <a:ext cx="146304" cy="146304"/>
          </a:xfrm>
          <a:prstGeom prst="ellipse">
            <a:avLst/>
          </a:prstGeom>
          <a:solidFill>
            <a:srgbClr val="111111"/>
          </a:solidFill>
          <a:ln w="12700">
            <a:solidFill>
              <a:srgbClr val="111111"/>
            </a:solidFill>
            <a:prstDash val="solid"/>
          </a:ln>
        </p:spPr>
      </p:sp>
      <p:sp>
        <p:nvSpPr>
          <p:cNvPr id="30" name="Text 28"/>
          <p:cNvSpPr/>
          <p:nvPr/>
        </p:nvSpPr>
        <p:spPr>
          <a:xfrm>
            <a:off x="8778240" y="6473952"/>
            <a:ext cx="2194560" cy="237744"/>
          </a:xfrm>
          <a:prstGeom prst="rect">
            <a:avLst/>
          </a:prstGeom>
          <a:noFill/>
          <a:ln/>
        </p:spPr>
        <p:txBody>
          <a:bodyPr wrap="square" lIns="0" tIns="0" rIns="0" bIns="0" rtlCol="0" anchor="ctr"/>
          <a:lstStyle/>
          <a:p>
            <a:pPr indent="0" marL="0">
              <a:buNone/>
            </a:pPr>
            <a:r>
              <a:rPr lang="en-US" sz="900" i="1" dirty="0">
                <a:solidFill>
                  <a:srgbClr val="111111"/>
                </a:solidFill>
                <a:latin typeface="Calibri" pitchFamily="34" charset="0"/>
                <a:ea typeface="Calibri" pitchFamily="34" charset="-122"/>
                <a:cs typeface="Calibri" pitchFamily="34" charset="-120"/>
              </a:rPr>
              <a:t>#DoingSomethingGreat</a:t>
            </a:r>
            <a:endParaRPr lang="en-US" sz="900" dirty="0"/>
          </a:p>
        </p:txBody>
      </p:sp>
      <p:sp>
        <p:nvSpPr>
          <p:cNvPr id="31" name="Text 29"/>
          <p:cNvSpPr/>
          <p:nvPr/>
        </p:nvSpPr>
        <p:spPr>
          <a:xfrm>
            <a:off x="11002975" y="6473952"/>
            <a:ext cx="914400" cy="237744"/>
          </a:xfrm>
          <a:prstGeom prst="rect">
            <a:avLst/>
          </a:prstGeom>
          <a:noFill/>
          <a:ln/>
        </p:spPr>
        <p:txBody>
          <a:bodyPr wrap="square" lIns="0" tIns="0" rIns="0" bIns="0" rtlCol="0" anchor="ctr"/>
          <a:lstStyle/>
          <a:p>
            <a:pPr algn="r" indent="0" marL="0">
              <a:buNone/>
            </a:pPr>
            <a:r>
              <a:rPr lang="en-US" sz="800" dirty="0">
                <a:solidFill>
                  <a:srgbClr val="6B6B6B"/>
                </a:solidFill>
                <a:latin typeface="Calibri" pitchFamily="34" charset="0"/>
                <a:ea typeface="Calibri" pitchFamily="34" charset="-122"/>
                <a:cs typeface="Calibri" pitchFamily="34" charset="-120"/>
              </a:rPr>
              <a:t>18 / 20</a:t>
            </a:r>
            <a:endParaRPr lang="en-US" sz="800" dirty="0"/>
          </a:p>
        </p:txBody>
      </p:sp>
      <p:sp>
        <p:nvSpPr>
          <p:cNvPr id="32" name="Shape 30"/>
          <p:cNvSpPr/>
          <p:nvPr/>
        </p:nvSpPr>
        <p:spPr>
          <a:xfrm>
            <a:off x="502920" y="1874520"/>
            <a:ext cx="3703320" cy="2011680"/>
          </a:xfrm>
          <a:prstGeom prst="rect">
            <a:avLst/>
          </a:prstGeom>
          <a:solidFill>
            <a:srgbClr val="FFFFFF"/>
          </a:solidFill>
          <a:ln w="9525">
            <a:solidFill>
              <a:srgbClr val="111111"/>
            </a:solidFill>
            <a:prstDash val="solid"/>
          </a:ln>
        </p:spPr>
      </p:sp>
      <p:sp>
        <p:nvSpPr>
          <p:cNvPr id="33" name="Shape 31"/>
          <p:cNvSpPr/>
          <p:nvPr/>
        </p:nvSpPr>
        <p:spPr>
          <a:xfrm>
            <a:off x="502920" y="1874520"/>
            <a:ext cx="3703320" cy="548640"/>
          </a:xfrm>
          <a:prstGeom prst="rect">
            <a:avLst/>
          </a:prstGeom>
          <a:solidFill>
            <a:srgbClr val="111111"/>
          </a:solidFill>
          <a:ln w="12700">
            <a:solidFill>
              <a:srgbClr val="111111"/>
            </a:solidFill>
            <a:prstDash val="solid"/>
          </a:ln>
        </p:spPr>
      </p:sp>
      <p:sp>
        <p:nvSpPr>
          <p:cNvPr id="34" name="Text 32"/>
          <p:cNvSpPr/>
          <p:nvPr/>
        </p:nvSpPr>
        <p:spPr>
          <a:xfrm>
            <a:off x="640080" y="1874520"/>
            <a:ext cx="548640" cy="54864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ea typeface="Calibri" pitchFamily="34" charset="-122"/>
                <a:cs typeface="Calibri" pitchFamily="34" charset="-120"/>
              </a:rPr>
              <a:t>01</a:t>
            </a:r>
            <a:endParaRPr lang="en-US" sz="1300" dirty="0"/>
          </a:p>
        </p:txBody>
      </p:sp>
      <p:sp>
        <p:nvSpPr>
          <p:cNvPr id="35" name="Text 33"/>
          <p:cNvSpPr/>
          <p:nvPr/>
        </p:nvSpPr>
        <p:spPr>
          <a:xfrm>
            <a:off x="1188720" y="1874520"/>
            <a:ext cx="2971800" cy="54864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Partnership model</a:t>
            </a:r>
            <a:endParaRPr lang="en-US" sz="1200" dirty="0"/>
          </a:p>
        </p:txBody>
      </p:sp>
      <p:sp>
        <p:nvSpPr>
          <p:cNvPr id="36" name="Text 34"/>
          <p:cNvSpPr/>
          <p:nvPr/>
        </p:nvSpPr>
        <p:spPr>
          <a:xfrm>
            <a:off x="685800" y="2560320"/>
            <a:ext cx="3383280" cy="1280160"/>
          </a:xfrm>
          <a:prstGeom prst="rect">
            <a:avLst/>
          </a:prstGeom>
          <a:noFill/>
          <a:ln/>
        </p:spPr>
        <p:txBody>
          <a:bodyPr wrap="square" lIns="0" tIns="0" rIns="0" bIns="0" rtlCol="0" anchor="ctr"/>
          <a:lstStyle/>
          <a:p>
            <a:pPr indent="0" marL="0">
              <a:buNone/>
            </a:pPr>
            <a:r>
              <a:rPr lang="en-US" sz="1100" dirty="0">
                <a:solidFill>
                  <a:srgbClr val="444444"/>
                </a:solidFill>
                <a:latin typeface="Calibri" pitchFamily="34" charset="0"/>
                <a:ea typeface="Calibri" pitchFamily="34" charset="-122"/>
                <a:cs typeface="Calibri" pitchFamily="34" charset="-120"/>
              </a:rPr>
              <a:t>Built for co-branded and white-label MVNOs — Arena keeps the brand, Digital Mobile carries the platform.</a:t>
            </a:r>
            <a:endParaRPr lang="en-US" sz="1100" dirty="0"/>
          </a:p>
        </p:txBody>
      </p:sp>
      <p:sp>
        <p:nvSpPr>
          <p:cNvPr id="37" name="Shape 35"/>
          <p:cNvSpPr/>
          <p:nvPr/>
        </p:nvSpPr>
        <p:spPr>
          <a:xfrm>
            <a:off x="4389120" y="1874520"/>
            <a:ext cx="3703320" cy="2011680"/>
          </a:xfrm>
          <a:prstGeom prst="rect">
            <a:avLst/>
          </a:prstGeom>
          <a:solidFill>
            <a:srgbClr val="FFFFFF"/>
          </a:solidFill>
          <a:ln w="9525">
            <a:solidFill>
              <a:srgbClr val="111111"/>
            </a:solidFill>
            <a:prstDash val="solid"/>
          </a:ln>
        </p:spPr>
      </p:sp>
      <p:sp>
        <p:nvSpPr>
          <p:cNvPr id="38" name="Shape 36"/>
          <p:cNvSpPr/>
          <p:nvPr/>
        </p:nvSpPr>
        <p:spPr>
          <a:xfrm>
            <a:off x="4389120" y="1874520"/>
            <a:ext cx="3703320" cy="548640"/>
          </a:xfrm>
          <a:prstGeom prst="rect">
            <a:avLst/>
          </a:prstGeom>
          <a:solidFill>
            <a:srgbClr val="111111"/>
          </a:solidFill>
          <a:ln w="12700">
            <a:solidFill>
              <a:srgbClr val="111111"/>
            </a:solidFill>
            <a:prstDash val="solid"/>
          </a:ln>
        </p:spPr>
      </p:sp>
      <p:sp>
        <p:nvSpPr>
          <p:cNvPr id="39" name="Text 37"/>
          <p:cNvSpPr/>
          <p:nvPr/>
        </p:nvSpPr>
        <p:spPr>
          <a:xfrm>
            <a:off x="4526280" y="1874520"/>
            <a:ext cx="548640" cy="54864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ea typeface="Calibri" pitchFamily="34" charset="-122"/>
                <a:cs typeface="Calibri" pitchFamily="34" charset="-120"/>
              </a:rPr>
              <a:t>02</a:t>
            </a:r>
            <a:endParaRPr lang="en-US" sz="1300" dirty="0"/>
          </a:p>
        </p:txBody>
      </p:sp>
      <p:sp>
        <p:nvSpPr>
          <p:cNvPr id="40" name="Text 38"/>
          <p:cNvSpPr/>
          <p:nvPr/>
        </p:nvSpPr>
        <p:spPr>
          <a:xfrm>
            <a:off x="5074920" y="1874520"/>
            <a:ext cx="2971800" cy="54864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Faster time to market</a:t>
            </a:r>
            <a:endParaRPr lang="en-US" sz="1200" dirty="0"/>
          </a:p>
        </p:txBody>
      </p:sp>
      <p:sp>
        <p:nvSpPr>
          <p:cNvPr id="41" name="Text 39"/>
          <p:cNvSpPr/>
          <p:nvPr/>
        </p:nvSpPr>
        <p:spPr>
          <a:xfrm>
            <a:off x="4572000" y="2560320"/>
            <a:ext cx="3383280" cy="1280160"/>
          </a:xfrm>
          <a:prstGeom prst="rect">
            <a:avLst/>
          </a:prstGeom>
          <a:noFill/>
          <a:ln/>
        </p:spPr>
        <p:txBody>
          <a:bodyPr wrap="square" lIns="0" tIns="0" rIns="0" bIns="0" rtlCol="0" anchor="ctr"/>
          <a:lstStyle/>
          <a:p>
            <a:pPr indent="0" marL="0">
              <a:buNone/>
            </a:pPr>
            <a:r>
              <a:rPr lang="en-US" sz="1100" dirty="0">
                <a:solidFill>
                  <a:srgbClr val="444444"/>
                </a:solidFill>
                <a:latin typeface="Calibri" pitchFamily="34" charset="0"/>
                <a:ea typeface="Calibri" pitchFamily="34" charset="-122"/>
                <a:cs typeface="Calibri" pitchFamily="34" charset="-120"/>
              </a:rPr>
              <a:t>Launch in weeks, not months. Eight-week delivery is the norm, not the exception.</a:t>
            </a:r>
            <a:endParaRPr lang="en-US" sz="1100" dirty="0"/>
          </a:p>
        </p:txBody>
      </p:sp>
      <p:sp>
        <p:nvSpPr>
          <p:cNvPr id="42" name="Shape 40"/>
          <p:cNvSpPr/>
          <p:nvPr/>
        </p:nvSpPr>
        <p:spPr>
          <a:xfrm>
            <a:off x="8275320" y="1874520"/>
            <a:ext cx="3703320" cy="2011680"/>
          </a:xfrm>
          <a:prstGeom prst="rect">
            <a:avLst/>
          </a:prstGeom>
          <a:solidFill>
            <a:srgbClr val="FFFFFF"/>
          </a:solidFill>
          <a:ln w="9525">
            <a:solidFill>
              <a:srgbClr val="111111"/>
            </a:solidFill>
            <a:prstDash val="solid"/>
          </a:ln>
        </p:spPr>
      </p:sp>
      <p:sp>
        <p:nvSpPr>
          <p:cNvPr id="43" name="Shape 41"/>
          <p:cNvSpPr/>
          <p:nvPr/>
        </p:nvSpPr>
        <p:spPr>
          <a:xfrm>
            <a:off x="8275320" y="1874520"/>
            <a:ext cx="3703320" cy="548640"/>
          </a:xfrm>
          <a:prstGeom prst="rect">
            <a:avLst/>
          </a:prstGeom>
          <a:solidFill>
            <a:srgbClr val="111111"/>
          </a:solidFill>
          <a:ln w="12700">
            <a:solidFill>
              <a:srgbClr val="111111"/>
            </a:solidFill>
            <a:prstDash val="solid"/>
          </a:ln>
        </p:spPr>
      </p:sp>
      <p:sp>
        <p:nvSpPr>
          <p:cNvPr id="44" name="Text 42"/>
          <p:cNvSpPr/>
          <p:nvPr/>
        </p:nvSpPr>
        <p:spPr>
          <a:xfrm>
            <a:off x="8412480" y="1874520"/>
            <a:ext cx="548640" cy="54864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ea typeface="Calibri" pitchFamily="34" charset="-122"/>
                <a:cs typeface="Calibri" pitchFamily="34" charset="-120"/>
              </a:rPr>
              <a:t>03</a:t>
            </a:r>
            <a:endParaRPr lang="en-US" sz="1300" dirty="0"/>
          </a:p>
        </p:txBody>
      </p:sp>
      <p:sp>
        <p:nvSpPr>
          <p:cNvPr id="45" name="Text 43"/>
          <p:cNvSpPr/>
          <p:nvPr/>
        </p:nvSpPr>
        <p:spPr>
          <a:xfrm>
            <a:off x="8961120" y="1874520"/>
            <a:ext cx="2971800" cy="54864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Dual eSIM capability</a:t>
            </a:r>
            <a:endParaRPr lang="en-US" sz="1200" dirty="0"/>
          </a:p>
        </p:txBody>
      </p:sp>
      <p:sp>
        <p:nvSpPr>
          <p:cNvPr id="46" name="Text 44"/>
          <p:cNvSpPr/>
          <p:nvPr/>
        </p:nvSpPr>
        <p:spPr>
          <a:xfrm>
            <a:off x="8458200" y="2560320"/>
            <a:ext cx="3383280" cy="1280160"/>
          </a:xfrm>
          <a:prstGeom prst="rect">
            <a:avLst/>
          </a:prstGeom>
          <a:noFill/>
          <a:ln/>
        </p:spPr>
        <p:txBody>
          <a:bodyPr wrap="square" lIns="0" tIns="0" rIns="0" bIns="0" rtlCol="0" anchor="ctr"/>
          <a:lstStyle/>
          <a:p>
            <a:pPr indent="0" marL="0">
              <a:buNone/>
            </a:pPr>
            <a:r>
              <a:rPr lang="en-US" sz="1100" dirty="0">
                <a:solidFill>
                  <a:srgbClr val="444444"/>
                </a:solidFill>
                <a:latin typeface="Calibri" pitchFamily="34" charset="0"/>
                <a:ea typeface="Calibri" pitchFamily="34" charset="-122"/>
                <a:cs typeface="Calibri" pitchFamily="34" charset="-120"/>
              </a:rPr>
              <a:t>Local and global eSIM management from a single app — travel and home networks in one SKU.</a:t>
            </a:r>
            <a:endParaRPr lang="en-US" sz="1100" dirty="0"/>
          </a:p>
        </p:txBody>
      </p:sp>
      <p:sp>
        <p:nvSpPr>
          <p:cNvPr id="47" name="Shape 45"/>
          <p:cNvSpPr/>
          <p:nvPr/>
        </p:nvSpPr>
        <p:spPr>
          <a:xfrm>
            <a:off x="502920" y="4069080"/>
            <a:ext cx="3703320" cy="2011680"/>
          </a:xfrm>
          <a:prstGeom prst="rect">
            <a:avLst/>
          </a:prstGeom>
          <a:solidFill>
            <a:srgbClr val="FFFFFF"/>
          </a:solidFill>
          <a:ln w="9525">
            <a:solidFill>
              <a:srgbClr val="111111"/>
            </a:solidFill>
            <a:prstDash val="solid"/>
          </a:ln>
        </p:spPr>
      </p:sp>
      <p:sp>
        <p:nvSpPr>
          <p:cNvPr id="48" name="Shape 46"/>
          <p:cNvSpPr/>
          <p:nvPr/>
        </p:nvSpPr>
        <p:spPr>
          <a:xfrm>
            <a:off x="502920" y="4069080"/>
            <a:ext cx="3703320" cy="548640"/>
          </a:xfrm>
          <a:prstGeom prst="rect">
            <a:avLst/>
          </a:prstGeom>
          <a:solidFill>
            <a:srgbClr val="111111"/>
          </a:solidFill>
          <a:ln w="12700">
            <a:solidFill>
              <a:srgbClr val="111111"/>
            </a:solidFill>
            <a:prstDash val="solid"/>
          </a:ln>
        </p:spPr>
      </p:sp>
      <p:sp>
        <p:nvSpPr>
          <p:cNvPr id="49" name="Text 47"/>
          <p:cNvSpPr/>
          <p:nvPr/>
        </p:nvSpPr>
        <p:spPr>
          <a:xfrm>
            <a:off x="640080" y="4069080"/>
            <a:ext cx="548640" cy="54864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ea typeface="Calibri" pitchFamily="34" charset="-122"/>
                <a:cs typeface="Calibri" pitchFamily="34" charset="-120"/>
              </a:rPr>
              <a:t>04</a:t>
            </a:r>
            <a:endParaRPr lang="en-US" sz="1300" dirty="0"/>
          </a:p>
        </p:txBody>
      </p:sp>
      <p:sp>
        <p:nvSpPr>
          <p:cNvPr id="50" name="Text 48"/>
          <p:cNvSpPr/>
          <p:nvPr/>
        </p:nvSpPr>
        <p:spPr>
          <a:xfrm>
            <a:off x="1188720" y="4069080"/>
            <a:ext cx="2971800" cy="54864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Lower barriers to entry</a:t>
            </a:r>
            <a:endParaRPr lang="en-US" sz="1200" dirty="0"/>
          </a:p>
        </p:txBody>
      </p:sp>
      <p:sp>
        <p:nvSpPr>
          <p:cNvPr id="51" name="Text 49"/>
          <p:cNvSpPr/>
          <p:nvPr/>
        </p:nvSpPr>
        <p:spPr>
          <a:xfrm>
            <a:off x="685800" y="4754880"/>
            <a:ext cx="3383280" cy="1280160"/>
          </a:xfrm>
          <a:prstGeom prst="rect">
            <a:avLst/>
          </a:prstGeom>
          <a:noFill/>
          <a:ln/>
        </p:spPr>
        <p:txBody>
          <a:bodyPr wrap="square" lIns="0" tIns="0" rIns="0" bIns="0" rtlCol="0" anchor="ctr"/>
          <a:lstStyle/>
          <a:p>
            <a:pPr indent="0" marL="0">
              <a:buNone/>
            </a:pPr>
            <a:r>
              <a:rPr lang="en-US" sz="1100" dirty="0">
                <a:solidFill>
                  <a:srgbClr val="444444"/>
                </a:solidFill>
                <a:latin typeface="Calibri" pitchFamily="34" charset="0"/>
                <a:ea typeface="Calibri" pitchFamily="34" charset="-122"/>
                <a:cs typeface="Calibri" pitchFamily="34" charset="-120"/>
              </a:rPr>
              <a:t>Pre-integrated cybersecurity, fintech, OTT, loyalty — no new vendor contracts.</a:t>
            </a:r>
            <a:endParaRPr lang="en-US" sz="1100" dirty="0"/>
          </a:p>
        </p:txBody>
      </p:sp>
      <p:sp>
        <p:nvSpPr>
          <p:cNvPr id="52" name="Shape 50"/>
          <p:cNvSpPr/>
          <p:nvPr/>
        </p:nvSpPr>
        <p:spPr>
          <a:xfrm>
            <a:off x="4389120" y="4069080"/>
            <a:ext cx="3703320" cy="2011680"/>
          </a:xfrm>
          <a:prstGeom prst="rect">
            <a:avLst/>
          </a:prstGeom>
          <a:solidFill>
            <a:srgbClr val="FFFFFF"/>
          </a:solidFill>
          <a:ln w="9525">
            <a:solidFill>
              <a:srgbClr val="111111"/>
            </a:solidFill>
            <a:prstDash val="solid"/>
          </a:ln>
        </p:spPr>
      </p:sp>
      <p:sp>
        <p:nvSpPr>
          <p:cNvPr id="53" name="Shape 51"/>
          <p:cNvSpPr/>
          <p:nvPr/>
        </p:nvSpPr>
        <p:spPr>
          <a:xfrm>
            <a:off x="4389120" y="4069080"/>
            <a:ext cx="3703320" cy="548640"/>
          </a:xfrm>
          <a:prstGeom prst="rect">
            <a:avLst/>
          </a:prstGeom>
          <a:solidFill>
            <a:srgbClr val="111111"/>
          </a:solidFill>
          <a:ln w="12700">
            <a:solidFill>
              <a:srgbClr val="111111"/>
            </a:solidFill>
            <a:prstDash val="solid"/>
          </a:ln>
        </p:spPr>
      </p:sp>
      <p:sp>
        <p:nvSpPr>
          <p:cNvPr id="54" name="Text 52"/>
          <p:cNvSpPr/>
          <p:nvPr/>
        </p:nvSpPr>
        <p:spPr>
          <a:xfrm>
            <a:off x="4526280" y="4069080"/>
            <a:ext cx="548640" cy="54864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ea typeface="Calibri" pitchFamily="34" charset="-122"/>
                <a:cs typeface="Calibri" pitchFamily="34" charset="-120"/>
              </a:rPr>
              <a:t>05</a:t>
            </a:r>
            <a:endParaRPr lang="en-US" sz="1300" dirty="0"/>
          </a:p>
        </p:txBody>
      </p:sp>
      <p:sp>
        <p:nvSpPr>
          <p:cNvPr id="55" name="Text 53"/>
          <p:cNvSpPr/>
          <p:nvPr/>
        </p:nvSpPr>
        <p:spPr>
          <a:xfrm>
            <a:off x="5074920" y="4069080"/>
            <a:ext cx="2971800" cy="54864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Cost-efficient</a:t>
            </a:r>
            <a:endParaRPr lang="en-US" sz="1200" dirty="0"/>
          </a:p>
        </p:txBody>
      </p:sp>
      <p:sp>
        <p:nvSpPr>
          <p:cNvPr id="56" name="Text 54"/>
          <p:cNvSpPr/>
          <p:nvPr/>
        </p:nvSpPr>
        <p:spPr>
          <a:xfrm>
            <a:off x="4572000" y="4754880"/>
            <a:ext cx="3383280" cy="1280160"/>
          </a:xfrm>
          <a:prstGeom prst="rect">
            <a:avLst/>
          </a:prstGeom>
          <a:noFill/>
          <a:ln/>
        </p:spPr>
        <p:txBody>
          <a:bodyPr wrap="square" lIns="0" tIns="0" rIns="0" bIns="0" rtlCol="0" anchor="ctr"/>
          <a:lstStyle/>
          <a:p>
            <a:pPr indent="0" marL="0">
              <a:buNone/>
            </a:pPr>
            <a:r>
              <a:rPr lang="en-US" sz="1100" dirty="0">
                <a:solidFill>
                  <a:srgbClr val="444444"/>
                </a:solidFill>
                <a:latin typeface="Calibri" pitchFamily="34" charset="0"/>
                <a:ea typeface="Calibri" pitchFamily="34" charset="-122"/>
                <a:cs typeface="Calibri" pitchFamily="34" charset="-120"/>
              </a:rPr>
              <a:t>No need to build complex infrastructure. API-first architecture, minimal capex.</a:t>
            </a:r>
            <a:endParaRPr lang="en-US" sz="1100" dirty="0"/>
          </a:p>
        </p:txBody>
      </p:sp>
      <p:sp>
        <p:nvSpPr>
          <p:cNvPr id="57" name="Shape 55"/>
          <p:cNvSpPr/>
          <p:nvPr/>
        </p:nvSpPr>
        <p:spPr>
          <a:xfrm>
            <a:off x="8275320" y="4069080"/>
            <a:ext cx="3703320" cy="2011680"/>
          </a:xfrm>
          <a:prstGeom prst="rect">
            <a:avLst/>
          </a:prstGeom>
          <a:solidFill>
            <a:srgbClr val="FFFFFF"/>
          </a:solidFill>
          <a:ln w="9525">
            <a:solidFill>
              <a:srgbClr val="111111"/>
            </a:solidFill>
            <a:prstDash val="solid"/>
          </a:ln>
        </p:spPr>
      </p:sp>
      <p:sp>
        <p:nvSpPr>
          <p:cNvPr id="58" name="Shape 56"/>
          <p:cNvSpPr/>
          <p:nvPr/>
        </p:nvSpPr>
        <p:spPr>
          <a:xfrm>
            <a:off x="8275320" y="4069080"/>
            <a:ext cx="3703320" cy="548640"/>
          </a:xfrm>
          <a:prstGeom prst="rect">
            <a:avLst/>
          </a:prstGeom>
          <a:solidFill>
            <a:srgbClr val="111111"/>
          </a:solidFill>
          <a:ln w="12700">
            <a:solidFill>
              <a:srgbClr val="111111"/>
            </a:solidFill>
            <a:prstDash val="solid"/>
          </a:ln>
        </p:spPr>
      </p:sp>
      <p:sp>
        <p:nvSpPr>
          <p:cNvPr id="59" name="Text 57"/>
          <p:cNvSpPr/>
          <p:nvPr/>
        </p:nvSpPr>
        <p:spPr>
          <a:xfrm>
            <a:off x="8412480" y="4069080"/>
            <a:ext cx="548640" cy="54864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ea typeface="Calibri" pitchFamily="34" charset="-122"/>
                <a:cs typeface="Calibri" pitchFamily="34" charset="-120"/>
              </a:rPr>
              <a:t>06</a:t>
            </a:r>
            <a:endParaRPr lang="en-US" sz="1300" dirty="0"/>
          </a:p>
        </p:txBody>
      </p:sp>
      <p:sp>
        <p:nvSpPr>
          <p:cNvPr id="60" name="Text 58"/>
          <p:cNvSpPr/>
          <p:nvPr/>
        </p:nvSpPr>
        <p:spPr>
          <a:xfrm>
            <a:off x="8961120" y="4069080"/>
            <a:ext cx="2971800" cy="54864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VAS-ready</a:t>
            </a:r>
            <a:endParaRPr lang="en-US" sz="1200" dirty="0"/>
          </a:p>
        </p:txBody>
      </p:sp>
      <p:sp>
        <p:nvSpPr>
          <p:cNvPr id="61" name="Text 59"/>
          <p:cNvSpPr/>
          <p:nvPr/>
        </p:nvSpPr>
        <p:spPr>
          <a:xfrm>
            <a:off x="8458200" y="4754880"/>
            <a:ext cx="3383280" cy="1280160"/>
          </a:xfrm>
          <a:prstGeom prst="rect">
            <a:avLst/>
          </a:prstGeom>
          <a:noFill/>
          <a:ln/>
        </p:spPr>
        <p:txBody>
          <a:bodyPr wrap="square" lIns="0" tIns="0" rIns="0" bIns="0" rtlCol="0" anchor="ctr"/>
          <a:lstStyle/>
          <a:p>
            <a:pPr indent="0" marL="0">
              <a:buNone/>
            </a:pPr>
            <a:r>
              <a:rPr lang="en-US" sz="1100" dirty="0">
                <a:solidFill>
                  <a:srgbClr val="444444"/>
                </a:solidFill>
                <a:latin typeface="Calibri" pitchFamily="34" charset="0"/>
                <a:ea typeface="Calibri" pitchFamily="34" charset="-122"/>
                <a:cs typeface="Calibri" pitchFamily="34" charset="-120"/>
              </a:rPr>
              <a:t>Every value-added service is live on the platform today and available on day one.</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20040" y="182880"/>
            <a:ext cx="1417320" cy="438912"/>
          </a:xfrm>
          <a:prstGeom prst="rect">
            <a:avLst/>
          </a:prstGeom>
          <a:solidFill>
            <a:srgbClr val="111111"/>
          </a:solidFill>
          <a:ln w="12700">
            <a:solidFill>
              <a:srgbClr val="111111"/>
            </a:solidFill>
            <a:prstDash val="solid"/>
          </a:ln>
        </p:spPr>
      </p:sp>
      <p:sp>
        <p:nvSpPr>
          <p:cNvPr id="3" name="Text 1"/>
          <p:cNvSpPr/>
          <p:nvPr/>
        </p:nvSpPr>
        <p:spPr>
          <a:xfrm>
            <a:off x="320040" y="182880"/>
            <a:ext cx="1417320" cy="438912"/>
          </a:xfrm>
          <a:prstGeom prst="rect">
            <a:avLst/>
          </a:prstGeom>
          <a:noFill/>
          <a:ln/>
        </p:spPr>
        <p:txBody>
          <a:bodyPr wrap="square" lIns="0" tIns="0" rIns="0" bIns="0" rtlCol="0" anchor="ctr"/>
          <a:lstStyle/>
          <a:p>
            <a:pPr algn="ctr" indent="0" marL="0">
              <a:buNone/>
            </a:pPr>
            <a:r>
              <a:rPr lang="en-US" sz="1500" b="1" spc="400" kern="0" dirty="0">
                <a:solidFill>
                  <a:srgbClr val="FFFFFF"/>
                </a:solidFill>
                <a:latin typeface="Calibri" pitchFamily="34" charset="0"/>
                <a:ea typeface="Calibri" pitchFamily="34" charset="-122"/>
                <a:cs typeface="Calibri" pitchFamily="34" charset="-120"/>
              </a:rPr>
              <a:t>ARENA
</a:t>
            </a:r>
            <a:pPr algn="ctr" indent="0" marL="0">
              <a:buNone/>
            </a:pPr>
            <a:r>
              <a:rPr lang="en-US" sz="600" spc="400" kern="0" dirty="0">
                <a:solidFill>
                  <a:srgbClr val="FFFFFF"/>
                </a:solidFill>
                <a:latin typeface="Calibri" pitchFamily="34" charset="0"/>
                <a:ea typeface="Calibri" pitchFamily="34" charset="-122"/>
                <a:cs typeface="Calibri" pitchFamily="34" charset="-120"/>
              </a:rPr>
              <a:t>H O L D I N G S</a:t>
            </a:r>
            <a:endParaRPr lang="en-US" sz="1500" dirty="0"/>
          </a:p>
        </p:txBody>
      </p:sp>
      <p:sp>
        <p:nvSpPr>
          <p:cNvPr id="4" name="Shape 2"/>
          <p:cNvSpPr/>
          <p:nvPr/>
        </p:nvSpPr>
        <p:spPr>
          <a:xfrm>
            <a:off x="9677095" y="246888"/>
            <a:ext cx="201168" cy="201168"/>
          </a:xfrm>
          <a:prstGeom prst="ellipse">
            <a:avLst/>
          </a:prstGeom>
          <a:solidFill>
            <a:srgbClr val="111111"/>
          </a:solidFill>
          <a:ln w="12700">
            <a:solidFill>
              <a:srgbClr val="111111"/>
            </a:solidFill>
            <a:prstDash val="solid"/>
          </a:ln>
        </p:spPr>
      </p:sp>
      <p:sp>
        <p:nvSpPr>
          <p:cNvPr id="5" name="Text 3"/>
          <p:cNvSpPr/>
          <p:nvPr/>
        </p:nvSpPr>
        <p:spPr>
          <a:xfrm>
            <a:off x="9923983" y="210312"/>
            <a:ext cx="2011680" cy="274320"/>
          </a:xfrm>
          <a:prstGeom prst="rect">
            <a:avLst/>
          </a:prstGeom>
          <a:noFill/>
          <a:ln/>
        </p:spPr>
        <p:txBody>
          <a:bodyPr wrap="square" lIns="0" tIns="0" rIns="0" bIns="0" rtlCol="0" anchor="ctr"/>
          <a:lstStyle/>
          <a:p>
            <a:pPr algn="l" indent="0" marL="0">
              <a:buNone/>
            </a:pPr>
            <a:r>
              <a:rPr lang="en-US" sz="1000" b="1" i="1" dirty="0">
                <a:solidFill>
                  <a:srgbClr val="111111"/>
                </a:solidFill>
                <a:latin typeface="Calibri" pitchFamily="34" charset="0"/>
                <a:ea typeface="Calibri" pitchFamily="34" charset="-122"/>
                <a:cs typeface="Calibri" pitchFamily="34" charset="-120"/>
              </a:rPr>
              <a:t>#DoingSomethingGreat</a:t>
            </a:r>
            <a:endParaRPr lang="en-US" sz="1000" dirty="0"/>
          </a:p>
        </p:txBody>
      </p:sp>
      <p:sp>
        <p:nvSpPr>
          <p:cNvPr id="6" name="Shape 4"/>
          <p:cNvSpPr/>
          <p:nvPr/>
        </p:nvSpPr>
        <p:spPr>
          <a:xfrm>
            <a:off x="5973775" y="0"/>
            <a:ext cx="6217920" cy="1463040"/>
          </a:xfrm>
          <a:prstGeom prst="rect">
            <a:avLst/>
          </a:prstGeom>
          <a:solidFill>
            <a:srgbClr val="F5F5F5"/>
          </a:solidFill>
          <a:ln w="12700">
            <a:solidFill>
              <a:srgbClr val="F5F5F5"/>
            </a:solidFill>
            <a:prstDash val="solid"/>
          </a:ln>
        </p:spPr>
      </p:sp>
      <p:sp>
        <p:nvSpPr>
          <p:cNvPr id="7" name="Shape 5"/>
          <p:cNvSpPr/>
          <p:nvPr/>
        </p:nvSpPr>
        <p:spPr>
          <a:xfrm>
            <a:off x="6248095" y="0"/>
            <a:ext cx="-1280160" cy="1280160"/>
          </a:xfrm>
          <a:prstGeom prst="line">
            <a:avLst/>
          </a:prstGeom>
          <a:noFill/>
          <a:ln w="9525">
            <a:solidFill>
              <a:srgbClr val="EDEDED"/>
            </a:solidFill>
            <a:prstDash val="solid"/>
          </a:ln>
        </p:spPr>
      </p:sp>
      <p:sp>
        <p:nvSpPr>
          <p:cNvPr id="8" name="Shape 6"/>
          <p:cNvSpPr/>
          <p:nvPr/>
        </p:nvSpPr>
        <p:spPr>
          <a:xfrm>
            <a:off x="6659575" y="0"/>
            <a:ext cx="-1280160" cy="1280160"/>
          </a:xfrm>
          <a:prstGeom prst="line">
            <a:avLst/>
          </a:prstGeom>
          <a:noFill/>
          <a:ln w="9525">
            <a:solidFill>
              <a:srgbClr val="EDEDED"/>
            </a:solidFill>
            <a:prstDash val="solid"/>
          </a:ln>
        </p:spPr>
      </p:sp>
      <p:sp>
        <p:nvSpPr>
          <p:cNvPr id="9" name="Shape 7"/>
          <p:cNvSpPr/>
          <p:nvPr/>
        </p:nvSpPr>
        <p:spPr>
          <a:xfrm>
            <a:off x="7071055" y="0"/>
            <a:ext cx="-1280160" cy="1280160"/>
          </a:xfrm>
          <a:prstGeom prst="line">
            <a:avLst/>
          </a:prstGeom>
          <a:noFill/>
          <a:ln w="9525">
            <a:solidFill>
              <a:srgbClr val="EDEDED"/>
            </a:solidFill>
            <a:prstDash val="solid"/>
          </a:ln>
        </p:spPr>
      </p:sp>
      <p:sp>
        <p:nvSpPr>
          <p:cNvPr id="10" name="Shape 8"/>
          <p:cNvSpPr/>
          <p:nvPr/>
        </p:nvSpPr>
        <p:spPr>
          <a:xfrm>
            <a:off x="7482535" y="0"/>
            <a:ext cx="-1280160" cy="1280160"/>
          </a:xfrm>
          <a:prstGeom prst="line">
            <a:avLst/>
          </a:prstGeom>
          <a:noFill/>
          <a:ln w="9525">
            <a:solidFill>
              <a:srgbClr val="EDEDED"/>
            </a:solidFill>
            <a:prstDash val="solid"/>
          </a:ln>
        </p:spPr>
      </p:sp>
      <p:sp>
        <p:nvSpPr>
          <p:cNvPr id="11" name="Shape 9"/>
          <p:cNvSpPr/>
          <p:nvPr/>
        </p:nvSpPr>
        <p:spPr>
          <a:xfrm>
            <a:off x="7894015" y="0"/>
            <a:ext cx="-1280160" cy="1280160"/>
          </a:xfrm>
          <a:prstGeom prst="line">
            <a:avLst/>
          </a:prstGeom>
          <a:noFill/>
          <a:ln w="9525">
            <a:solidFill>
              <a:srgbClr val="EDEDED"/>
            </a:solidFill>
            <a:prstDash val="solid"/>
          </a:ln>
        </p:spPr>
      </p:sp>
      <p:sp>
        <p:nvSpPr>
          <p:cNvPr id="12" name="Shape 10"/>
          <p:cNvSpPr/>
          <p:nvPr/>
        </p:nvSpPr>
        <p:spPr>
          <a:xfrm>
            <a:off x="8305495" y="0"/>
            <a:ext cx="-1280160" cy="1280160"/>
          </a:xfrm>
          <a:prstGeom prst="line">
            <a:avLst/>
          </a:prstGeom>
          <a:noFill/>
          <a:ln w="9525">
            <a:solidFill>
              <a:srgbClr val="EDEDED"/>
            </a:solidFill>
            <a:prstDash val="solid"/>
          </a:ln>
        </p:spPr>
      </p:sp>
      <p:sp>
        <p:nvSpPr>
          <p:cNvPr id="13" name="Shape 11"/>
          <p:cNvSpPr/>
          <p:nvPr/>
        </p:nvSpPr>
        <p:spPr>
          <a:xfrm>
            <a:off x="8716975" y="0"/>
            <a:ext cx="-1280160" cy="1280160"/>
          </a:xfrm>
          <a:prstGeom prst="line">
            <a:avLst/>
          </a:prstGeom>
          <a:noFill/>
          <a:ln w="9525">
            <a:solidFill>
              <a:srgbClr val="EDEDED"/>
            </a:solidFill>
            <a:prstDash val="solid"/>
          </a:ln>
        </p:spPr>
      </p:sp>
      <p:sp>
        <p:nvSpPr>
          <p:cNvPr id="14" name="Shape 12"/>
          <p:cNvSpPr/>
          <p:nvPr/>
        </p:nvSpPr>
        <p:spPr>
          <a:xfrm>
            <a:off x="9128455" y="0"/>
            <a:ext cx="-1280160" cy="1280160"/>
          </a:xfrm>
          <a:prstGeom prst="line">
            <a:avLst/>
          </a:prstGeom>
          <a:noFill/>
          <a:ln w="9525">
            <a:solidFill>
              <a:srgbClr val="EDEDED"/>
            </a:solidFill>
            <a:prstDash val="solid"/>
          </a:ln>
        </p:spPr>
      </p:sp>
      <p:sp>
        <p:nvSpPr>
          <p:cNvPr id="15" name="Shape 13"/>
          <p:cNvSpPr/>
          <p:nvPr/>
        </p:nvSpPr>
        <p:spPr>
          <a:xfrm>
            <a:off x="9539935" y="0"/>
            <a:ext cx="-1280160" cy="1280160"/>
          </a:xfrm>
          <a:prstGeom prst="line">
            <a:avLst/>
          </a:prstGeom>
          <a:noFill/>
          <a:ln w="9525">
            <a:solidFill>
              <a:srgbClr val="EDEDED"/>
            </a:solidFill>
            <a:prstDash val="solid"/>
          </a:ln>
        </p:spPr>
      </p:sp>
      <p:sp>
        <p:nvSpPr>
          <p:cNvPr id="16" name="Shape 14"/>
          <p:cNvSpPr/>
          <p:nvPr/>
        </p:nvSpPr>
        <p:spPr>
          <a:xfrm>
            <a:off x="9951415" y="0"/>
            <a:ext cx="-1280160" cy="1280160"/>
          </a:xfrm>
          <a:prstGeom prst="line">
            <a:avLst/>
          </a:prstGeom>
          <a:noFill/>
          <a:ln w="9525">
            <a:solidFill>
              <a:srgbClr val="EDEDED"/>
            </a:solidFill>
            <a:prstDash val="solid"/>
          </a:ln>
        </p:spPr>
      </p:sp>
      <p:sp>
        <p:nvSpPr>
          <p:cNvPr id="17" name="Shape 15"/>
          <p:cNvSpPr/>
          <p:nvPr/>
        </p:nvSpPr>
        <p:spPr>
          <a:xfrm>
            <a:off x="10362895" y="0"/>
            <a:ext cx="-1280160" cy="1280160"/>
          </a:xfrm>
          <a:prstGeom prst="line">
            <a:avLst/>
          </a:prstGeom>
          <a:noFill/>
          <a:ln w="9525">
            <a:solidFill>
              <a:srgbClr val="EDEDED"/>
            </a:solidFill>
            <a:prstDash val="solid"/>
          </a:ln>
        </p:spPr>
      </p:sp>
      <p:sp>
        <p:nvSpPr>
          <p:cNvPr id="18" name="Shape 16"/>
          <p:cNvSpPr/>
          <p:nvPr/>
        </p:nvSpPr>
        <p:spPr>
          <a:xfrm>
            <a:off x="10774375" y="0"/>
            <a:ext cx="-1280160" cy="1280160"/>
          </a:xfrm>
          <a:prstGeom prst="line">
            <a:avLst/>
          </a:prstGeom>
          <a:noFill/>
          <a:ln w="9525">
            <a:solidFill>
              <a:srgbClr val="EDEDED"/>
            </a:solidFill>
            <a:prstDash val="solid"/>
          </a:ln>
        </p:spPr>
      </p:sp>
      <p:sp>
        <p:nvSpPr>
          <p:cNvPr id="19" name="Shape 17"/>
          <p:cNvSpPr/>
          <p:nvPr/>
        </p:nvSpPr>
        <p:spPr>
          <a:xfrm>
            <a:off x="11185855" y="0"/>
            <a:ext cx="-1280160" cy="1280160"/>
          </a:xfrm>
          <a:prstGeom prst="line">
            <a:avLst/>
          </a:prstGeom>
          <a:noFill/>
          <a:ln w="9525">
            <a:solidFill>
              <a:srgbClr val="EDEDED"/>
            </a:solidFill>
            <a:prstDash val="solid"/>
          </a:ln>
        </p:spPr>
      </p:sp>
      <p:sp>
        <p:nvSpPr>
          <p:cNvPr id="20" name="Shape 18"/>
          <p:cNvSpPr/>
          <p:nvPr/>
        </p:nvSpPr>
        <p:spPr>
          <a:xfrm>
            <a:off x="11597335" y="0"/>
            <a:ext cx="-1280160" cy="1280160"/>
          </a:xfrm>
          <a:prstGeom prst="line">
            <a:avLst/>
          </a:prstGeom>
          <a:noFill/>
          <a:ln w="9525">
            <a:solidFill>
              <a:srgbClr val="EDEDED"/>
            </a:solidFill>
            <a:prstDash val="solid"/>
          </a:ln>
        </p:spPr>
      </p:sp>
      <p:sp>
        <p:nvSpPr>
          <p:cNvPr id="21" name="Shape 19"/>
          <p:cNvSpPr/>
          <p:nvPr/>
        </p:nvSpPr>
        <p:spPr>
          <a:xfrm>
            <a:off x="320040" y="1481328"/>
            <a:ext cx="11551615" cy="0"/>
          </a:xfrm>
          <a:prstGeom prst="line">
            <a:avLst/>
          </a:prstGeom>
          <a:noFill/>
          <a:ln w="15875">
            <a:solidFill>
              <a:srgbClr val="111111"/>
            </a:solidFill>
            <a:prstDash val="solid"/>
          </a:ln>
        </p:spPr>
      </p:sp>
      <p:sp>
        <p:nvSpPr>
          <p:cNvPr id="22" name="Text 20"/>
          <p:cNvSpPr/>
          <p:nvPr/>
        </p:nvSpPr>
        <p:spPr>
          <a:xfrm>
            <a:off x="5486400" y="292608"/>
            <a:ext cx="6309360" cy="685800"/>
          </a:xfrm>
          <a:prstGeom prst="rect">
            <a:avLst/>
          </a:prstGeom>
          <a:noFill/>
          <a:ln/>
        </p:spPr>
        <p:txBody>
          <a:bodyPr wrap="square" lIns="0" tIns="0" rIns="0" bIns="0" rtlCol="0" anchor="ctr"/>
          <a:lstStyle/>
          <a:p>
            <a:pPr algn="r" indent="0" marL="0">
              <a:buNone/>
            </a:pPr>
            <a:r>
              <a:rPr lang="en-US" sz="2600" b="1" dirty="0">
                <a:solidFill>
                  <a:srgbClr val="111111"/>
                </a:solidFill>
                <a:latin typeface="Calibri" pitchFamily="34" charset="0"/>
                <a:ea typeface="Calibri" pitchFamily="34" charset="-122"/>
                <a:cs typeface="Calibri" pitchFamily="34" charset="-120"/>
              </a:rPr>
              <a:t>What today was really about</a:t>
            </a:r>
            <a:endParaRPr lang="en-US" sz="2600" dirty="0"/>
          </a:p>
        </p:txBody>
      </p:sp>
      <p:sp>
        <p:nvSpPr>
          <p:cNvPr id="23" name="Text 21"/>
          <p:cNvSpPr/>
          <p:nvPr/>
        </p:nvSpPr>
        <p:spPr>
          <a:xfrm>
            <a:off x="5486400" y="960120"/>
            <a:ext cx="6309360" cy="365760"/>
          </a:xfrm>
          <a:prstGeom prst="rect">
            <a:avLst/>
          </a:prstGeom>
          <a:noFill/>
          <a:ln/>
        </p:spPr>
        <p:txBody>
          <a:bodyPr wrap="square" lIns="0" tIns="0" rIns="0" bIns="0" rtlCol="0" anchor="ctr"/>
          <a:lstStyle/>
          <a:p>
            <a:pPr algn="r" indent="0" marL="0">
              <a:buNone/>
            </a:pPr>
            <a:r>
              <a:rPr lang="en-US" sz="1200" i="1" dirty="0">
                <a:solidFill>
                  <a:srgbClr val="6B6B6B"/>
                </a:solidFill>
                <a:latin typeface="Calibri" pitchFamily="34" charset="0"/>
                <a:ea typeface="Calibri" pitchFamily="34" charset="-122"/>
                <a:cs typeface="Calibri" pitchFamily="34" charset="-120"/>
              </a:rPr>
              <a:t>MVNOs don't compete on price. They win on value.</a:t>
            </a:r>
            <a:endParaRPr lang="en-US" sz="1200" dirty="0"/>
          </a:p>
        </p:txBody>
      </p:sp>
      <p:sp>
        <p:nvSpPr>
          <p:cNvPr id="24" name="Shape 22"/>
          <p:cNvSpPr/>
          <p:nvPr/>
        </p:nvSpPr>
        <p:spPr>
          <a:xfrm>
            <a:off x="320040" y="6355080"/>
            <a:ext cx="11551615" cy="0"/>
          </a:xfrm>
          <a:prstGeom prst="line">
            <a:avLst/>
          </a:prstGeom>
          <a:noFill/>
          <a:ln w="6350">
            <a:solidFill>
              <a:srgbClr val="BFBFBF"/>
            </a:solidFill>
            <a:prstDash val="solid"/>
          </a:ln>
        </p:spPr>
      </p:sp>
      <p:sp>
        <p:nvSpPr>
          <p:cNvPr id="25" name="Shape 23"/>
          <p:cNvSpPr/>
          <p:nvPr/>
        </p:nvSpPr>
        <p:spPr>
          <a:xfrm>
            <a:off x="320040" y="6473952"/>
            <a:ext cx="502920" cy="237744"/>
          </a:xfrm>
          <a:prstGeom prst="rect">
            <a:avLst/>
          </a:prstGeom>
          <a:solidFill>
            <a:srgbClr val="111111"/>
          </a:solidFill>
          <a:ln w="12700">
            <a:solidFill>
              <a:srgbClr val="111111"/>
            </a:solidFill>
            <a:prstDash val="solid"/>
          </a:ln>
        </p:spPr>
      </p:sp>
      <p:sp>
        <p:nvSpPr>
          <p:cNvPr id="26" name="Text 24"/>
          <p:cNvSpPr/>
          <p:nvPr/>
        </p:nvSpPr>
        <p:spPr>
          <a:xfrm>
            <a:off x="320040" y="6473952"/>
            <a:ext cx="502920" cy="237744"/>
          </a:xfrm>
          <a:prstGeom prst="rect">
            <a:avLst/>
          </a:prstGeom>
          <a:noFill/>
          <a:ln/>
        </p:spPr>
        <p:txBody>
          <a:bodyPr wrap="square" lIns="0" tIns="0" rIns="0" bIns="0" rtlCol="0" anchor="ctr"/>
          <a:lstStyle/>
          <a:p>
            <a:pPr algn="ctr" indent="0" marL="0">
              <a:buNone/>
            </a:pPr>
            <a:r>
              <a:rPr lang="en-US" sz="900" b="1" spc="200" kern="0" dirty="0">
                <a:solidFill>
                  <a:srgbClr val="FFFFFF"/>
                </a:solidFill>
                <a:latin typeface="Calibri" pitchFamily="34" charset="0"/>
                <a:ea typeface="Calibri" pitchFamily="34" charset="-122"/>
                <a:cs typeface="Calibri" pitchFamily="34" charset="-120"/>
              </a:rPr>
              <a:t>DSG</a:t>
            </a:r>
            <a:endParaRPr lang="en-US" sz="900" dirty="0"/>
          </a:p>
        </p:txBody>
      </p:sp>
      <p:sp>
        <p:nvSpPr>
          <p:cNvPr id="27" name="Text 25"/>
          <p:cNvSpPr/>
          <p:nvPr/>
        </p:nvSpPr>
        <p:spPr>
          <a:xfrm>
            <a:off x="868680" y="6473952"/>
            <a:ext cx="2194560" cy="237744"/>
          </a:xfrm>
          <a:prstGeom prst="rect">
            <a:avLst/>
          </a:prstGeom>
          <a:noFill/>
          <a:ln/>
        </p:spPr>
        <p:txBody>
          <a:bodyPr wrap="square" lIns="0" tIns="0" rIns="0" bIns="0" rtlCol="0" anchor="ctr"/>
          <a:lstStyle/>
          <a:p>
            <a:pPr indent="0" marL="0">
              <a:buNone/>
            </a:pPr>
            <a:r>
              <a:rPr lang="en-US" sz="650" spc="200" kern="0" dirty="0">
                <a:solidFill>
                  <a:srgbClr val="6B6B6B"/>
                </a:solidFill>
                <a:latin typeface="Calibri" pitchFamily="34" charset="0"/>
                <a:ea typeface="Calibri" pitchFamily="34" charset="-122"/>
                <a:cs typeface="Calibri" pitchFamily="34" charset="-120"/>
              </a:rPr>
              <a:t>DIGITAL SOLUTIONS GROUP</a:t>
            </a:r>
            <a:endParaRPr lang="en-US" sz="650" dirty="0"/>
          </a:p>
        </p:txBody>
      </p:sp>
      <p:sp>
        <p:nvSpPr>
          <p:cNvPr id="28" name="Text 26"/>
          <p:cNvSpPr/>
          <p:nvPr/>
        </p:nvSpPr>
        <p:spPr>
          <a:xfrm>
            <a:off x="4754880" y="6473952"/>
            <a:ext cx="2743200" cy="237744"/>
          </a:xfrm>
          <a:prstGeom prst="rect">
            <a:avLst/>
          </a:prstGeom>
          <a:noFill/>
          <a:ln/>
        </p:spPr>
        <p:txBody>
          <a:bodyPr wrap="square" lIns="0" tIns="0" rIns="0" bIns="0" rtlCol="0" anchor="ctr"/>
          <a:lstStyle/>
          <a:p>
            <a:pPr algn="ctr" indent="0" marL="0">
              <a:buNone/>
            </a:pPr>
            <a:r>
              <a:rPr lang="en-US" sz="1100" b="1" dirty="0">
                <a:solidFill>
                  <a:srgbClr val="111111"/>
                </a:solidFill>
                <a:latin typeface="Calibri" pitchFamily="34" charset="0"/>
                <a:ea typeface="Calibri" pitchFamily="34" charset="-122"/>
                <a:cs typeface="Calibri" pitchFamily="34" charset="-120"/>
              </a:rPr>
              <a:t>digital</a:t>
            </a:r>
            <a:pPr algn="ctr" indent="0" marL="0">
              <a:buNone/>
            </a:pPr>
            <a:r>
              <a:rPr lang="en-US" sz="1100" b="1" dirty="0">
                <a:solidFill>
                  <a:srgbClr val="6B6B6B"/>
                </a:solidFill>
                <a:latin typeface="Calibri" pitchFamily="34" charset="0"/>
                <a:ea typeface="Calibri" pitchFamily="34" charset="-122"/>
                <a:cs typeface="Calibri" pitchFamily="34" charset="-120"/>
              </a:rPr>
              <a:t>mobile</a:t>
            </a:r>
            <a:endParaRPr lang="en-US" sz="1100" dirty="0"/>
          </a:p>
        </p:txBody>
      </p:sp>
      <p:sp>
        <p:nvSpPr>
          <p:cNvPr id="29" name="Shape 27"/>
          <p:cNvSpPr/>
          <p:nvPr/>
        </p:nvSpPr>
        <p:spPr>
          <a:xfrm>
            <a:off x="8595360" y="6519672"/>
            <a:ext cx="146304" cy="146304"/>
          </a:xfrm>
          <a:prstGeom prst="ellipse">
            <a:avLst/>
          </a:prstGeom>
          <a:solidFill>
            <a:srgbClr val="111111"/>
          </a:solidFill>
          <a:ln w="12700">
            <a:solidFill>
              <a:srgbClr val="111111"/>
            </a:solidFill>
            <a:prstDash val="solid"/>
          </a:ln>
        </p:spPr>
      </p:sp>
      <p:sp>
        <p:nvSpPr>
          <p:cNvPr id="30" name="Text 28"/>
          <p:cNvSpPr/>
          <p:nvPr/>
        </p:nvSpPr>
        <p:spPr>
          <a:xfrm>
            <a:off x="8778240" y="6473952"/>
            <a:ext cx="2194560" cy="237744"/>
          </a:xfrm>
          <a:prstGeom prst="rect">
            <a:avLst/>
          </a:prstGeom>
          <a:noFill/>
          <a:ln/>
        </p:spPr>
        <p:txBody>
          <a:bodyPr wrap="square" lIns="0" tIns="0" rIns="0" bIns="0" rtlCol="0" anchor="ctr"/>
          <a:lstStyle/>
          <a:p>
            <a:pPr indent="0" marL="0">
              <a:buNone/>
            </a:pPr>
            <a:r>
              <a:rPr lang="en-US" sz="900" i="1" dirty="0">
                <a:solidFill>
                  <a:srgbClr val="111111"/>
                </a:solidFill>
                <a:latin typeface="Calibri" pitchFamily="34" charset="0"/>
                <a:ea typeface="Calibri" pitchFamily="34" charset="-122"/>
                <a:cs typeface="Calibri" pitchFamily="34" charset="-120"/>
              </a:rPr>
              <a:t>#DoingSomethingGreat</a:t>
            </a:r>
            <a:endParaRPr lang="en-US" sz="900" dirty="0"/>
          </a:p>
        </p:txBody>
      </p:sp>
      <p:sp>
        <p:nvSpPr>
          <p:cNvPr id="31" name="Text 29"/>
          <p:cNvSpPr/>
          <p:nvPr/>
        </p:nvSpPr>
        <p:spPr>
          <a:xfrm>
            <a:off x="11002975" y="6473952"/>
            <a:ext cx="914400" cy="237744"/>
          </a:xfrm>
          <a:prstGeom prst="rect">
            <a:avLst/>
          </a:prstGeom>
          <a:noFill/>
          <a:ln/>
        </p:spPr>
        <p:txBody>
          <a:bodyPr wrap="square" lIns="0" tIns="0" rIns="0" bIns="0" rtlCol="0" anchor="ctr"/>
          <a:lstStyle/>
          <a:p>
            <a:pPr algn="r" indent="0" marL="0">
              <a:buNone/>
            </a:pPr>
            <a:r>
              <a:rPr lang="en-US" sz="800" dirty="0">
                <a:solidFill>
                  <a:srgbClr val="6B6B6B"/>
                </a:solidFill>
                <a:latin typeface="Calibri" pitchFamily="34" charset="0"/>
                <a:ea typeface="Calibri" pitchFamily="34" charset="-122"/>
                <a:cs typeface="Calibri" pitchFamily="34" charset="-120"/>
              </a:rPr>
              <a:t>19 / 20</a:t>
            </a:r>
            <a:endParaRPr lang="en-US" sz="800" dirty="0"/>
          </a:p>
        </p:txBody>
      </p:sp>
      <p:sp>
        <p:nvSpPr>
          <p:cNvPr id="32" name="Text 30"/>
          <p:cNvSpPr/>
          <p:nvPr/>
        </p:nvSpPr>
        <p:spPr>
          <a:xfrm>
            <a:off x="502920" y="1874520"/>
            <a:ext cx="11247120" cy="411480"/>
          </a:xfrm>
          <a:prstGeom prst="rect">
            <a:avLst/>
          </a:prstGeom>
          <a:noFill/>
          <a:ln/>
        </p:spPr>
        <p:txBody>
          <a:bodyPr wrap="square" lIns="0" tIns="0" rIns="0" bIns="0" rtlCol="0" anchor="ctr"/>
          <a:lstStyle/>
          <a:p>
            <a:pPr indent="0" marL="0">
              <a:buNone/>
            </a:pPr>
            <a:r>
              <a:rPr lang="en-US" sz="1300" i="1" dirty="0">
                <a:solidFill>
                  <a:srgbClr val="6B6B6B"/>
                </a:solidFill>
                <a:latin typeface="Calibri" pitchFamily="34" charset="0"/>
                <a:ea typeface="Calibri" pitchFamily="34" charset="-122"/>
                <a:cs typeface="Calibri" pitchFamily="34" charset="-120"/>
              </a:rPr>
              <a:t>We've explored what it takes to build a successful MVNO in 2026 and beyond.</a:t>
            </a:r>
            <a:endParaRPr lang="en-US" sz="1300" dirty="0"/>
          </a:p>
        </p:txBody>
      </p:sp>
      <p:sp>
        <p:nvSpPr>
          <p:cNvPr id="33" name="Shape 31"/>
          <p:cNvSpPr/>
          <p:nvPr/>
        </p:nvSpPr>
        <p:spPr>
          <a:xfrm>
            <a:off x="502920" y="2468880"/>
            <a:ext cx="3108960" cy="594360"/>
          </a:xfrm>
          <a:prstGeom prst="rect">
            <a:avLst/>
          </a:prstGeom>
          <a:solidFill>
            <a:srgbClr val="111111"/>
          </a:solidFill>
          <a:ln w="12700">
            <a:solidFill>
              <a:srgbClr val="111111"/>
            </a:solidFill>
            <a:prstDash val="solid"/>
          </a:ln>
        </p:spPr>
      </p:sp>
      <p:sp>
        <p:nvSpPr>
          <p:cNvPr id="34" name="Text 32"/>
          <p:cNvSpPr/>
          <p:nvPr/>
        </p:nvSpPr>
        <p:spPr>
          <a:xfrm>
            <a:off x="640080" y="2468880"/>
            <a:ext cx="2834640" cy="59436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Strategic CVPs</a:t>
            </a:r>
            <a:endParaRPr lang="en-US" sz="1200" dirty="0"/>
          </a:p>
        </p:txBody>
      </p:sp>
      <p:sp>
        <p:nvSpPr>
          <p:cNvPr id="35" name="Text 33"/>
          <p:cNvSpPr/>
          <p:nvPr/>
        </p:nvSpPr>
        <p:spPr>
          <a:xfrm>
            <a:off x="3749040" y="2468880"/>
            <a:ext cx="7955280" cy="594360"/>
          </a:xfrm>
          <a:prstGeom prst="rect">
            <a:avLst/>
          </a:prstGeom>
          <a:noFill/>
          <a:ln/>
        </p:spPr>
        <p:txBody>
          <a:bodyPr wrap="square" lIns="0" tIns="0" rIns="0" bIns="0" rtlCol="0" anchor="ctr"/>
          <a:lstStyle/>
          <a:p>
            <a:pPr indent="0" marL="0">
              <a:buNone/>
            </a:pPr>
            <a:r>
              <a:rPr lang="en-US" sz="1300" dirty="0">
                <a:solidFill>
                  <a:srgbClr val="444444"/>
                </a:solidFill>
                <a:latin typeface="Calibri" pitchFamily="34" charset="0"/>
                <a:ea typeface="Calibri" pitchFamily="34" charset="-122"/>
                <a:cs typeface="Calibri" pitchFamily="34" charset="-120"/>
              </a:rPr>
              <a:t>That align with brand and behaviour.</a:t>
            </a:r>
            <a:endParaRPr lang="en-US" sz="1300" dirty="0"/>
          </a:p>
        </p:txBody>
      </p:sp>
      <p:sp>
        <p:nvSpPr>
          <p:cNvPr id="36" name="Shape 34"/>
          <p:cNvSpPr/>
          <p:nvPr/>
        </p:nvSpPr>
        <p:spPr>
          <a:xfrm>
            <a:off x="3749040" y="3090672"/>
            <a:ext cx="7955280" cy="0"/>
          </a:xfrm>
          <a:prstGeom prst="line">
            <a:avLst/>
          </a:prstGeom>
          <a:noFill/>
          <a:ln w="5080">
            <a:solidFill>
              <a:srgbClr val="BFBFBF"/>
            </a:solidFill>
            <a:prstDash val="solid"/>
          </a:ln>
        </p:spPr>
      </p:sp>
      <p:sp>
        <p:nvSpPr>
          <p:cNvPr id="37" name="Shape 35"/>
          <p:cNvSpPr/>
          <p:nvPr/>
        </p:nvSpPr>
        <p:spPr>
          <a:xfrm>
            <a:off x="502920" y="3182112"/>
            <a:ext cx="3108960" cy="594360"/>
          </a:xfrm>
          <a:prstGeom prst="rect">
            <a:avLst/>
          </a:prstGeom>
          <a:solidFill>
            <a:srgbClr val="111111"/>
          </a:solidFill>
          <a:ln w="12700">
            <a:solidFill>
              <a:srgbClr val="111111"/>
            </a:solidFill>
            <a:prstDash val="solid"/>
          </a:ln>
        </p:spPr>
      </p:sp>
      <p:sp>
        <p:nvSpPr>
          <p:cNvPr id="38" name="Text 36"/>
          <p:cNvSpPr/>
          <p:nvPr/>
        </p:nvSpPr>
        <p:spPr>
          <a:xfrm>
            <a:off x="640080" y="3182112"/>
            <a:ext cx="2834640" cy="59436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AI-powered marketing</a:t>
            </a:r>
            <a:endParaRPr lang="en-US" sz="1200" dirty="0"/>
          </a:p>
        </p:txBody>
      </p:sp>
      <p:sp>
        <p:nvSpPr>
          <p:cNvPr id="39" name="Text 37"/>
          <p:cNvSpPr/>
          <p:nvPr/>
        </p:nvSpPr>
        <p:spPr>
          <a:xfrm>
            <a:off x="3749040" y="3182112"/>
            <a:ext cx="7955280" cy="594360"/>
          </a:xfrm>
          <a:prstGeom prst="rect">
            <a:avLst/>
          </a:prstGeom>
          <a:noFill/>
          <a:ln/>
        </p:spPr>
        <p:txBody>
          <a:bodyPr wrap="square" lIns="0" tIns="0" rIns="0" bIns="0" rtlCol="0" anchor="ctr"/>
          <a:lstStyle/>
          <a:p>
            <a:pPr indent="0" marL="0">
              <a:buNone/>
            </a:pPr>
            <a:r>
              <a:rPr lang="en-US" sz="1300" dirty="0">
                <a:solidFill>
                  <a:srgbClr val="444444"/>
                </a:solidFill>
                <a:latin typeface="Calibri" pitchFamily="34" charset="0"/>
                <a:ea typeface="Calibri" pitchFamily="34" charset="-122"/>
                <a:cs typeface="Calibri" pitchFamily="34" charset="-120"/>
              </a:rPr>
              <a:t>That scales acquisition and retention.</a:t>
            </a:r>
            <a:endParaRPr lang="en-US" sz="1300" dirty="0"/>
          </a:p>
        </p:txBody>
      </p:sp>
      <p:sp>
        <p:nvSpPr>
          <p:cNvPr id="40" name="Shape 38"/>
          <p:cNvSpPr/>
          <p:nvPr/>
        </p:nvSpPr>
        <p:spPr>
          <a:xfrm>
            <a:off x="3749040" y="3803904"/>
            <a:ext cx="7955280" cy="0"/>
          </a:xfrm>
          <a:prstGeom prst="line">
            <a:avLst/>
          </a:prstGeom>
          <a:noFill/>
          <a:ln w="5080">
            <a:solidFill>
              <a:srgbClr val="BFBFBF"/>
            </a:solidFill>
            <a:prstDash val="solid"/>
          </a:ln>
        </p:spPr>
      </p:sp>
      <p:sp>
        <p:nvSpPr>
          <p:cNvPr id="41" name="Shape 39"/>
          <p:cNvSpPr/>
          <p:nvPr/>
        </p:nvSpPr>
        <p:spPr>
          <a:xfrm>
            <a:off x="502920" y="3895344"/>
            <a:ext cx="3108960" cy="594360"/>
          </a:xfrm>
          <a:prstGeom prst="rect">
            <a:avLst/>
          </a:prstGeom>
          <a:solidFill>
            <a:srgbClr val="111111"/>
          </a:solidFill>
          <a:ln w="12700">
            <a:solidFill>
              <a:srgbClr val="111111"/>
            </a:solidFill>
            <a:prstDash val="solid"/>
          </a:ln>
        </p:spPr>
      </p:sp>
      <p:sp>
        <p:nvSpPr>
          <p:cNvPr id="42" name="Text 40"/>
          <p:cNvSpPr/>
          <p:nvPr/>
        </p:nvSpPr>
        <p:spPr>
          <a:xfrm>
            <a:off x="640080" y="3895344"/>
            <a:ext cx="2834640" cy="59436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Customer experience</a:t>
            </a:r>
            <a:endParaRPr lang="en-US" sz="1200" dirty="0"/>
          </a:p>
        </p:txBody>
      </p:sp>
      <p:sp>
        <p:nvSpPr>
          <p:cNvPr id="43" name="Text 41"/>
          <p:cNvSpPr/>
          <p:nvPr/>
        </p:nvSpPr>
        <p:spPr>
          <a:xfrm>
            <a:off x="3749040" y="3895344"/>
            <a:ext cx="7955280" cy="594360"/>
          </a:xfrm>
          <a:prstGeom prst="rect">
            <a:avLst/>
          </a:prstGeom>
          <a:noFill/>
          <a:ln/>
        </p:spPr>
        <p:txBody>
          <a:bodyPr wrap="square" lIns="0" tIns="0" rIns="0" bIns="0" rtlCol="0" anchor="ctr"/>
          <a:lstStyle/>
          <a:p>
            <a:pPr indent="0" marL="0">
              <a:buNone/>
            </a:pPr>
            <a:r>
              <a:rPr lang="en-US" sz="1300" dirty="0">
                <a:solidFill>
                  <a:srgbClr val="444444"/>
                </a:solidFill>
                <a:latin typeface="Calibri" pitchFamily="34" charset="0"/>
                <a:ea typeface="Calibri" pitchFamily="34" charset="-122"/>
                <a:cs typeface="Calibri" pitchFamily="34" charset="-120"/>
              </a:rPr>
              <a:t>As a primary differentiator, not an afterthought.</a:t>
            </a:r>
            <a:endParaRPr lang="en-US" sz="1300" dirty="0"/>
          </a:p>
        </p:txBody>
      </p:sp>
      <p:sp>
        <p:nvSpPr>
          <p:cNvPr id="44" name="Shape 42"/>
          <p:cNvSpPr/>
          <p:nvPr/>
        </p:nvSpPr>
        <p:spPr>
          <a:xfrm>
            <a:off x="3749040" y="4517136"/>
            <a:ext cx="7955280" cy="0"/>
          </a:xfrm>
          <a:prstGeom prst="line">
            <a:avLst/>
          </a:prstGeom>
          <a:noFill/>
          <a:ln w="5080">
            <a:solidFill>
              <a:srgbClr val="BFBFBF"/>
            </a:solidFill>
            <a:prstDash val="solid"/>
          </a:ln>
        </p:spPr>
      </p:sp>
      <p:sp>
        <p:nvSpPr>
          <p:cNvPr id="45" name="Shape 43"/>
          <p:cNvSpPr/>
          <p:nvPr/>
        </p:nvSpPr>
        <p:spPr>
          <a:xfrm>
            <a:off x="502920" y="4608576"/>
            <a:ext cx="3108960" cy="594360"/>
          </a:xfrm>
          <a:prstGeom prst="rect">
            <a:avLst/>
          </a:prstGeom>
          <a:solidFill>
            <a:srgbClr val="111111"/>
          </a:solidFill>
          <a:ln w="12700">
            <a:solidFill>
              <a:srgbClr val="111111"/>
            </a:solidFill>
            <a:prstDash val="solid"/>
          </a:ln>
        </p:spPr>
      </p:sp>
      <p:sp>
        <p:nvSpPr>
          <p:cNvPr id="46" name="Text 44"/>
          <p:cNvSpPr/>
          <p:nvPr/>
        </p:nvSpPr>
        <p:spPr>
          <a:xfrm>
            <a:off x="640080" y="4608576"/>
            <a:ext cx="2834640" cy="59436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Value-added services</a:t>
            </a:r>
            <a:endParaRPr lang="en-US" sz="1200" dirty="0"/>
          </a:p>
        </p:txBody>
      </p:sp>
      <p:sp>
        <p:nvSpPr>
          <p:cNvPr id="47" name="Text 45"/>
          <p:cNvSpPr/>
          <p:nvPr/>
        </p:nvSpPr>
        <p:spPr>
          <a:xfrm>
            <a:off x="3749040" y="4608576"/>
            <a:ext cx="7955280" cy="594360"/>
          </a:xfrm>
          <a:prstGeom prst="rect">
            <a:avLst/>
          </a:prstGeom>
          <a:noFill/>
          <a:ln/>
        </p:spPr>
        <p:txBody>
          <a:bodyPr wrap="square" lIns="0" tIns="0" rIns="0" bIns="0" rtlCol="0" anchor="ctr"/>
          <a:lstStyle/>
          <a:p>
            <a:pPr indent="0" marL="0">
              <a:buNone/>
            </a:pPr>
            <a:r>
              <a:rPr lang="en-US" sz="1300" dirty="0">
                <a:solidFill>
                  <a:srgbClr val="444444"/>
                </a:solidFill>
                <a:latin typeface="Calibri" pitchFamily="34" charset="0"/>
                <a:ea typeface="Calibri" pitchFamily="34" charset="-122"/>
                <a:cs typeface="Calibri" pitchFamily="34" charset="-120"/>
              </a:rPr>
              <a:t>That turn connectivity into loyalty.</a:t>
            </a:r>
            <a:endParaRPr lang="en-US" sz="1300" dirty="0"/>
          </a:p>
        </p:txBody>
      </p:sp>
      <p:sp>
        <p:nvSpPr>
          <p:cNvPr id="48" name="Shape 46"/>
          <p:cNvSpPr/>
          <p:nvPr/>
        </p:nvSpPr>
        <p:spPr>
          <a:xfrm>
            <a:off x="3749040" y="5230368"/>
            <a:ext cx="7955280" cy="0"/>
          </a:xfrm>
          <a:prstGeom prst="line">
            <a:avLst/>
          </a:prstGeom>
          <a:noFill/>
          <a:ln w="5080">
            <a:solidFill>
              <a:srgbClr val="BFBFBF"/>
            </a:solidFill>
            <a:prstDash val="solid"/>
          </a:ln>
        </p:spPr>
      </p:sp>
      <p:sp>
        <p:nvSpPr>
          <p:cNvPr id="49" name="Shape 47"/>
          <p:cNvSpPr/>
          <p:nvPr/>
        </p:nvSpPr>
        <p:spPr>
          <a:xfrm>
            <a:off x="502920" y="5321808"/>
            <a:ext cx="3108960" cy="594360"/>
          </a:xfrm>
          <a:prstGeom prst="rect">
            <a:avLst/>
          </a:prstGeom>
          <a:solidFill>
            <a:srgbClr val="111111"/>
          </a:solidFill>
          <a:ln w="12700">
            <a:solidFill>
              <a:srgbClr val="111111"/>
            </a:solidFill>
            <a:prstDash val="solid"/>
          </a:ln>
        </p:spPr>
      </p:sp>
      <p:sp>
        <p:nvSpPr>
          <p:cNvPr id="50" name="Text 48"/>
          <p:cNvSpPr/>
          <p:nvPr/>
        </p:nvSpPr>
        <p:spPr>
          <a:xfrm>
            <a:off x="640080" y="5321808"/>
            <a:ext cx="2834640" cy="59436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Platform thinking</a:t>
            </a:r>
            <a:endParaRPr lang="en-US" sz="1200" dirty="0"/>
          </a:p>
        </p:txBody>
      </p:sp>
      <p:sp>
        <p:nvSpPr>
          <p:cNvPr id="51" name="Text 49"/>
          <p:cNvSpPr/>
          <p:nvPr/>
        </p:nvSpPr>
        <p:spPr>
          <a:xfrm>
            <a:off x="3749040" y="5321808"/>
            <a:ext cx="7955280" cy="594360"/>
          </a:xfrm>
          <a:prstGeom prst="rect">
            <a:avLst/>
          </a:prstGeom>
          <a:noFill/>
          <a:ln/>
        </p:spPr>
        <p:txBody>
          <a:bodyPr wrap="square" lIns="0" tIns="0" rIns="0" bIns="0" rtlCol="0" anchor="ctr"/>
          <a:lstStyle/>
          <a:p>
            <a:pPr indent="0" marL="0">
              <a:buNone/>
            </a:pPr>
            <a:r>
              <a:rPr lang="en-US" sz="1300" dirty="0">
                <a:solidFill>
                  <a:srgbClr val="444444"/>
                </a:solidFill>
                <a:latin typeface="Calibri" pitchFamily="34" charset="0"/>
                <a:ea typeface="Calibri" pitchFamily="34" charset="-122"/>
                <a:cs typeface="Calibri" pitchFamily="34" charset="-120"/>
              </a:rPr>
              <a:t>Like Digital Mobile — launch faster and smarter.</a:t>
            </a:r>
            <a:endParaRPr lang="en-US" sz="1300" dirty="0"/>
          </a:p>
        </p:txBody>
      </p:sp>
      <p:sp>
        <p:nvSpPr>
          <p:cNvPr id="52" name="Shape 50"/>
          <p:cNvSpPr/>
          <p:nvPr/>
        </p:nvSpPr>
        <p:spPr>
          <a:xfrm>
            <a:off x="3749040" y="5943600"/>
            <a:ext cx="7955280" cy="0"/>
          </a:xfrm>
          <a:prstGeom prst="line">
            <a:avLst/>
          </a:prstGeom>
          <a:noFill/>
          <a:ln w="5080">
            <a:solidFill>
              <a:srgbClr val="BFBFBF"/>
            </a:solidFill>
            <a:prstDash val="solid"/>
          </a:ln>
        </p:spPr>
      </p:sp>
      <p:sp>
        <p:nvSpPr>
          <p:cNvPr id="53" name="Shape 51"/>
          <p:cNvSpPr/>
          <p:nvPr/>
        </p:nvSpPr>
        <p:spPr>
          <a:xfrm>
            <a:off x="502920" y="5760720"/>
            <a:ext cx="11247120" cy="0"/>
          </a:xfrm>
          <a:prstGeom prst="line">
            <a:avLst/>
          </a:prstGeom>
          <a:noFill/>
          <a:ln w="9525">
            <a:solidFill>
              <a:srgbClr val="111111"/>
            </a:solidFill>
            <a:prstDash val="solid"/>
          </a:ln>
        </p:spPr>
      </p:sp>
      <p:sp>
        <p:nvSpPr>
          <p:cNvPr id="54" name="Text 52"/>
          <p:cNvSpPr/>
          <p:nvPr/>
        </p:nvSpPr>
        <p:spPr>
          <a:xfrm>
            <a:off x="502920" y="5852160"/>
            <a:ext cx="11247120" cy="320040"/>
          </a:xfrm>
          <a:prstGeom prst="rect">
            <a:avLst/>
          </a:prstGeom>
          <a:noFill/>
          <a:ln/>
        </p:spPr>
        <p:txBody>
          <a:bodyPr wrap="square" lIns="0" tIns="0" rIns="0" bIns="0" rtlCol="0" anchor="ctr"/>
          <a:lstStyle/>
          <a:p>
            <a:pPr algn="ctr" indent="0" marL="0">
              <a:buNone/>
            </a:pPr>
            <a:r>
              <a:rPr lang="en-US" sz="1300" b="1" i="1" dirty="0">
                <a:solidFill>
                  <a:srgbClr val="111111"/>
                </a:solidFill>
                <a:latin typeface="Georgia" pitchFamily="34" charset="0"/>
                <a:ea typeface="Georgia" pitchFamily="34" charset="-122"/>
                <a:cs typeface="Georgia" pitchFamily="34" charset="-120"/>
              </a:rPr>
              <a:t>The take-away:  MVNOs don't compete on price.  They win on value.</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1371600"/>
            <a:ext cx="11247120" cy="1280160"/>
          </a:xfrm>
          <a:prstGeom prst="rect">
            <a:avLst/>
          </a:prstGeom>
          <a:noFill/>
          <a:ln/>
        </p:spPr>
        <p:txBody>
          <a:bodyPr wrap="square" lIns="0" tIns="0" rIns="0" bIns="0" rtlCol="0" anchor="ctr"/>
          <a:lstStyle/>
          <a:p>
            <a:pPr algn="ctr" indent="0" marL="0">
              <a:buNone/>
            </a:pPr>
            <a:r>
              <a:rPr lang="en-US" sz="8000" b="1" dirty="0">
                <a:solidFill>
                  <a:srgbClr val="111111"/>
                </a:solidFill>
                <a:latin typeface="Georgia" pitchFamily="34" charset="0"/>
                <a:ea typeface="Georgia" pitchFamily="34" charset="-122"/>
                <a:cs typeface="Georgia" pitchFamily="34" charset="-120"/>
              </a:rPr>
              <a:t>Thank You.</a:t>
            </a:r>
            <a:endParaRPr lang="en-US" sz="8000" dirty="0"/>
          </a:p>
        </p:txBody>
      </p:sp>
      <p:sp>
        <p:nvSpPr>
          <p:cNvPr id="3" name="Shape 1"/>
          <p:cNvSpPr/>
          <p:nvPr/>
        </p:nvSpPr>
        <p:spPr>
          <a:xfrm>
            <a:off x="4846320" y="2834640"/>
            <a:ext cx="2468880" cy="822960"/>
          </a:xfrm>
          <a:prstGeom prst="rect">
            <a:avLst/>
          </a:prstGeom>
          <a:solidFill>
            <a:srgbClr val="111111"/>
          </a:solidFill>
          <a:ln w="12700">
            <a:solidFill>
              <a:srgbClr val="111111"/>
            </a:solidFill>
            <a:prstDash val="solid"/>
          </a:ln>
        </p:spPr>
      </p:sp>
      <p:sp>
        <p:nvSpPr>
          <p:cNvPr id="4" name="Text 2"/>
          <p:cNvSpPr/>
          <p:nvPr/>
        </p:nvSpPr>
        <p:spPr>
          <a:xfrm>
            <a:off x="4846320" y="2834640"/>
            <a:ext cx="2468880" cy="822960"/>
          </a:xfrm>
          <a:prstGeom prst="rect">
            <a:avLst/>
          </a:prstGeom>
          <a:noFill/>
          <a:ln/>
        </p:spPr>
        <p:txBody>
          <a:bodyPr wrap="square" lIns="0" tIns="0" rIns="0" bIns="0" rtlCol="0" anchor="ctr"/>
          <a:lstStyle/>
          <a:p>
            <a:pPr algn="ctr" indent="0" marL="0">
              <a:buNone/>
            </a:pPr>
            <a:r>
              <a:rPr lang="en-US" sz="2800" b="1" spc="500" kern="0" dirty="0">
                <a:solidFill>
                  <a:srgbClr val="FFFFFF"/>
                </a:solidFill>
                <a:latin typeface="Calibri" pitchFamily="34" charset="0"/>
                <a:ea typeface="Calibri" pitchFamily="34" charset="-122"/>
                <a:cs typeface="Calibri" pitchFamily="34" charset="-120"/>
              </a:rPr>
              <a:t>ARENA
</a:t>
            </a:r>
            <a:pPr algn="ctr" indent="0" marL="0">
              <a:buNone/>
            </a:pPr>
            <a:r>
              <a:rPr lang="en-US" sz="1000" spc="500" kern="0" dirty="0">
                <a:solidFill>
                  <a:srgbClr val="FFFFFF"/>
                </a:solidFill>
                <a:latin typeface="Calibri" pitchFamily="34" charset="0"/>
                <a:ea typeface="Calibri" pitchFamily="34" charset="-122"/>
                <a:cs typeface="Calibri" pitchFamily="34" charset="-120"/>
              </a:rPr>
              <a:t>H O L D I N G S</a:t>
            </a:r>
            <a:endParaRPr lang="en-US" sz="2800" dirty="0"/>
          </a:p>
        </p:txBody>
      </p:sp>
      <p:sp>
        <p:nvSpPr>
          <p:cNvPr id="5" name="Text 3"/>
          <p:cNvSpPr/>
          <p:nvPr/>
        </p:nvSpPr>
        <p:spPr>
          <a:xfrm>
            <a:off x="2286000" y="4114800"/>
            <a:ext cx="3200400" cy="822960"/>
          </a:xfrm>
          <a:prstGeom prst="rect">
            <a:avLst/>
          </a:prstGeom>
          <a:noFill/>
          <a:ln/>
        </p:spPr>
        <p:txBody>
          <a:bodyPr wrap="square" lIns="0" tIns="0" rIns="0" bIns="0" rtlCol="0" anchor="ctr"/>
          <a:lstStyle/>
          <a:p>
            <a:pPr algn="ctr" indent="0" marL="0">
              <a:buNone/>
            </a:pPr>
            <a:r>
              <a:rPr lang="en-US" sz="3800" b="1" dirty="0">
                <a:solidFill>
                  <a:srgbClr val="111111"/>
                </a:solidFill>
                <a:latin typeface="Calibri" pitchFamily="34" charset="0"/>
                <a:ea typeface="Calibri" pitchFamily="34" charset="-122"/>
                <a:cs typeface="Calibri" pitchFamily="34" charset="-120"/>
              </a:rPr>
              <a:t>digital</a:t>
            </a:r>
            <a:pPr algn="ctr" indent="0" marL="0">
              <a:buNone/>
            </a:pPr>
            <a:r>
              <a:rPr lang="en-US" sz="3800" b="1" dirty="0">
                <a:solidFill>
                  <a:srgbClr val="6B6B6B"/>
                </a:solidFill>
                <a:latin typeface="Calibri" pitchFamily="34" charset="0"/>
                <a:ea typeface="Calibri" pitchFamily="34" charset="-122"/>
                <a:cs typeface="Calibri" pitchFamily="34" charset="-120"/>
              </a:rPr>
              <a:t>mobile</a:t>
            </a:r>
            <a:endParaRPr lang="en-US" sz="3800" dirty="0"/>
          </a:p>
        </p:txBody>
      </p:sp>
      <p:sp>
        <p:nvSpPr>
          <p:cNvPr id="6" name="Text 4"/>
          <p:cNvSpPr/>
          <p:nvPr/>
        </p:nvSpPr>
        <p:spPr>
          <a:xfrm>
            <a:off x="6675120" y="4114800"/>
            <a:ext cx="3657600" cy="914400"/>
          </a:xfrm>
          <a:prstGeom prst="rect">
            <a:avLst/>
          </a:prstGeom>
          <a:noFill/>
          <a:ln/>
        </p:spPr>
        <p:txBody>
          <a:bodyPr wrap="square" lIns="0" tIns="0" rIns="0" bIns="0" rtlCol="0" anchor="ctr"/>
          <a:lstStyle/>
          <a:p>
            <a:pPr algn="ctr" indent="0" marL="0">
              <a:buNone/>
            </a:pPr>
            <a:r>
              <a:rPr lang="en-US" sz="3000" b="1" spc="300" kern="0" dirty="0">
                <a:solidFill>
                  <a:srgbClr val="111111"/>
                </a:solidFill>
                <a:latin typeface="Calibri" pitchFamily="34" charset="0"/>
                <a:ea typeface="Calibri" pitchFamily="34" charset="-122"/>
                <a:cs typeface="Calibri" pitchFamily="34" charset="-120"/>
              </a:rPr>
              <a:t>MVNE
</a:t>
            </a:r>
            <a:pPr algn="ctr" indent="0" marL="0">
              <a:buNone/>
            </a:pPr>
            <a:r>
              <a:rPr lang="en-US" sz="1200" dirty="0">
                <a:solidFill>
                  <a:srgbClr val="444444"/>
                </a:solidFill>
                <a:latin typeface="Calibri" pitchFamily="34" charset="0"/>
                <a:ea typeface="Calibri" pitchFamily="34" charset="-122"/>
                <a:cs typeface="Calibri" pitchFamily="34" charset="-120"/>
              </a:rPr>
              <a:t>Mobile Virtual Network Enabler
</a:t>
            </a:r>
            <a:pPr algn="ctr" indent="0" marL="0">
              <a:buNone/>
            </a:pPr>
            <a:r>
              <a:rPr lang="en-US" sz="1000" i="1" dirty="0">
                <a:solidFill>
                  <a:srgbClr val="6B6B6B"/>
                </a:solidFill>
                <a:latin typeface="Calibri" pitchFamily="34" charset="0"/>
                <a:ea typeface="Calibri" pitchFamily="34" charset="-122"/>
                <a:cs typeface="Calibri" pitchFamily="34" charset="-120"/>
              </a:rPr>
              <a:t>“Mobilise your brand”</a:t>
            </a:r>
            <a:endParaRPr lang="en-US" sz="3000" dirty="0"/>
          </a:p>
        </p:txBody>
      </p:sp>
      <p:sp>
        <p:nvSpPr>
          <p:cNvPr id="7" name="Shape 5"/>
          <p:cNvSpPr/>
          <p:nvPr/>
        </p:nvSpPr>
        <p:spPr>
          <a:xfrm>
            <a:off x="914400" y="6126480"/>
            <a:ext cx="10362895" cy="0"/>
          </a:xfrm>
          <a:prstGeom prst="line">
            <a:avLst/>
          </a:prstGeom>
          <a:noFill/>
          <a:ln w="6350">
            <a:solidFill>
              <a:srgbClr val="BFBFBF"/>
            </a:solidFill>
            <a:prstDash val="solid"/>
          </a:ln>
        </p:spPr>
      </p:sp>
      <p:sp>
        <p:nvSpPr>
          <p:cNvPr id="8" name="Text 6"/>
          <p:cNvSpPr/>
          <p:nvPr/>
        </p:nvSpPr>
        <p:spPr>
          <a:xfrm>
            <a:off x="914400" y="6263640"/>
            <a:ext cx="10362895" cy="457200"/>
          </a:xfrm>
          <a:prstGeom prst="rect">
            <a:avLst/>
          </a:prstGeom>
          <a:noFill/>
          <a:ln/>
        </p:spPr>
        <p:txBody>
          <a:bodyPr wrap="square" lIns="0" tIns="0" rIns="0" bIns="0" rtlCol="0" anchor="ctr"/>
          <a:lstStyle/>
          <a:p>
            <a:pPr algn="ctr" indent="0" marL="0">
              <a:buNone/>
            </a:pPr>
            <a:r>
              <a:rPr lang="en-US" sz="800" dirty="0">
                <a:solidFill>
                  <a:srgbClr val="6B6B6B"/>
                </a:solidFill>
                <a:latin typeface="Calibri" pitchFamily="34" charset="0"/>
                <a:ea typeface="Calibri" pitchFamily="34" charset="-122"/>
                <a:cs typeface="Calibri" pitchFamily="34" charset="-120"/>
              </a:rPr>
              <a:t>This document is confidential and you may not present this document to another party without consent from MVNE.  Disclosing, copying, distributing or taking any action in relation to the contents of this information is strictly prohibited.</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Arena Content MVNO — Executive Proposal</dc:title>
  <dc:subject>PptxGenJS Presentation</dc:subject>
  <dc:creator>Digital Mobile / MVNE</dc:creator>
  <cp:lastModifiedBy>Digital Mobile / MVNE</cp:lastModifiedBy>
  <cp:revision>1</cp:revision>
  <dcterms:created xsi:type="dcterms:W3CDTF">2026-04-15T18:14:20Z</dcterms:created>
  <dcterms:modified xsi:type="dcterms:W3CDTF">2026-04-15T18:14:20Z</dcterms:modified>
</cp:coreProperties>
</file>